
<file path=[Content_Types].xml><?xml version="1.0" encoding="utf-8"?>
<Types xmlns="http://schemas.openxmlformats.org/package/2006/content-types">
  <Default Extension="bmp" ContentType="image/bmp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</p:sldMasterIdLst>
  <p:notesMasterIdLst>
    <p:notesMasterId r:id="rId3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4" r:id="rId18"/>
    <p:sldId id="279" r:id="rId19"/>
    <p:sldId id="280" r:id="rId20"/>
    <p:sldId id="282" r:id="rId21"/>
    <p:sldId id="275" r:id="rId22"/>
    <p:sldId id="276" r:id="rId23"/>
    <p:sldId id="278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2" r:id="rId33"/>
    <p:sldId id="291" r:id="rId34"/>
    <p:sldId id="293" r:id="rId35"/>
    <p:sldId id="272" r:id="rId36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F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FD0F851-EC5A-4D38-B0AD-8093EC10F338}" styleName="Светлый стиль 1 - акцент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8D230F3-CF80-4859-8CE7-A43EE81993B5}" styleName="Светлый стиль 1 -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6" d="100"/>
          <a:sy n="116" d="100"/>
        </p:scale>
        <p:origin x="1714" y="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viewProps" Target="view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BA10CF8-2DC8-4524-BF6A-4038E3080FC9}" type="doc">
      <dgm:prSet loTypeId="urn:microsoft.com/office/officeart/2005/8/layout/process5" loCatId="process" qsTypeId="urn:microsoft.com/office/officeart/2005/8/quickstyle/3d5" qsCatId="3D" csTypeId="urn:microsoft.com/office/officeart/2005/8/colors/colorful4" csCatId="colorful" phldr="1"/>
      <dgm:spPr/>
      <dgm:t>
        <a:bodyPr/>
        <a:lstStyle/>
        <a:p>
          <a:endParaRPr lang="ru-RU"/>
        </a:p>
      </dgm:t>
    </dgm:pt>
    <dgm:pt modelId="{AEE69D82-028B-4905-858E-798F926904AB}">
      <dgm:prSet phldrT="[Текст]"/>
      <dgm:spPr/>
      <dgm:t>
        <a:bodyPr/>
        <a:lstStyle/>
        <a:p>
          <a:r>
            <a: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ru-RU" b="1" dirty="0" smtClean="0"/>
            <a:t>Возникновение и развитие научных взглядов, посвящённых глобализации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5BE3D0-C28D-44DB-971A-1FA1EAE6E832}" type="parTrans" cxnId="{70A333E7-6408-4FA8-A014-605FDB2EE3AB}">
      <dgm:prSet/>
      <dgm:spPr/>
      <dgm:t>
        <a:bodyPr/>
        <a:lstStyle/>
        <a:p>
          <a:endParaRPr lang="ru-RU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520B7A-12E1-42AA-A285-4BEA8CD09FC8}" type="sibTrans" cxnId="{70A333E7-6408-4FA8-A014-605FDB2EE3AB}">
      <dgm:prSet/>
      <dgm:spPr/>
      <dgm:t>
        <a:bodyPr/>
        <a:lstStyle/>
        <a:p>
          <a:endParaRPr lang="ru-RU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1F3455-CF02-4629-80A5-698D97B69E90}">
      <dgm:prSet phldrT="[Текст]"/>
      <dgm:spPr/>
      <dgm:t>
        <a:bodyPr/>
        <a:lstStyle/>
        <a:p>
          <a:r>
            <a:rPr lang="ru-RU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ru-RU" smtClean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ru-RU" b="1" smtClean="0"/>
            <a:t>Этапы развития теорий глобализации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DC9385A-1E40-4985-A3F3-930ABB1DEADC}" type="parTrans" cxnId="{5EA94892-5B10-45A5-B0C4-B20BAACC8215}">
      <dgm:prSet/>
      <dgm:spPr/>
      <dgm:t>
        <a:bodyPr/>
        <a:lstStyle/>
        <a:p>
          <a:endParaRPr lang="ru-RU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E75F89-40D3-4125-80F3-8AF074FE4B36}" type="sibTrans" cxnId="{5EA94892-5B10-45A5-B0C4-B20BAACC8215}">
      <dgm:prSet/>
      <dgm:spPr/>
      <dgm:t>
        <a:bodyPr/>
        <a:lstStyle/>
        <a:p>
          <a:endParaRPr lang="ru-RU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24DFE83-36F8-4C4D-A0FD-19B4010478D7}">
      <dgm:prSet phldrT="[Текст]"/>
      <dgm:spPr/>
      <dgm:t>
        <a:bodyPr/>
        <a:lstStyle/>
        <a:p>
          <a:r>
            <a: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3. Развитие процесса глобализации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BA0D36A-727D-47CB-A41B-A8E3744F584C}" type="parTrans" cxnId="{C77B865F-A052-4469-B748-79B50EB0ABBA}">
      <dgm:prSet/>
      <dgm:spPr/>
      <dgm:t>
        <a:bodyPr/>
        <a:lstStyle/>
        <a:p>
          <a:endParaRPr lang="ru-RU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C15179D-FCC9-4FAF-8E05-789D972FC453}" type="sibTrans" cxnId="{C77B865F-A052-4469-B748-79B50EB0ABBA}">
      <dgm:prSet/>
      <dgm:spPr/>
      <dgm:t>
        <a:bodyPr/>
        <a:lstStyle/>
        <a:p>
          <a:endParaRPr lang="ru-RU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CA2FC0-3330-4FC3-B11F-C8A362382AA1}">
      <dgm:prSet/>
      <dgm:spPr/>
      <dgm:t>
        <a:bodyPr/>
        <a:lstStyle/>
        <a:p>
          <a:r>
            <a: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4. Основные направления научных концепций глобализации мировой экономики: </a:t>
          </a:r>
          <a:r>
            <a:rPr lang="ru-RU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гиперглобалистское</a:t>
          </a:r>
          <a:r>
            <a: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скептическое и трансформационное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B3D2507-A2C5-4DAE-8E46-562E662EEA54}" type="parTrans" cxnId="{5182A82D-AFFF-479D-B899-3AF71D12C539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6809D9-4BE3-46D7-AA73-F4B7274CDF5C}" type="sibTrans" cxnId="{5182A82D-AFFF-479D-B899-3AF71D12C539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C4E27C1-2FCD-4D53-B229-C7FDCD2F4B85}">
      <dgm:prSet/>
      <dgm:spPr/>
      <dgm:t>
        <a:bodyPr/>
        <a:lstStyle/>
        <a:p>
          <a:r>
            <a:rPr lang="uz-Cyrl-UZ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Экономические взгляды </a:t>
          </a:r>
          <a:r>
            <a:rPr lang="ru-RU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Дж.Е.Стиглица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01988F3-C358-436C-95E5-D695D33DB26E}" type="parTrans" cxnId="{AB65B298-C80F-44F1-9AAF-C66A41D111A2}">
      <dgm:prSet/>
      <dgm:spPr/>
    </dgm:pt>
    <dgm:pt modelId="{BD6A5F11-AFDC-4446-9AA3-B6C197BB4218}" type="sibTrans" cxnId="{AB65B298-C80F-44F1-9AAF-C66A41D111A2}">
      <dgm:prSet/>
      <dgm:spPr/>
      <dgm:t>
        <a:bodyPr/>
        <a:lstStyle/>
        <a:p>
          <a:endParaRPr lang="ru-RU"/>
        </a:p>
      </dgm:t>
    </dgm:pt>
    <dgm:pt modelId="{4DCBA054-C341-4627-A9E7-50CF9012DAAD}">
      <dgm:prSet/>
      <dgm:spPr/>
      <dgm:t>
        <a:bodyPr/>
        <a:lstStyle/>
        <a:p>
          <a:r>
            <a:rPr lang="uz-Cyrl-UZ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6. </a:t>
          </a:r>
          <a:r>
            <a:rPr lang="ru-RU" b="1" dirty="0" smtClean="0"/>
            <a:t>Научные взгляды сторонников «трансформационного направления»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9993B5-1F2F-4AE4-84B1-629B88AFAC62}" type="parTrans" cxnId="{A3AB3FA4-7189-419F-96C5-298FDF9E0ED2}">
      <dgm:prSet/>
      <dgm:spPr/>
    </dgm:pt>
    <dgm:pt modelId="{DCE4DA99-74DF-474D-ABD4-A3FC0D332213}" type="sibTrans" cxnId="{A3AB3FA4-7189-419F-96C5-298FDF9E0ED2}">
      <dgm:prSet/>
      <dgm:spPr/>
      <dgm:t>
        <a:bodyPr/>
        <a:lstStyle/>
        <a:p>
          <a:endParaRPr lang="ru-RU"/>
        </a:p>
      </dgm:t>
    </dgm:pt>
    <dgm:pt modelId="{E57DA758-18C3-4978-8AD5-EF05EAE701F1}">
      <dgm:prSet/>
      <dgm:spPr/>
      <dgm:t>
        <a:bodyPr/>
        <a:lstStyle/>
        <a:p>
          <a:r>
            <a:rPr lang="ru-RU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7. Теоретические трансформации глобализации мировой экономики в начале XXI века и их особенности </a:t>
          </a:r>
          <a:endParaRPr lang="ru-RU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BB5B7B-90A7-4F47-AAEC-7ED24BAA798B}" type="parTrans" cxnId="{5BEE22AB-C36B-4C98-AF72-F1799C3053E0}">
      <dgm:prSet/>
      <dgm:spPr/>
    </dgm:pt>
    <dgm:pt modelId="{D54B978F-E572-49B8-ADC5-DAA98FBC294A}" type="sibTrans" cxnId="{5BEE22AB-C36B-4C98-AF72-F1799C3053E0}">
      <dgm:prSet/>
      <dgm:spPr/>
    </dgm:pt>
    <dgm:pt modelId="{ECBD0F91-9312-427A-BF64-2CEFF51385AE}" type="pres">
      <dgm:prSet presAssocID="{DBA10CF8-2DC8-4524-BF6A-4038E3080FC9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3860E15D-568D-4314-8C75-D1064696A3DC}" type="pres">
      <dgm:prSet presAssocID="{AEE69D82-028B-4905-858E-798F926904AB}" presName="node" presStyleLbl="node1" presStyleIdx="0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891ED6-6770-4ACF-B60C-49234397B3EF}" type="pres">
      <dgm:prSet presAssocID="{55520B7A-12E1-42AA-A285-4BEA8CD09FC8}" presName="sibTrans" presStyleLbl="sibTrans2D1" presStyleIdx="0" presStyleCnt="6"/>
      <dgm:spPr/>
      <dgm:t>
        <a:bodyPr/>
        <a:lstStyle/>
        <a:p>
          <a:endParaRPr lang="ru-RU"/>
        </a:p>
      </dgm:t>
    </dgm:pt>
    <dgm:pt modelId="{6349A2E3-C986-4AB0-B63F-65A05FFBAACB}" type="pres">
      <dgm:prSet presAssocID="{55520B7A-12E1-42AA-A285-4BEA8CD09FC8}" presName="connectorText" presStyleLbl="sibTrans2D1" presStyleIdx="0" presStyleCnt="6"/>
      <dgm:spPr/>
      <dgm:t>
        <a:bodyPr/>
        <a:lstStyle/>
        <a:p>
          <a:endParaRPr lang="ru-RU"/>
        </a:p>
      </dgm:t>
    </dgm:pt>
    <dgm:pt modelId="{71DB6CC3-FC7F-48E7-9524-2DFA1DF95BCA}" type="pres">
      <dgm:prSet presAssocID="{531F3455-CF02-4629-80A5-698D97B69E90}" presName="node" presStyleLbl="node1" presStyleIdx="1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7535D46-E0C6-4CF6-8FC1-B779F222B641}" type="pres">
      <dgm:prSet presAssocID="{FBE75F89-40D3-4125-80F3-8AF074FE4B36}" presName="sibTrans" presStyleLbl="sibTrans2D1" presStyleIdx="1" presStyleCnt="6"/>
      <dgm:spPr/>
      <dgm:t>
        <a:bodyPr/>
        <a:lstStyle/>
        <a:p>
          <a:endParaRPr lang="ru-RU"/>
        </a:p>
      </dgm:t>
    </dgm:pt>
    <dgm:pt modelId="{12F4BAEC-678C-4A49-869C-43CAEB294F87}" type="pres">
      <dgm:prSet presAssocID="{FBE75F89-40D3-4125-80F3-8AF074FE4B36}" presName="connectorText" presStyleLbl="sibTrans2D1" presStyleIdx="1" presStyleCnt="6"/>
      <dgm:spPr/>
      <dgm:t>
        <a:bodyPr/>
        <a:lstStyle/>
        <a:p>
          <a:endParaRPr lang="ru-RU"/>
        </a:p>
      </dgm:t>
    </dgm:pt>
    <dgm:pt modelId="{DCB65169-0175-414B-9375-EF3AFAD39FC9}" type="pres">
      <dgm:prSet presAssocID="{324DFE83-36F8-4C4D-A0FD-19B4010478D7}" presName="node" presStyleLbl="node1" presStyleIdx="2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44CB75D-C882-46EA-B58B-25C08F72B363}" type="pres">
      <dgm:prSet presAssocID="{5C15179D-FCC9-4FAF-8E05-789D972FC453}" presName="sibTrans" presStyleLbl="sibTrans2D1" presStyleIdx="2" presStyleCnt="6"/>
      <dgm:spPr/>
      <dgm:t>
        <a:bodyPr/>
        <a:lstStyle/>
        <a:p>
          <a:endParaRPr lang="ru-RU"/>
        </a:p>
      </dgm:t>
    </dgm:pt>
    <dgm:pt modelId="{F9A05C10-3B44-4436-B414-EE18644604DB}" type="pres">
      <dgm:prSet presAssocID="{5C15179D-FCC9-4FAF-8E05-789D972FC453}" presName="connectorText" presStyleLbl="sibTrans2D1" presStyleIdx="2" presStyleCnt="6"/>
      <dgm:spPr/>
      <dgm:t>
        <a:bodyPr/>
        <a:lstStyle/>
        <a:p>
          <a:endParaRPr lang="ru-RU"/>
        </a:p>
      </dgm:t>
    </dgm:pt>
    <dgm:pt modelId="{99D63371-F7B1-4AF5-B121-43FAD8F85C39}" type="pres">
      <dgm:prSet presAssocID="{D3CA2FC0-3330-4FC3-B11F-C8A362382AA1}" presName="node" presStyleLbl="node1" presStyleIdx="3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75A2DF6-4331-4D4F-8B16-707915A17068}" type="pres">
      <dgm:prSet presAssocID="{486809D9-4BE3-46D7-AA73-F4B7274CDF5C}" presName="sibTrans" presStyleLbl="sibTrans2D1" presStyleIdx="3" presStyleCnt="6"/>
      <dgm:spPr/>
      <dgm:t>
        <a:bodyPr/>
        <a:lstStyle/>
        <a:p>
          <a:endParaRPr lang="ru-RU"/>
        </a:p>
      </dgm:t>
    </dgm:pt>
    <dgm:pt modelId="{25679E54-C5C3-4B02-AAEA-B4DA4F2EFD52}" type="pres">
      <dgm:prSet presAssocID="{486809D9-4BE3-46D7-AA73-F4B7274CDF5C}" presName="connectorText" presStyleLbl="sibTrans2D1" presStyleIdx="3" presStyleCnt="6"/>
      <dgm:spPr/>
      <dgm:t>
        <a:bodyPr/>
        <a:lstStyle/>
        <a:p>
          <a:endParaRPr lang="ru-RU"/>
        </a:p>
      </dgm:t>
    </dgm:pt>
    <dgm:pt modelId="{D2A13252-5541-4E0D-B229-3518FD62F531}" type="pres">
      <dgm:prSet presAssocID="{8C4E27C1-2FCD-4D53-B229-C7FDCD2F4B85}" presName="node" presStyleLbl="node1" presStyleIdx="4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247BBE6-19BE-44E5-A78C-CAA4FD75E1EA}" type="pres">
      <dgm:prSet presAssocID="{BD6A5F11-AFDC-4446-9AA3-B6C197BB4218}" presName="sibTrans" presStyleLbl="sibTrans2D1" presStyleIdx="4" presStyleCnt="6"/>
      <dgm:spPr/>
    </dgm:pt>
    <dgm:pt modelId="{1725ABC1-92D4-4972-862A-5121E11889A5}" type="pres">
      <dgm:prSet presAssocID="{BD6A5F11-AFDC-4446-9AA3-B6C197BB4218}" presName="connectorText" presStyleLbl="sibTrans2D1" presStyleIdx="4" presStyleCnt="6"/>
      <dgm:spPr/>
    </dgm:pt>
    <dgm:pt modelId="{50A3C183-F3BE-4360-8C02-B5027F2E1916}" type="pres">
      <dgm:prSet presAssocID="{4DCBA054-C341-4627-A9E7-50CF9012DAAD}" presName="node" presStyleLbl="node1" presStyleIdx="5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2D45E59-6B30-4C71-9A3A-0F62F1F339F2}" type="pres">
      <dgm:prSet presAssocID="{DCE4DA99-74DF-474D-ABD4-A3FC0D332213}" presName="sibTrans" presStyleLbl="sibTrans2D1" presStyleIdx="5" presStyleCnt="6"/>
      <dgm:spPr/>
    </dgm:pt>
    <dgm:pt modelId="{5D4B6B86-0741-48F4-9EE8-770AFF438201}" type="pres">
      <dgm:prSet presAssocID="{DCE4DA99-74DF-474D-ABD4-A3FC0D332213}" presName="connectorText" presStyleLbl="sibTrans2D1" presStyleIdx="5" presStyleCnt="6"/>
      <dgm:spPr/>
    </dgm:pt>
    <dgm:pt modelId="{34892C5C-9A70-4E5E-B569-F524D23FE16A}" type="pres">
      <dgm:prSet presAssocID="{E57DA758-18C3-4978-8AD5-EF05EAE701F1}" presName="node" presStyleLbl="node1" presStyleIdx="6" presStyleCnt="7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E45B4DA3-952A-4990-AEF7-9DEF286D2E2F}" type="presOf" srcId="{BD6A5F11-AFDC-4446-9AA3-B6C197BB4218}" destId="{1725ABC1-92D4-4972-862A-5121E11889A5}" srcOrd="1" destOrd="0" presId="urn:microsoft.com/office/officeart/2005/8/layout/process5"/>
    <dgm:cxn modelId="{5182A82D-AFFF-479D-B899-3AF71D12C539}" srcId="{DBA10CF8-2DC8-4524-BF6A-4038E3080FC9}" destId="{D3CA2FC0-3330-4FC3-B11F-C8A362382AA1}" srcOrd="3" destOrd="0" parTransId="{0B3D2507-A2C5-4DAE-8E46-562E662EEA54}" sibTransId="{486809D9-4BE3-46D7-AA73-F4B7274CDF5C}"/>
    <dgm:cxn modelId="{2DA9849C-4354-4879-A9FC-ABDD57718F5F}" type="presOf" srcId="{55520B7A-12E1-42AA-A285-4BEA8CD09FC8}" destId="{6349A2E3-C986-4AB0-B63F-65A05FFBAACB}" srcOrd="1" destOrd="0" presId="urn:microsoft.com/office/officeart/2005/8/layout/process5"/>
    <dgm:cxn modelId="{558D8D5F-27E5-4154-AA54-754BD5FC02D0}" type="presOf" srcId="{486809D9-4BE3-46D7-AA73-F4B7274CDF5C}" destId="{25679E54-C5C3-4B02-AAEA-B4DA4F2EFD52}" srcOrd="1" destOrd="0" presId="urn:microsoft.com/office/officeart/2005/8/layout/process5"/>
    <dgm:cxn modelId="{B7AA9D1C-6C02-41FC-AE1D-2DFDC37190C7}" type="presOf" srcId="{324DFE83-36F8-4C4D-A0FD-19B4010478D7}" destId="{DCB65169-0175-414B-9375-EF3AFAD39FC9}" srcOrd="0" destOrd="0" presId="urn:microsoft.com/office/officeart/2005/8/layout/process5"/>
    <dgm:cxn modelId="{2B53F47C-95F6-4B7B-83A7-2EE99974653C}" type="presOf" srcId="{55520B7A-12E1-42AA-A285-4BEA8CD09FC8}" destId="{7D891ED6-6770-4ACF-B60C-49234397B3EF}" srcOrd="0" destOrd="0" presId="urn:microsoft.com/office/officeart/2005/8/layout/process5"/>
    <dgm:cxn modelId="{BD46A34E-E6F3-4A9F-902E-C63FAD0D8EB3}" type="presOf" srcId="{FBE75F89-40D3-4125-80F3-8AF074FE4B36}" destId="{97535D46-E0C6-4CF6-8FC1-B779F222B641}" srcOrd="0" destOrd="0" presId="urn:microsoft.com/office/officeart/2005/8/layout/process5"/>
    <dgm:cxn modelId="{C77B865F-A052-4469-B748-79B50EB0ABBA}" srcId="{DBA10CF8-2DC8-4524-BF6A-4038E3080FC9}" destId="{324DFE83-36F8-4C4D-A0FD-19B4010478D7}" srcOrd="2" destOrd="0" parTransId="{CBA0D36A-727D-47CB-A41B-A8E3744F584C}" sibTransId="{5C15179D-FCC9-4FAF-8E05-789D972FC453}"/>
    <dgm:cxn modelId="{766637E9-10C4-4DE0-96B5-355470BE5162}" type="presOf" srcId="{BD6A5F11-AFDC-4446-9AA3-B6C197BB4218}" destId="{4247BBE6-19BE-44E5-A78C-CAA4FD75E1EA}" srcOrd="0" destOrd="0" presId="urn:microsoft.com/office/officeart/2005/8/layout/process5"/>
    <dgm:cxn modelId="{5BEE22AB-C36B-4C98-AF72-F1799C3053E0}" srcId="{DBA10CF8-2DC8-4524-BF6A-4038E3080FC9}" destId="{E57DA758-18C3-4978-8AD5-EF05EAE701F1}" srcOrd="6" destOrd="0" parTransId="{FCBB5B7B-90A7-4F47-AAEC-7ED24BAA798B}" sibTransId="{D54B978F-E572-49B8-ADC5-DAA98FBC294A}"/>
    <dgm:cxn modelId="{59EB2A60-B9D5-46D8-9DAE-85A90F6FDC48}" type="presOf" srcId="{FBE75F89-40D3-4125-80F3-8AF074FE4B36}" destId="{12F4BAEC-678C-4A49-869C-43CAEB294F87}" srcOrd="1" destOrd="0" presId="urn:microsoft.com/office/officeart/2005/8/layout/process5"/>
    <dgm:cxn modelId="{D1DA3401-C5A9-46FB-A3E4-4622C872453B}" type="presOf" srcId="{486809D9-4BE3-46D7-AA73-F4B7274CDF5C}" destId="{675A2DF6-4331-4D4F-8B16-707915A17068}" srcOrd="0" destOrd="0" presId="urn:microsoft.com/office/officeart/2005/8/layout/process5"/>
    <dgm:cxn modelId="{E0D38AD3-3CEE-4936-A457-7B6FD82D4345}" type="presOf" srcId="{5C15179D-FCC9-4FAF-8E05-789D972FC453}" destId="{F9A05C10-3B44-4436-B414-EE18644604DB}" srcOrd="1" destOrd="0" presId="urn:microsoft.com/office/officeart/2005/8/layout/process5"/>
    <dgm:cxn modelId="{A022343A-B629-4CFA-B584-B7151A259440}" type="presOf" srcId="{AEE69D82-028B-4905-858E-798F926904AB}" destId="{3860E15D-568D-4314-8C75-D1064696A3DC}" srcOrd="0" destOrd="0" presId="urn:microsoft.com/office/officeart/2005/8/layout/process5"/>
    <dgm:cxn modelId="{70A333E7-6408-4FA8-A014-605FDB2EE3AB}" srcId="{DBA10CF8-2DC8-4524-BF6A-4038E3080FC9}" destId="{AEE69D82-028B-4905-858E-798F926904AB}" srcOrd="0" destOrd="0" parTransId="{EF5BE3D0-C28D-44DB-971A-1FA1EAE6E832}" sibTransId="{55520B7A-12E1-42AA-A285-4BEA8CD09FC8}"/>
    <dgm:cxn modelId="{97621326-218F-49AD-8780-A9578223D0CD}" type="presOf" srcId="{D3CA2FC0-3330-4FC3-B11F-C8A362382AA1}" destId="{99D63371-F7B1-4AF5-B121-43FAD8F85C39}" srcOrd="0" destOrd="0" presId="urn:microsoft.com/office/officeart/2005/8/layout/process5"/>
    <dgm:cxn modelId="{760BD4A4-DDE7-4786-82E9-FD278A8A7427}" type="presOf" srcId="{8C4E27C1-2FCD-4D53-B229-C7FDCD2F4B85}" destId="{D2A13252-5541-4E0D-B229-3518FD62F531}" srcOrd="0" destOrd="0" presId="urn:microsoft.com/office/officeart/2005/8/layout/process5"/>
    <dgm:cxn modelId="{A4722F5D-4C75-4EC5-A536-34399A3EF148}" type="presOf" srcId="{5C15179D-FCC9-4FAF-8E05-789D972FC453}" destId="{144CB75D-C882-46EA-B58B-25C08F72B363}" srcOrd="0" destOrd="0" presId="urn:microsoft.com/office/officeart/2005/8/layout/process5"/>
    <dgm:cxn modelId="{5EA94892-5B10-45A5-B0C4-B20BAACC8215}" srcId="{DBA10CF8-2DC8-4524-BF6A-4038E3080FC9}" destId="{531F3455-CF02-4629-80A5-698D97B69E90}" srcOrd="1" destOrd="0" parTransId="{2DC9385A-1E40-4985-A3F3-930ABB1DEADC}" sibTransId="{FBE75F89-40D3-4125-80F3-8AF074FE4B36}"/>
    <dgm:cxn modelId="{E59D435E-7E23-4B37-B506-966D166B8F34}" type="presOf" srcId="{E57DA758-18C3-4978-8AD5-EF05EAE701F1}" destId="{34892C5C-9A70-4E5E-B569-F524D23FE16A}" srcOrd="0" destOrd="0" presId="urn:microsoft.com/office/officeart/2005/8/layout/process5"/>
    <dgm:cxn modelId="{EF22303F-07AF-45CE-886E-FA7425CC262F}" type="presOf" srcId="{DCE4DA99-74DF-474D-ABD4-A3FC0D332213}" destId="{5D4B6B86-0741-48F4-9EE8-770AFF438201}" srcOrd="1" destOrd="0" presId="urn:microsoft.com/office/officeart/2005/8/layout/process5"/>
    <dgm:cxn modelId="{639ACA00-76DF-4E57-BC71-AC637F24DFC6}" type="presOf" srcId="{531F3455-CF02-4629-80A5-698D97B69E90}" destId="{71DB6CC3-FC7F-48E7-9524-2DFA1DF95BCA}" srcOrd="0" destOrd="0" presId="urn:microsoft.com/office/officeart/2005/8/layout/process5"/>
    <dgm:cxn modelId="{A3AB3FA4-7189-419F-96C5-298FDF9E0ED2}" srcId="{DBA10CF8-2DC8-4524-BF6A-4038E3080FC9}" destId="{4DCBA054-C341-4627-A9E7-50CF9012DAAD}" srcOrd="5" destOrd="0" parTransId="{DB9993B5-1F2F-4AE4-84B1-629B88AFAC62}" sibTransId="{DCE4DA99-74DF-474D-ABD4-A3FC0D332213}"/>
    <dgm:cxn modelId="{9CBA0A25-78A9-4C28-8042-10FD38E9563E}" type="presOf" srcId="{DBA10CF8-2DC8-4524-BF6A-4038E3080FC9}" destId="{ECBD0F91-9312-427A-BF64-2CEFF51385AE}" srcOrd="0" destOrd="0" presId="urn:microsoft.com/office/officeart/2005/8/layout/process5"/>
    <dgm:cxn modelId="{AB65B298-C80F-44F1-9AAF-C66A41D111A2}" srcId="{DBA10CF8-2DC8-4524-BF6A-4038E3080FC9}" destId="{8C4E27C1-2FCD-4D53-B229-C7FDCD2F4B85}" srcOrd="4" destOrd="0" parTransId="{C01988F3-C358-436C-95E5-D695D33DB26E}" sibTransId="{BD6A5F11-AFDC-4446-9AA3-B6C197BB4218}"/>
    <dgm:cxn modelId="{E2DAC271-5613-4B4F-A377-7F2AF80BC88C}" type="presOf" srcId="{4DCBA054-C341-4627-A9E7-50CF9012DAAD}" destId="{50A3C183-F3BE-4360-8C02-B5027F2E1916}" srcOrd="0" destOrd="0" presId="urn:microsoft.com/office/officeart/2005/8/layout/process5"/>
    <dgm:cxn modelId="{F89FC2E2-7D66-42DC-BC12-5B7D0A548D33}" type="presOf" srcId="{DCE4DA99-74DF-474D-ABD4-A3FC0D332213}" destId="{92D45E59-6B30-4C71-9A3A-0F62F1F339F2}" srcOrd="0" destOrd="0" presId="urn:microsoft.com/office/officeart/2005/8/layout/process5"/>
    <dgm:cxn modelId="{EAECEFF5-B9B2-488F-A882-B10CE9E66353}" type="presParOf" srcId="{ECBD0F91-9312-427A-BF64-2CEFF51385AE}" destId="{3860E15D-568D-4314-8C75-D1064696A3DC}" srcOrd="0" destOrd="0" presId="urn:microsoft.com/office/officeart/2005/8/layout/process5"/>
    <dgm:cxn modelId="{DC99DB59-B934-4674-B869-A21D59A62F07}" type="presParOf" srcId="{ECBD0F91-9312-427A-BF64-2CEFF51385AE}" destId="{7D891ED6-6770-4ACF-B60C-49234397B3EF}" srcOrd="1" destOrd="0" presId="urn:microsoft.com/office/officeart/2005/8/layout/process5"/>
    <dgm:cxn modelId="{E700DB38-3F70-49FC-AAAC-38D340D24F79}" type="presParOf" srcId="{7D891ED6-6770-4ACF-B60C-49234397B3EF}" destId="{6349A2E3-C986-4AB0-B63F-65A05FFBAACB}" srcOrd="0" destOrd="0" presId="urn:microsoft.com/office/officeart/2005/8/layout/process5"/>
    <dgm:cxn modelId="{EA7B3638-BDEC-46D7-B439-D5B9D0A98BF9}" type="presParOf" srcId="{ECBD0F91-9312-427A-BF64-2CEFF51385AE}" destId="{71DB6CC3-FC7F-48E7-9524-2DFA1DF95BCA}" srcOrd="2" destOrd="0" presId="urn:microsoft.com/office/officeart/2005/8/layout/process5"/>
    <dgm:cxn modelId="{564A7E2A-EB04-484C-B51F-0608EFE913F4}" type="presParOf" srcId="{ECBD0F91-9312-427A-BF64-2CEFF51385AE}" destId="{97535D46-E0C6-4CF6-8FC1-B779F222B641}" srcOrd="3" destOrd="0" presId="urn:microsoft.com/office/officeart/2005/8/layout/process5"/>
    <dgm:cxn modelId="{82B10BF5-A232-484F-BEBD-90307AB0E537}" type="presParOf" srcId="{97535D46-E0C6-4CF6-8FC1-B779F222B641}" destId="{12F4BAEC-678C-4A49-869C-43CAEB294F87}" srcOrd="0" destOrd="0" presId="urn:microsoft.com/office/officeart/2005/8/layout/process5"/>
    <dgm:cxn modelId="{AB06D1E6-15F8-4536-895B-260446E53EA2}" type="presParOf" srcId="{ECBD0F91-9312-427A-BF64-2CEFF51385AE}" destId="{DCB65169-0175-414B-9375-EF3AFAD39FC9}" srcOrd="4" destOrd="0" presId="urn:microsoft.com/office/officeart/2005/8/layout/process5"/>
    <dgm:cxn modelId="{88A6EB25-86AC-4691-91EB-3664ED017C3E}" type="presParOf" srcId="{ECBD0F91-9312-427A-BF64-2CEFF51385AE}" destId="{144CB75D-C882-46EA-B58B-25C08F72B363}" srcOrd="5" destOrd="0" presId="urn:microsoft.com/office/officeart/2005/8/layout/process5"/>
    <dgm:cxn modelId="{EA800692-C76F-451A-BE96-9F56770A27F1}" type="presParOf" srcId="{144CB75D-C882-46EA-B58B-25C08F72B363}" destId="{F9A05C10-3B44-4436-B414-EE18644604DB}" srcOrd="0" destOrd="0" presId="urn:microsoft.com/office/officeart/2005/8/layout/process5"/>
    <dgm:cxn modelId="{B3008BCE-C906-464B-88A5-36ABC53CBD53}" type="presParOf" srcId="{ECBD0F91-9312-427A-BF64-2CEFF51385AE}" destId="{99D63371-F7B1-4AF5-B121-43FAD8F85C39}" srcOrd="6" destOrd="0" presId="urn:microsoft.com/office/officeart/2005/8/layout/process5"/>
    <dgm:cxn modelId="{202A9D03-D570-415E-83E2-680A11C40446}" type="presParOf" srcId="{ECBD0F91-9312-427A-BF64-2CEFF51385AE}" destId="{675A2DF6-4331-4D4F-8B16-707915A17068}" srcOrd="7" destOrd="0" presId="urn:microsoft.com/office/officeart/2005/8/layout/process5"/>
    <dgm:cxn modelId="{FB3A67B4-8995-4902-B272-02F36CF5BFE8}" type="presParOf" srcId="{675A2DF6-4331-4D4F-8B16-707915A17068}" destId="{25679E54-C5C3-4B02-AAEA-B4DA4F2EFD52}" srcOrd="0" destOrd="0" presId="urn:microsoft.com/office/officeart/2005/8/layout/process5"/>
    <dgm:cxn modelId="{4705D0E4-6EA3-49B2-A18E-0A1B302613FD}" type="presParOf" srcId="{ECBD0F91-9312-427A-BF64-2CEFF51385AE}" destId="{D2A13252-5541-4E0D-B229-3518FD62F531}" srcOrd="8" destOrd="0" presId="urn:microsoft.com/office/officeart/2005/8/layout/process5"/>
    <dgm:cxn modelId="{C9D44054-2437-482F-9842-5711336381B6}" type="presParOf" srcId="{ECBD0F91-9312-427A-BF64-2CEFF51385AE}" destId="{4247BBE6-19BE-44E5-A78C-CAA4FD75E1EA}" srcOrd="9" destOrd="0" presId="urn:microsoft.com/office/officeart/2005/8/layout/process5"/>
    <dgm:cxn modelId="{3A87F5BE-0060-4E90-8A68-9B947007A489}" type="presParOf" srcId="{4247BBE6-19BE-44E5-A78C-CAA4FD75E1EA}" destId="{1725ABC1-92D4-4972-862A-5121E11889A5}" srcOrd="0" destOrd="0" presId="urn:microsoft.com/office/officeart/2005/8/layout/process5"/>
    <dgm:cxn modelId="{822F0CB5-00C8-4F5C-A400-D56AA25C0171}" type="presParOf" srcId="{ECBD0F91-9312-427A-BF64-2CEFF51385AE}" destId="{50A3C183-F3BE-4360-8C02-B5027F2E1916}" srcOrd="10" destOrd="0" presId="urn:microsoft.com/office/officeart/2005/8/layout/process5"/>
    <dgm:cxn modelId="{74BF4259-9A68-4B99-860C-84DD8A8CBB13}" type="presParOf" srcId="{ECBD0F91-9312-427A-BF64-2CEFF51385AE}" destId="{92D45E59-6B30-4C71-9A3A-0F62F1F339F2}" srcOrd="11" destOrd="0" presId="urn:microsoft.com/office/officeart/2005/8/layout/process5"/>
    <dgm:cxn modelId="{E8FB06DC-E93D-4B66-8723-D791CB673E58}" type="presParOf" srcId="{92D45E59-6B30-4C71-9A3A-0F62F1F339F2}" destId="{5D4B6B86-0741-48F4-9EE8-770AFF438201}" srcOrd="0" destOrd="0" presId="urn:microsoft.com/office/officeart/2005/8/layout/process5"/>
    <dgm:cxn modelId="{358DDE94-33D8-4A55-9832-6D5FBA906880}" type="presParOf" srcId="{ECBD0F91-9312-427A-BF64-2CEFF51385AE}" destId="{34892C5C-9A70-4E5E-B569-F524D23FE16A}" srcOrd="12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D24844B-F0B2-47D2-9B07-49702490D325}" type="doc">
      <dgm:prSet loTypeId="urn:microsoft.com/office/officeart/2005/8/layout/matrix1" loCatId="matrix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ru-RU"/>
        </a:p>
      </dgm:t>
    </dgm:pt>
    <dgm:pt modelId="{FD834716-8A76-4743-A867-535515F808D4}">
      <dgm:prSet phldrT="[Текст]" custT="1">
        <dgm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ru-RU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Глобализация</a:t>
          </a:r>
        </a:p>
      </dgm:t>
    </dgm:pt>
    <dgm:pt modelId="{69FEE81C-07D5-47C3-BB20-89B3DF20100C}" type="parTrans" cxnId="{5186A38F-C49A-453E-814F-52FB8E67998F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F6AD727-DA4C-47B7-B20A-4B87B61B8350}" type="sibTrans" cxnId="{5186A38F-C49A-453E-814F-52FB8E67998F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3722604-F404-4F4F-8433-472897D2C1C8}">
      <dgm:prSet phldrT="[Текст]" custT="1"/>
      <dgm:spPr/>
      <dgm:t>
        <a:bodyPr/>
        <a:lstStyle/>
        <a:p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Ослабились возможности эффективно справляться с предъявляемыми к государству требованиями</a:t>
          </a:r>
        </a:p>
      </dgm:t>
    </dgm:pt>
    <dgm:pt modelId="{5618CC06-0E5D-4D7D-94CB-215F8D207A7D}" type="parTrans" cxnId="{C28A9614-406C-423F-B159-233E35C93CBA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7A4C28C-D779-4E97-BC2F-DEB5447D4896}" type="sibTrans" cxnId="{C28A9614-406C-423F-B159-233E35C93CBA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94E8AE8-A419-4C94-B041-076D363D5ADC}">
      <dgm:prSet phldrT="[Текст]" custT="1"/>
      <dgm:spPr/>
      <dgm:t>
        <a:bodyPr/>
        <a:lstStyle/>
        <a:p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Расширились функции и сферы ответственности национального государства</a:t>
          </a:r>
        </a:p>
      </dgm:t>
    </dgm:pt>
    <dgm:pt modelId="{DA11663B-9D2E-4D61-8CA1-8CAD1018D9E8}" type="parTrans" cxnId="{C98B63CE-F9EB-4DD3-A218-488D3FB5DAA6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FB92BB3-08C6-4BD6-A971-C7D9622A3906}" type="sibTrans" cxnId="{C98B63CE-F9EB-4DD3-A218-488D3FB5DAA6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15A941-1D7C-4A38-B392-1BAD62DE50C2}">
      <dgm:prSet phldrT="[Текст]" custT="1"/>
      <dgm:spPr/>
      <dgm:t>
        <a:bodyPr/>
        <a:lstStyle/>
        <a:p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Товары, капиталы, люди, знания, так же как и преступность  легко пересекают государственные границы</a:t>
          </a:r>
        </a:p>
      </dgm:t>
    </dgm:pt>
    <dgm:pt modelId="{EEDB8EA8-53BB-4A53-AE87-78D45AE2C727}" type="parTrans" cxnId="{55413724-4427-4649-A9A0-F4F56C34358E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558764B-6237-4DF7-97E8-255B152501D1}" type="sibTrans" cxnId="{55413724-4427-4649-A9A0-F4F56C34358E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8DA4581-52B1-45DC-8B21-D331BE868CF9}">
      <dgm:prSet phldrT="[Текст]" custT="1"/>
      <dgm:spPr/>
      <dgm:t>
        <a:bodyPr/>
        <a:lstStyle/>
        <a:p>
          <a:r>
            <a:rPr lang="ru-RU" sz="2000" dirty="0">
              <a:latin typeface="Times New Roman" panose="02020603050405020304" pitchFamily="18" charset="0"/>
              <a:cs typeface="Times New Roman" panose="02020603050405020304" pitchFamily="18" charset="0"/>
            </a:rPr>
            <a:t>ТНК, социальные движения и отношения стали проникать почти во все сферы человеческой деятельности</a:t>
          </a:r>
        </a:p>
      </dgm:t>
    </dgm:pt>
    <dgm:pt modelId="{F9BAB1C0-2B7F-42F8-B813-EC5B932DFE87}" type="parTrans" cxnId="{AB235B5A-50D6-40F0-8A47-6AFCD68E2C54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367FE19-35B5-47F6-9730-4BEBCB4BF820}" type="sibTrans" cxnId="{AB235B5A-50D6-40F0-8A47-6AFCD68E2C54}">
      <dgm:prSet/>
      <dgm:spPr/>
      <dgm:t>
        <a:bodyPr/>
        <a:lstStyle/>
        <a:p>
          <a:endParaRPr lang="ru-RU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09425C5B-6C04-4B45-A250-3DFAC3BB8A96}" type="pres">
      <dgm:prSet presAssocID="{3D24844B-F0B2-47D2-9B07-49702490D325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9281E486-868D-4C58-AC86-F2A73A33D66B}" type="pres">
      <dgm:prSet presAssocID="{3D24844B-F0B2-47D2-9B07-49702490D325}" presName="matrix" presStyleCnt="0"/>
      <dgm:spPr/>
    </dgm:pt>
    <dgm:pt modelId="{61E77CEB-09BA-4963-83E4-14C084093622}" type="pres">
      <dgm:prSet presAssocID="{3D24844B-F0B2-47D2-9B07-49702490D325}" presName="tile1" presStyleLbl="node1" presStyleIdx="0" presStyleCnt="4"/>
      <dgm:spPr/>
      <dgm:t>
        <a:bodyPr/>
        <a:lstStyle/>
        <a:p>
          <a:endParaRPr lang="ru-RU"/>
        </a:p>
      </dgm:t>
    </dgm:pt>
    <dgm:pt modelId="{BBB213D5-0C98-489E-AEDB-2EC2E01EBBD3}" type="pres">
      <dgm:prSet presAssocID="{3D24844B-F0B2-47D2-9B07-49702490D325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5BB3138F-5F87-4BD9-8407-09F742B4A1D4}" type="pres">
      <dgm:prSet presAssocID="{3D24844B-F0B2-47D2-9B07-49702490D325}" presName="tile2" presStyleLbl="node1" presStyleIdx="1" presStyleCnt="4"/>
      <dgm:spPr/>
      <dgm:t>
        <a:bodyPr/>
        <a:lstStyle/>
        <a:p>
          <a:endParaRPr lang="ru-RU"/>
        </a:p>
      </dgm:t>
    </dgm:pt>
    <dgm:pt modelId="{7ADC9342-E9A8-46DC-A007-3C8FF50DC5E3}" type="pres">
      <dgm:prSet presAssocID="{3D24844B-F0B2-47D2-9B07-49702490D325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318A57E-FEBB-448E-A417-871659760050}" type="pres">
      <dgm:prSet presAssocID="{3D24844B-F0B2-47D2-9B07-49702490D325}" presName="tile3" presStyleLbl="node1" presStyleIdx="2" presStyleCnt="4"/>
      <dgm:spPr/>
      <dgm:t>
        <a:bodyPr/>
        <a:lstStyle/>
        <a:p>
          <a:endParaRPr lang="ru-RU"/>
        </a:p>
      </dgm:t>
    </dgm:pt>
    <dgm:pt modelId="{90855ADE-D06D-49E6-BC37-1618DDE7E357}" type="pres">
      <dgm:prSet presAssocID="{3D24844B-F0B2-47D2-9B07-49702490D325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6C1C429-3ABF-48A0-B870-6B6A960E43E9}" type="pres">
      <dgm:prSet presAssocID="{3D24844B-F0B2-47D2-9B07-49702490D325}" presName="tile4" presStyleLbl="node1" presStyleIdx="3" presStyleCnt="4"/>
      <dgm:spPr/>
      <dgm:t>
        <a:bodyPr/>
        <a:lstStyle/>
        <a:p>
          <a:endParaRPr lang="ru-RU"/>
        </a:p>
      </dgm:t>
    </dgm:pt>
    <dgm:pt modelId="{86276BAC-7127-49C3-8F16-99F9654E0BBD}" type="pres">
      <dgm:prSet presAssocID="{3D24844B-F0B2-47D2-9B07-49702490D325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02BA48B-9081-46BC-AABD-01CC5014BD19}" type="pres">
      <dgm:prSet presAssocID="{3D24844B-F0B2-47D2-9B07-49702490D325}" presName="centerTile" presStyleLbl="fgShp" presStyleIdx="0" presStyleCnt="1" custScaleX="126844">
        <dgm:presLayoutVars>
          <dgm:chMax val="0"/>
          <dgm:chPref val="0"/>
        </dgm:presLayoutVars>
      </dgm:prSet>
      <dgm:spPr/>
      <dgm:t>
        <a:bodyPr/>
        <a:lstStyle/>
        <a:p>
          <a:endParaRPr lang="ru-RU"/>
        </a:p>
      </dgm:t>
    </dgm:pt>
  </dgm:ptLst>
  <dgm:cxnLst>
    <dgm:cxn modelId="{F546B6C8-5BA9-453E-8A42-912416421343}" type="presOf" srcId="{FD834716-8A76-4743-A867-535515F808D4}" destId="{B02BA48B-9081-46BC-AABD-01CC5014BD19}" srcOrd="0" destOrd="0" presId="urn:microsoft.com/office/officeart/2005/8/layout/matrix1"/>
    <dgm:cxn modelId="{5186A38F-C49A-453E-814F-52FB8E67998F}" srcId="{3D24844B-F0B2-47D2-9B07-49702490D325}" destId="{FD834716-8A76-4743-A867-535515F808D4}" srcOrd="0" destOrd="0" parTransId="{69FEE81C-07D5-47C3-BB20-89B3DF20100C}" sibTransId="{EF6AD727-DA4C-47B7-B20A-4B87B61B8350}"/>
    <dgm:cxn modelId="{DA64087A-8B0F-41E9-BA1A-1CE0F1A64A4F}" type="presOf" srcId="{3D24844B-F0B2-47D2-9B07-49702490D325}" destId="{09425C5B-6C04-4B45-A250-3DFAC3BB8A96}" srcOrd="0" destOrd="0" presId="urn:microsoft.com/office/officeart/2005/8/layout/matrix1"/>
    <dgm:cxn modelId="{C28A9614-406C-423F-B159-233E35C93CBA}" srcId="{FD834716-8A76-4743-A867-535515F808D4}" destId="{B3722604-F404-4F4F-8433-472897D2C1C8}" srcOrd="0" destOrd="0" parTransId="{5618CC06-0E5D-4D7D-94CB-215F8D207A7D}" sibTransId="{57A4C28C-D779-4E97-BC2F-DEB5447D4896}"/>
    <dgm:cxn modelId="{160294AE-8362-4D0C-B142-AFA762BA9C0C}" type="presOf" srcId="{B3722604-F404-4F4F-8433-472897D2C1C8}" destId="{BBB213D5-0C98-489E-AEDB-2EC2E01EBBD3}" srcOrd="1" destOrd="0" presId="urn:microsoft.com/office/officeart/2005/8/layout/matrix1"/>
    <dgm:cxn modelId="{AB235B5A-50D6-40F0-8A47-6AFCD68E2C54}" srcId="{FD834716-8A76-4743-A867-535515F808D4}" destId="{88DA4581-52B1-45DC-8B21-D331BE868CF9}" srcOrd="3" destOrd="0" parTransId="{F9BAB1C0-2B7F-42F8-B813-EC5B932DFE87}" sibTransId="{6367FE19-35B5-47F6-9730-4BEBCB4BF820}"/>
    <dgm:cxn modelId="{22620855-EE9C-499F-9EF4-87A8F14B93A2}" type="presOf" srcId="{194E8AE8-A419-4C94-B041-076D363D5ADC}" destId="{7ADC9342-E9A8-46DC-A007-3C8FF50DC5E3}" srcOrd="1" destOrd="0" presId="urn:microsoft.com/office/officeart/2005/8/layout/matrix1"/>
    <dgm:cxn modelId="{C1A7D6F8-B1A0-4F67-AC63-435373672105}" type="presOf" srcId="{9415A941-1D7C-4A38-B392-1BAD62DE50C2}" destId="{90855ADE-D06D-49E6-BC37-1618DDE7E357}" srcOrd="1" destOrd="0" presId="urn:microsoft.com/office/officeart/2005/8/layout/matrix1"/>
    <dgm:cxn modelId="{0BE9D8A6-F224-44A8-B8B7-FF3BD47D583E}" type="presOf" srcId="{9415A941-1D7C-4A38-B392-1BAD62DE50C2}" destId="{D318A57E-FEBB-448E-A417-871659760050}" srcOrd="0" destOrd="0" presId="urn:microsoft.com/office/officeart/2005/8/layout/matrix1"/>
    <dgm:cxn modelId="{35192850-3530-4E4D-A2C4-D330B9DB5CDC}" type="presOf" srcId="{194E8AE8-A419-4C94-B041-076D363D5ADC}" destId="{5BB3138F-5F87-4BD9-8407-09F742B4A1D4}" srcOrd="0" destOrd="0" presId="urn:microsoft.com/office/officeart/2005/8/layout/matrix1"/>
    <dgm:cxn modelId="{55413724-4427-4649-A9A0-F4F56C34358E}" srcId="{FD834716-8A76-4743-A867-535515F808D4}" destId="{9415A941-1D7C-4A38-B392-1BAD62DE50C2}" srcOrd="2" destOrd="0" parTransId="{EEDB8EA8-53BB-4A53-AE87-78D45AE2C727}" sibTransId="{5558764B-6237-4DF7-97E8-255B152501D1}"/>
    <dgm:cxn modelId="{B63348AD-FCE9-49E6-9B78-65BBCB00B925}" type="presOf" srcId="{B3722604-F404-4F4F-8433-472897D2C1C8}" destId="{61E77CEB-09BA-4963-83E4-14C084093622}" srcOrd="0" destOrd="0" presId="urn:microsoft.com/office/officeart/2005/8/layout/matrix1"/>
    <dgm:cxn modelId="{3E935DF9-306B-4983-92D0-F0C49A2D0FDA}" type="presOf" srcId="{88DA4581-52B1-45DC-8B21-D331BE868CF9}" destId="{76C1C429-3ABF-48A0-B870-6B6A960E43E9}" srcOrd="0" destOrd="0" presId="urn:microsoft.com/office/officeart/2005/8/layout/matrix1"/>
    <dgm:cxn modelId="{C98B63CE-F9EB-4DD3-A218-488D3FB5DAA6}" srcId="{FD834716-8A76-4743-A867-535515F808D4}" destId="{194E8AE8-A419-4C94-B041-076D363D5ADC}" srcOrd="1" destOrd="0" parTransId="{DA11663B-9D2E-4D61-8CA1-8CAD1018D9E8}" sibTransId="{4FB92BB3-08C6-4BD6-A971-C7D9622A3906}"/>
    <dgm:cxn modelId="{95E6EF65-51FD-48D3-AA9D-9D3E996788F9}" type="presOf" srcId="{88DA4581-52B1-45DC-8B21-D331BE868CF9}" destId="{86276BAC-7127-49C3-8F16-99F9654E0BBD}" srcOrd="1" destOrd="0" presId="urn:microsoft.com/office/officeart/2005/8/layout/matrix1"/>
    <dgm:cxn modelId="{E6D7F18C-6F2D-4008-909C-83D10F627580}" type="presParOf" srcId="{09425C5B-6C04-4B45-A250-3DFAC3BB8A96}" destId="{9281E486-868D-4C58-AC86-F2A73A33D66B}" srcOrd="0" destOrd="0" presId="urn:microsoft.com/office/officeart/2005/8/layout/matrix1"/>
    <dgm:cxn modelId="{BE5BB105-56B5-494C-95E2-ED5E42DE4176}" type="presParOf" srcId="{9281E486-868D-4C58-AC86-F2A73A33D66B}" destId="{61E77CEB-09BA-4963-83E4-14C084093622}" srcOrd="0" destOrd="0" presId="urn:microsoft.com/office/officeart/2005/8/layout/matrix1"/>
    <dgm:cxn modelId="{BA6BF82F-4A76-42DB-8A5E-1F57C474A83C}" type="presParOf" srcId="{9281E486-868D-4C58-AC86-F2A73A33D66B}" destId="{BBB213D5-0C98-489E-AEDB-2EC2E01EBBD3}" srcOrd="1" destOrd="0" presId="urn:microsoft.com/office/officeart/2005/8/layout/matrix1"/>
    <dgm:cxn modelId="{EFB0D679-D3A6-477A-9AAF-727C7B13A243}" type="presParOf" srcId="{9281E486-868D-4C58-AC86-F2A73A33D66B}" destId="{5BB3138F-5F87-4BD9-8407-09F742B4A1D4}" srcOrd="2" destOrd="0" presId="urn:microsoft.com/office/officeart/2005/8/layout/matrix1"/>
    <dgm:cxn modelId="{288272E7-2B9F-4770-84F6-26BA7FEE3DFB}" type="presParOf" srcId="{9281E486-868D-4C58-AC86-F2A73A33D66B}" destId="{7ADC9342-E9A8-46DC-A007-3C8FF50DC5E3}" srcOrd="3" destOrd="0" presId="urn:microsoft.com/office/officeart/2005/8/layout/matrix1"/>
    <dgm:cxn modelId="{40E7C1EF-BEA3-404D-AE65-059D9A01EED5}" type="presParOf" srcId="{9281E486-868D-4C58-AC86-F2A73A33D66B}" destId="{D318A57E-FEBB-448E-A417-871659760050}" srcOrd="4" destOrd="0" presId="urn:microsoft.com/office/officeart/2005/8/layout/matrix1"/>
    <dgm:cxn modelId="{16A9DE35-E0D8-4AA3-B128-A520C166D558}" type="presParOf" srcId="{9281E486-868D-4C58-AC86-F2A73A33D66B}" destId="{90855ADE-D06D-49E6-BC37-1618DDE7E357}" srcOrd="5" destOrd="0" presId="urn:microsoft.com/office/officeart/2005/8/layout/matrix1"/>
    <dgm:cxn modelId="{B9D22FD0-D7DD-4C54-8772-DD693031147D}" type="presParOf" srcId="{9281E486-868D-4C58-AC86-F2A73A33D66B}" destId="{76C1C429-3ABF-48A0-B870-6B6A960E43E9}" srcOrd="6" destOrd="0" presId="urn:microsoft.com/office/officeart/2005/8/layout/matrix1"/>
    <dgm:cxn modelId="{09ECE19A-6054-447D-8A1A-F91DC06E99B9}" type="presParOf" srcId="{9281E486-868D-4C58-AC86-F2A73A33D66B}" destId="{86276BAC-7127-49C3-8F16-99F9654E0BBD}" srcOrd="7" destOrd="0" presId="urn:microsoft.com/office/officeart/2005/8/layout/matrix1"/>
    <dgm:cxn modelId="{7355CFB6-0AF3-4BF6-897E-7008DF7E7FC4}" type="presParOf" srcId="{09425C5B-6C04-4B45-A250-3DFAC3BB8A96}" destId="{B02BA48B-9081-46BC-AABD-01CC5014BD19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F3D02E-4D04-4276-B441-CDB37FB27968}" type="doc">
      <dgm:prSet loTypeId="urn:microsoft.com/office/officeart/2008/layout/VerticalCurvedList" loCatId="list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ru-RU"/>
        </a:p>
      </dgm:t>
    </dgm:pt>
    <dgm:pt modelId="{9F7573DD-AA50-4DB8-BA43-2C888DBD1665}">
      <dgm:prSet phldrT="[Текст]" custT="1"/>
      <dgm:spPr/>
      <dgm:t>
        <a:bodyPr/>
        <a:lstStyle/>
        <a:p>
          <a:r>
            <a:rPr lang="ru-RU" sz="1000" dirty="0" smtClean="0"/>
            <a:t>Глобализация как глобальное благо. Начало XXI века характеризуется появлением концепции глобализации как средства решения общих проблем (образование, здравоохранение, экология). Глобализация рассматривается как источник возможностей для развития каждого государства и сообщества. Многие авторы называют глобализацию «глобальным общественным благом», способствующим совместному прогрессу человечества.</a:t>
          </a:r>
          <a:endParaRPr lang="ru-RU" sz="1000" dirty="0"/>
        </a:p>
      </dgm:t>
    </dgm:pt>
    <dgm:pt modelId="{09843186-7E3A-4D3B-8B10-A837BC196F44}" type="parTrans" cxnId="{1946DA4B-275D-42F0-B452-59C9D56289E5}">
      <dgm:prSet/>
      <dgm:spPr/>
      <dgm:t>
        <a:bodyPr/>
        <a:lstStyle/>
        <a:p>
          <a:endParaRPr lang="ru-RU"/>
        </a:p>
      </dgm:t>
    </dgm:pt>
    <dgm:pt modelId="{D1B5EEF4-0E05-41E2-B16D-9685E9E830AC}" type="sibTrans" cxnId="{1946DA4B-275D-42F0-B452-59C9D56289E5}">
      <dgm:prSet/>
      <dgm:spPr/>
      <dgm:t>
        <a:bodyPr/>
        <a:lstStyle/>
        <a:p>
          <a:endParaRPr lang="ru-RU"/>
        </a:p>
      </dgm:t>
    </dgm:pt>
    <dgm:pt modelId="{F0C384B2-8992-4A2D-AFD6-3BC166651AFC}">
      <dgm:prSet custT="1"/>
      <dgm:spPr/>
      <dgm:t>
        <a:bodyPr/>
        <a:lstStyle/>
        <a:p>
          <a:r>
            <a:rPr lang="ru-RU" sz="1000" dirty="0" smtClean="0"/>
            <a:t>Социально ориентированный подход. В новых исследованиях приоритет смещается на социальную сторону: глобализация должна служить улучшению жизни людей, а не только росту ВВП. Мировой финансово-экономический кризис 2008 г. усилил представление о необходимости усиленного международного сотрудничества и «справедливых» правил игры. Как пишет </a:t>
          </a:r>
          <a:r>
            <a:rPr lang="ru-RU" sz="1000" dirty="0" err="1" smtClean="0"/>
            <a:t>Л.Добрынина</a:t>
          </a:r>
          <a:r>
            <a:rPr lang="ru-RU" sz="1000" dirty="0" smtClean="0"/>
            <a:t>, кризис «подчеркнул конструктивную роль» идеи «единства мирового сообщества».</a:t>
          </a:r>
          <a:endParaRPr lang="ru-RU" sz="1000" dirty="0"/>
        </a:p>
      </dgm:t>
    </dgm:pt>
    <dgm:pt modelId="{D2EA280E-45DA-4AD3-8159-C3A7B5A6CA2A}" type="parTrans" cxnId="{9A87A3D9-3EF4-4132-8CE5-2DB8B43AE3D4}">
      <dgm:prSet/>
      <dgm:spPr/>
      <dgm:t>
        <a:bodyPr/>
        <a:lstStyle/>
        <a:p>
          <a:endParaRPr lang="ru-RU"/>
        </a:p>
      </dgm:t>
    </dgm:pt>
    <dgm:pt modelId="{18854076-2982-494D-B9F3-DD855283F97D}" type="sibTrans" cxnId="{9A87A3D9-3EF4-4132-8CE5-2DB8B43AE3D4}">
      <dgm:prSet/>
      <dgm:spPr/>
      <dgm:t>
        <a:bodyPr/>
        <a:lstStyle/>
        <a:p>
          <a:endParaRPr lang="ru-RU"/>
        </a:p>
      </dgm:t>
    </dgm:pt>
    <dgm:pt modelId="{60D25D2C-EA42-469E-97DA-23DF855FC280}">
      <dgm:prSet custT="1"/>
      <dgm:spPr/>
      <dgm:t>
        <a:bodyPr/>
        <a:lstStyle/>
        <a:p>
          <a:r>
            <a:rPr lang="ru-RU" sz="1000" dirty="0" smtClean="0"/>
            <a:t>Уход от дихотомий «Запад – Восток» и «Север – Юг». До 2022 года глобализацию рассматривали не через призму геополитического противостояния блоков, как было в 1990-е, а как феномен, охватывающий все цивилизации. Идентичности и ценности локальных сообществ считаются важным противовесом к унифицирующей тенденции. То есть глобализация XXI века всё меньше представляется как «западный диктат» – вместо этого акцент на диалоге культур и множественности путей развития. Однако после 2022 года эта тенденция изменилась в противоположную сторону.</a:t>
          </a:r>
          <a:endParaRPr lang="ru-RU" sz="1000" dirty="0"/>
        </a:p>
      </dgm:t>
    </dgm:pt>
    <dgm:pt modelId="{314CB1D6-E2A9-4CDE-855D-FE8EC2A9D736}" type="parTrans" cxnId="{CE182702-1EEC-45E3-9023-A2379B69F8CA}">
      <dgm:prSet/>
      <dgm:spPr/>
      <dgm:t>
        <a:bodyPr/>
        <a:lstStyle/>
        <a:p>
          <a:endParaRPr lang="ru-RU"/>
        </a:p>
      </dgm:t>
    </dgm:pt>
    <dgm:pt modelId="{DB654754-B3AB-4490-9C2B-CEDE20C25CEC}" type="sibTrans" cxnId="{CE182702-1EEC-45E3-9023-A2379B69F8CA}">
      <dgm:prSet/>
      <dgm:spPr/>
      <dgm:t>
        <a:bodyPr/>
        <a:lstStyle/>
        <a:p>
          <a:endParaRPr lang="ru-RU"/>
        </a:p>
      </dgm:t>
    </dgm:pt>
    <dgm:pt modelId="{41D6C700-5A93-4E5C-8B3E-9C10D458C28A}">
      <dgm:prSet custT="1"/>
      <dgm:spPr/>
      <dgm:t>
        <a:bodyPr/>
        <a:lstStyle/>
        <a:p>
          <a:r>
            <a:rPr lang="ru-RU" sz="1000" dirty="0" smtClean="0"/>
            <a:t>Усиление роли международного регулирования. Теоретики XXI века выдвигают идею о необходимости создания новых глобальных правил и институтов, способных смягчать негативные последствия интеграции. В дискуссиях всё чаще звучит мысль о регулировании мировых финансовых потоков, международной солидарности в бедствии и глобальном управлении рисками (экономическими, экологическими и др.). </a:t>
          </a:r>
          <a:endParaRPr lang="ru-RU" sz="1000" dirty="0"/>
        </a:p>
      </dgm:t>
    </dgm:pt>
    <dgm:pt modelId="{0D29D0E5-760E-4FE1-9411-C1EBF046FEAB}" type="parTrans" cxnId="{9523A0E4-1149-4C5C-91FB-E6135F392FE4}">
      <dgm:prSet/>
      <dgm:spPr/>
      <dgm:t>
        <a:bodyPr/>
        <a:lstStyle/>
        <a:p>
          <a:endParaRPr lang="ru-RU"/>
        </a:p>
      </dgm:t>
    </dgm:pt>
    <dgm:pt modelId="{58BEDABB-3603-42B3-AC39-E692DF9C16C8}" type="sibTrans" cxnId="{9523A0E4-1149-4C5C-91FB-E6135F392FE4}">
      <dgm:prSet/>
      <dgm:spPr/>
      <dgm:t>
        <a:bodyPr/>
        <a:lstStyle/>
        <a:p>
          <a:endParaRPr lang="ru-RU"/>
        </a:p>
      </dgm:t>
    </dgm:pt>
    <dgm:pt modelId="{50598693-69DA-4CA1-9DA1-A5A4D7C31E88}" type="pres">
      <dgm:prSet presAssocID="{C3F3D02E-4D04-4276-B441-CDB37FB27968}" presName="Name0" presStyleCnt="0">
        <dgm:presLayoutVars>
          <dgm:chMax val="7"/>
          <dgm:chPref val="7"/>
          <dgm:dir/>
        </dgm:presLayoutVars>
      </dgm:prSet>
      <dgm:spPr/>
    </dgm:pt>
    <dgm:pt modelId="{BAEF4981-F433-4C97-AD94-7DEF9BBF919D}" type="pres">
      <dgm:prSet presAssocID="{C3F3D02E-4D04-4276-B441-CDB37FB27968}" presName="Name1" presStyleCnt="0"/>
      <dgm:spPr/>
    </dgm:pt>
    <dgm:pt modelId="{CE1C2A3F-012B-47FB-8B0F-1FAD59DDA362}" type="pres">
      <dgm:prSet presAssocID="{C3F3D02E-4D04-4276-B441-CDB37FB27968}" presName="cycle" presStyleCnt="0"/>
      <dgm:spPr/>
    </dgm:pt>
    <dgm:pt modelId="{21CB5156-581F-4414-9613-31D9F119015F}" type="pres">
      <dgm:prSet presAssocID="{C3F3D02E-4D04-4276-B441-CDB37FB27968}" presName="srcNode" presStyleLbl="node1" presStyleIdx="0" presStyleCnt="4"/>
      <dgm:spPr/>
    </dgm:pt>
    <dgm:pt modelId="{5A4C3BA6-0791-4E05-BB2F-B79EDD84A0D4}" type="pres">
      <dgm:prSet presAssocID="{C3F3D02E-4D04-4276-B441-CDB37FB27968}" presName="conn" presStyleLbl="parChTrans1D2" presStyleIdx="0" presStyleCnt="1"/>
      <dgm:spPr/>
    </dgm:pt>
    <dgm:pt modelId="{B1963D41-E963-496F-96D5-A7480050D97B}" type="pres">
      <dgm:prSet presAssocID="{C3F3D02E-4D04-4276-B441-CDB37FB27968}" presName="extraNode" presStyleLbl="node1" presStyleIdx="0" presStyleCnt="4"/>
      <dgm:spPr/>
    </dgm:pt>
    <dgm:pt modelId="{75E52434-016C-437B-A299-FCDBA0A1F6AD}" type="pres">
      <dgm:prSet presAssocID="{C3F3D02E-4D04-4276-B441-CDB37FB27968}" presName="dstNode" presStyleLbl="node1" presStyleIdx="0" presStyleCnt="4"/>
      <dgm:spPr/>
    </dgm:pt>
    <dgm:pt modelId="{F4F3FAA9-35AE-4C3D-8D3E-80970E9B4C02}" type="pres">
      <dgm:prSet presAssocID="{9F7573DD-AA50-4DB8-BA43-2C888DBD1665}" presName="text_1" presStyleLbl="node1" presStyleIdx="0" presStyleCnt="4" custScaleX="102260" custScaleY="142475">
        <dgm:presLayoutVars>
          <dgm:bulletEnabled val="1"/>
        </dgm:presLayoutVars>
      </dgm:prSet>
      <dgm:spPr/>
    </dgm:pt>
    <dgm:pt modelId="{B86AB8DF-FF20-4195-B1E4-EEE751D78831}" type="pres">
      <dgm:prSet presAssocID="{9F7573DD-AA50-4DB8-BA43-2C888DBD1665}" presName="accent_1" presStyleCnt="0"/>
      <dgm:spPr/>
    </dgm:pt>
    <dgm:pt modelId="{AAFCD235-6E7D-4B25-88FB-3274633D9358}" type="pres">
      <dgm:prSet presAssocID="{9F7573DD-AA50-4DB8-BA43-2C888DBD1665}" presName="accentRepeatNode" presStyleLbl="solidFgAcc1" presStyleIdx="0" presStyleCnt="4"/>
      <dgm:spPr/>
    </dgm:pt>
    <dgm:pt modelId="{770B238B-3F27-440D-8ABF-6AF829403A2B}" type="pres">
      <dgm:prSet presAssocID="{F0C384B2-8992-4A2D-AFD6-3BC166651AFC}" presName="text_2" presStyleLbl="node1" presStyleIdx="1" presStyleCnt="4" custScaleX="102260" custScaleY="142475">
        <dgm:presLayoutVars>
          <dgm:bulletEnabled val="1"/>
        </dgm:presLayoutVars>
      </dgm:prSet>
      <dgm:spPr/>
    </dgm:pt>
    <dgm:pt modelId="{D85E578B-EF69-403C-A0E9-C0252558D0F0}" type="pres">
      <dgm:prSet presAssocID="{F0C384B2-8992-4A2D-AFD6-3BC166651AFC}" presName="accent_2" presStyleCnt="0"/>
      <dgm:spPr/>
    </dgm:pt>
    <dgm:pt modelId="{93235C44-7208-4DB1-BD02-ADEFDEBFE1C3}" type="pres">
      <dgm:prSet presAssocID="{F0C384B2-8992-4A2D-AFD6-3BC166651AFC}" presName="accentRepeatNode" presStyleLbl="solidFgAcc1" presStyleIdx="1" presStyleCnt="4"/>
      <dgm:spPr/>
    </dgm:pt>
    <dgm:pt modelId="{CBA89910-F183-4807-88D6-BAA9C90F9758}" type="pres">
      <dgm:prSet presAssocID="{60D25D2C-EA42-469E-97DA-23DF855FC280}" presName="text_3" presStyleLbl="node1" presStyleIdx="2" presStyleCnt="4" custScaleX="102260" custScaleY="142475">
        <dgm:presLayoutVars>
          <dgm:bulletEnabled val="1"/>
        </dgm:presLayoutVars>
      </dgm:prSet>
      <dgm:spPr/>
    </dgm:pt>
    <dgm:pt modelId="{B5AFACEE-BD83-4779-A5B3-EE907A314354}" type="pres">
      <dgm:prSet presAssocID="{60D25D2C-EA42-469E-97DA-23DF855FC280}" presName="accent_3" presStyleCnt="0"/>
      <dgm:spPr/>
    </dgm:pt>
    <dgm:pt modelId="{18E68976-F5C8-473A-B55F-54D124F3BB7C}" type="pres">
      <dgm:prSet presAssocID="{60D25D2C-EA42-469E-97DA-23DF855FC280}" presName="accentRepeatNode" presStyleLbl="solidFgAcc1" presStyleIdx="2" presStyleCnt="4"/>
      <dgm:spPr/>
    </dgm:pt>
    <dgm:pt modelId="{42D001DA-61E2-44BF-AA12-8D6AA63D1D01}" type="pres">
      <dgm:prSet presAssocID="{41D6C700-5A93-4E5C-8B3E-9C10D458C28A}" presName="text_4" presStyleLbl="node1" presStyleIdx="3" presStyleCnt="4" custScaleX="102260" custScaleY="142475">
        <dgm:presLayoutVars>
          <dgm:bulletEnabled val="1"/>
        </dgm:presLayoutVars>
      </dgm:prSet>
      <dgm:spPr/>
    </dgm:pt>
    <dgm:pt modelId="{83E53590-C036-4983-8BDA-528F31870D66}" type="pres">
      <dgm:prSet presAssocID="{41D6C700-5A93-4E5C-8B3E-9C10D458C28A}" presName="accent_4" presStyleCnt="0"/>
      <dgm:spPr/>
    </dgm:pt>
    <dgm:pt modelId="{F1BB80B6-D838-4AB6-8A68-98D0C319F5B4}" type="pres">
      <dgm:prSet presAssocID="{41D6C700-5A93-4E5C-8B3E-9C10D458C28A}" presName="accentRepeatNode" presStyleLbl="solidFgAcc1" presStyleIdx="3" presStyleCnt="4"/>
      <dgm:spPr/>
    </dgm:pt>
  </dgm:ptLst>
  <dgm:cxnLst>
    <dgm:cxn modelId="{D89D179F-C2A9-46BC-A459-01355AFF53DB}" type="presOf" srcId="{9F7573DD-AA50-4DB8-BA43-2C888DBD1665}" destId="{F4F3FAA9-35AE-4C3D-8D3E-80970E9B4C02}" srcOrd="0" destOrd="0" presId="urn:microsoft.com/office/officeart/2008/layout/VerticalCurvedList"/>
    <dgm:cxn modelId="{2F25E806-0ACA-47BD-8ED9-657FE3984C3B}" type="presOf" srcId="{D1B5EEF4-0E05-41E2-B16D-9685E9E830AC}" destId="{5A4C3BA6-0791-4E05-BB2F-B79EDD84A0D4}" srcOrd="0" destOrd="0" presId="urn:microsoft.com/office/officeart/2008/layout/VerticalCurvedList"/>
    <dgm:cxn modelId="{9A87A3D9-3EF4-4132-8CE5-2DB8B43AE3D4}" srcId="{C3F3D02E-4D04-4276-B441-CDB37FB27968}" destId="{F0C384B2-8992-4A2D-AFD6-3BC166651AFC}" srcOrd="1" destOrd="0" parTransId="{D2EA280E-45DA-4AD3-8159-C3A7B5A6CA2A}" sibTransId="{18854076-2982-494D-B9F3-DD855283F97D}"/>
    <dgm:cxn modelId="{1946DA4B-275D-42F0-B452-59C9D56289E5}" srcId="{C3F3D02E-4D04-4276-B441-CDB37FB27968}" destId="{9F7573DD-AA50-4DB8-BA43-2C888DBD1665}" srcOrd="0" destOrd="0" parTransId="{09843186-7E3A-4D3B-8B10-A837BC196F44}" sibTransId="{D1B5EEF4-0E05-41E2-B16D-9685E9E830AC}"/>
    <dgm:cxn modelId="{CE182702-1EEC-45E3-9023-A2379B69F8CA}" srcId="{C3F3D02E-4D04-4276-B441-CDB37FB27968}" destId="{60D25D2C-EA42-469E-97DA-23DF855FC280}" srcOrd="2" destOrd="0" parTransId="{314CB1D6-E2A9-4CDE-855D-FE8EC2A9D736}" sibTransId="{DB654754-B3AB-4490-9C2B-CEDE20C25CEC}"/>
    <dgm:cxn modelId="{5EAD2083-2BA1-4290-9B4D-F52BBDA30030}" type="presOf" srcId="{41D6C700-5A93-4E5C-8B3E-9C10D458C28A}" destId="{42D001DA-61E2-44BF-AA12-8D6AA63D1D01}" srcOrd="0" destOrd="0" presId="urn:microsoft.com/office/officeart/2008/layout/VerticalCurvedList"/>
    <dgm:cxn modelId="{8E096E1E-9DDC-4EAA-A7E0-79726F5ED3BD}" type="presOf" srcId="{F0C384B2-8992-4A2D-AFD6-3BC166651AFC}" destId="{770B238B-3F27-440D-8ABF-6AF829403A2B}" srcOrd="0" destOrd="0" presId="urn:microsoft.com/office/officeart/2008/layout/VerticalCurvedList"/>
    <dgm:cxn modelId="{4A4680D8-61D0-42B6-B7CF-BBD5480B8291}" type="presOf" srcId="{C3F3D02E-4D04-4276-B441-CDB37FB27968}" destId="{50598693-69DA-4CA1-9DA1-A5A4D7C31E88}" srcOrd="0" destOrd="0" presId="urn:microsoft.com/office/officeart/2008/layout/VerticalCurvedList"/>
    <dgm:cxn modelId="{8627A371-F030-4861-B8FD-1FF23188E558}" type="presOf" srcId="{60D25D2C-EA42-469E-97DA-23DF855FC280}" destId="{CBA89910-F183-4807-88D6-BAA9C90F9758}" srcOrd="0" destOrd="0" presId="urn:microsoft.com/office/officeart/2008/layout/VerticalCurvedList"/>
    <dgm:cxn modelId="{9523A0E4-1149-4C5C-91FB-E6135F392FE4}" srcId="{C3F3D02E-4D04-4276-B441-CDB37FB27968}" destId="{41D6C700-5A93-4E5C-8B3E-9C10D458C28A}" srcOrd="3" destOrd="0" parTransId="{0D29D0E5-760E-4FE1-9411-C1EBF046FEAB}" sibTransId="{58BEDABB-3603-42B3-AC39-E692DF9C16C8}"/>
    <dgm:cxn modelId="{F6D95ECF-DC48-430B-915A-B3EBF12EA317}" type="presParOf" srcId="{50598693-69DA-4CA1-9DA1-A5A4D7C31E88}" destId="{BAEF4981-F433-4C97-AD94-7DEF9BBF919D}" srcOrd="0" destOrd="0" presId="urn:microsoft.com/office/officeart/2008/layout/VerticalCurvedList"/>
    <dgm:cxn modelId="{C36C34C5-26A8-4D78-AB27-A4584E3B1A22}" type="presParOf" srcId="{BAEF4981-F433-4C97-AD94-7DEF9BBF919D}" destId="{CE1C2A3F-012B-47FB-8B0F-1FAD59DDA362}" srcOrd="0" destOrd="0" presId="urn:microsoft.com/office/officeart/2008/layout/VerticalCurvedList"/>
    <dgm:cxn modelId="{552FB578-5FD9-4416-8386-6975336874BA}" type="presParOf" srcId="{CE1C2A3F-012B-47FB-8B0F-1FAD59DDA362}" destId="{21CB5156-581F-4414-9613-31D9F119015F}" srcOrd="0" destOrd="0" presId="urn:microsoft.com/office/officeart/2008/layout/VerticalCurvedList"/>
    <dgm:cxn modelId="{AE6B0E1E-FE6E-4CF0-BBAD-EC64F9B5B278}" type="presParOf" srcId="{CE1C2A3F-012B-47FB-8B0F-1FAD59DDA362}" destId="{5A4C3BA6-0791-4E05-BB2F-B79EDD84A0D4}" srcOrd="1" destOrd="0" presId="urn:microsoft.com/office/officeart/2008/layout/VerticalCurvedList"/>
    <dgm:cxn modelId="{A5D464DA-A3C2-4906-981A-C2F99F6EF3D8}" type="presParOf" srcId="{CE1C2A3F-012B-47FB-8B0F-1FAD59DDA362}" destId="{B1963D41-E963-496F-96D5-A7480050D97B}" srcOrd="2" destOrd="0" presId="urn:microsoft.com/office/officeart/2008/layout/VerticalCurvedList"/>
    <dgm:cxn modelId="{DD8932B3-7D4D-4AC7-B490-0A2DF79A7E12}" type="presParOf" srcId="{CE1C2A3F-012B-47FB-8B0F-1FAD59DDA362}" destId="{75E52434-016C-437B-A299-FCDBA0A1F6AD}" srcOrd="3" destOrd="0" presId="urn:microsoft.com/office/officeart/2008/layout/VerticalCurvedList"/>
    <dgm:cxn modelId="{FCB57DDA-ABD6-4198-81E6-6C039A6E5E62}" type="presParOf" srcId="{BAEF4981-F433-4C97-AD94-7DEF9BBF919D}" destId="{F4F3FAA9-35AE-4C3D-8D3E-80970E9B4C02}" srcOrd="1" destOrd="0" presId="urn:microsoft.com/office/officeart/2008/layout/VerticalCurvedList"/>
    <dgm:cxn modelId="{25AE94DF-A95E-427B-9870-34B0E6C584B2}" type="presParOf" srcId="{BAEF4981-F433-4C97-AD94-7DEF9BBF919D}" destId="{B86AB8DF-FF20-4195-B1E4-EEE751D78831}" srcOrd="2" destOrd="0" presId="urn:microsoft.com/office/officeart/2008/layout/VerticalCurvedList"/>
    <dgm:cxn modelId="{4A9FC43A-D99E-400F-83A1-41E2CB582805}" type="presParOf" srcId="{B86AB8DF-FF20-4195-B1E4-EEE751D78831}" destId="{AAFCD235-6E7D-4B25-88FB-3274633D9358}" srcOrd="0" destOrd="0" presId="urn:microsoft.com/office/officeart/2008/layout/VerticalCurvedList"/>
    <dgm:cxn modelId="{1B104315-9E93-4638-86D0-7155C6A0425D}" type="presParOf" srcId="{BAEF4981-F433-4C97-AD94-7DEF9BBF919D}" destId="{770B238B-3F27-440D-8ABF-6AF829403A2B}" srcOrd="3" destOrd="0" presId="urn:microsoft.com/office/officeart/2008/layout/VerticalCurvedList"/>
    <dgm:cxn modelId="{B9F4D140-AD6A-465D-8BBC-BA64E4BFC370}" type="presParOf" srcId="{BAEF4981-F433-4C97-AD94-7DEF9BBF919D}" destId="{D85E578B-EF69-403C-A0E9-C0252558D0F0}" srcOrd="4" destOrd="0" presId="urn:microsoft.com/office/officeart/2008/layout/VerticalCurvedList"/>
    <dgm:cxn modelId="{456D3D0A-FFCE-4A33-A031-5300CBDC2BEE}" type="presParOf" srcId="{D85E578B-EF69-403C-A0E9-C0252558D0F0}" destId="{93235C44-7208-4DB1-BD02-ADEFDEBFE1C3}" srcOrd="0" destOrd="0" presId="urn:microsoft.com/office/officeart/2008/layout/VerticalCurvedList"/>
    <dgm:cxn modelId="{CEC3AF4F-E69A-4E45-B90E-F3424460ADA4}" type="presParOf" srcId="{BAEF4981-F433-4C97-AD94-7DEF9BBF919D}" destId="{CBA89910-F183-4807-88D6-BAA9C90F9758}" srcOrd="5" destOrd="0" presId="urn:microsoft.com/office/officeart/2008/layout/VerticalCurvedList"/>
    <dgm:cxn modelId="{D1787BB7-3079-4177-A089-E5BECF7D8AC4}" type="presParOf" srcId="{BAEF4981-F433-4C97-AD94-7DEF9BBF919D}" destId="{B5AFACEE-BD83-4779-A5B3-EE907A314354}" srcOrd="6" destOrd="0" presId="urn:microsoft.com/office/officeart/2008/layout/VerticalCurvedList"/>
    <dgm:cxn modelId="{C0863C46-F399-4EC4-A1B9-10A316D87EC5}" type="presParOf" srcId="{B5AFACEE-BD83-4779-A5B3-EE907A314354}" destId="{18E68976-F5C8-473A-B55F-54D124F3BB7C}" srcOrd="0" destOrd="0" presId="urn:microsoft.com/office/officeart/2008/layout/VerticalCurvedList"/>
    <dgm:cxn modelId="{2B327CB7-7AB6-4B5B-A7F7-12BC04C52CE9}" type="presParOf" srcId="{BAEF4981-F433-4C97-AD94-7DEF9BBF919D}" destId="{42D001DA-61E2-44BF-AA12-8D6AA63D1D01}" srcOrd="7" destOrd="0" presId="urn:microsoft.com/office/officeart/2008/layout/VerticalCurvedList"/>
    <dgm:cxn modelId="{F0ACE13D-EABB-47E8-8113-018CD97A9066}" type="presParOf" srcId="{BAEF4981-F433-4C97-AD94-7DEF9BBF919D}" destId="{83E53590-C036-4983-8BDA-528F31870D66}" srcOrd="8" destOrd="0" presId="urn:microsoft.com/office/officeart/2008/layout/VerticalCurvedList"/>
    <dgm:cxn modelId="{6BA23FF1-CE5B-444F-A16E-CBE99714424D}" type="presParOf" srcId="{83E53590-C036-4983-8BDA-528F31870D66}" destId="{F1BB80B6-D838-4AB6-8A68-98D0C319F5B4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0E15D-568D-4314-8C75-D1064696A3DC}">
      <dsp:nvSpPr>
        <dsp:cNvPr id="0" name=""/>
        <dsp:cNvSpPr/>
      </dsp:nvSpPr>
      <dsp:spPr>
        <a:xfrm>
          <a:off x="6202" y="146364"/>
          <a:ext cx="1853784" cy="111227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1</a:t>
          </a:r>
          <a:r>
            <a:rPr lang="ru-RU" sz="1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ru-RU" sz="1000" b="1" kern="1200" dirty="0" smtClean="0"/>
            <a:t>Возникновение и развитие научных взглядов, посвящённых глобализации</a:t>
          </a:r>
          <a:endParaRPr lang="ru-RU" sz="1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779" y="178941"/>
        <a:ext cx="1788630" cy="1047116"/>
      </dsp:txXfrm>
    </dsp:sp>
    <dsp:sp modelId="{7D891ED6-6770-4ACF-B60C-49234397B3EF}">
      <dsp:nvSpPr>
        <dsp:cNvPr id="0" name=""/>
        <dsp:cNvSpPr/>
      </dsp:nvSpPr>
      <dsp:spPr>
        <a:xfrm>
          <a:off x="2023119" y="472630"/>
          <a:ext cx="393002" cy="4597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8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023119" y="564578"/>
        <a:ext cx="275101" cy="275842"/>
      </dsp:txXfrm>
    </dsp:sp>
    <dsp:sp modelId="{71DB6CC3-FC7F-48E7-9524-2DFA1DF95BCA}">
      <dsp:nvSpPr>
        <dsp:cNvPr id="0" name=""/>
        <dsp:cNvSpPr/>
      </dsp:nvSpPr>
      <dsp:spPr>
        <a:xfrm>
          <a:off x="2601499" y="146364"/>
          <a:ext cx="1853784" cy="1112270"/>
        </a:xfrm>
        <a:prstGeom prst="roundRect">
          <a:avLst>
            <a:gd name="adj" fmla="val 10000"/>
          </a:avLst>
        </a:prstGeom>
        <a:solidFill>
          <a:schemeClr val="accent4">
            <a:hueOff val="-744128"/>
            <a:satOff val="4483"/>
            <a:lumOff val="359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2</a:t>
          </a:r>
          <a:r>
            <a:rPr lang="ru-RU" sz="1000" kern="1200" smtClean="0">
              <a:latin typeface="Times New Roman" panose="02020603050405020304" pitchFamily="18" charset="0"/>
              <a:cs typeface="Times New Roman" panose="02020603050405020304" pitchFamily="18" charset="0"/>
            </a:rPr>
            <a:t>. </a:t>
          </a:r>
          <a:r>
            <a:rPr lang="ru-RU" sz="1000" b="1" kern="1200" smtClean="0"/>
            <a:t>Этапы развития теорий глобализации</a:t>
          </a:r>
          <a:endParaRPr lang="ru-RU" sz="1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4076" y="178941"/>
        <a:ext cx="1788630" cy="1047116"/>
      </dsp:txXfrm>
    </dsp:sp>
    <dsp:sp modelId="{97535D46-E0C6-4CF6-8FC1-B779F222B641}">
      <dsp:nvSpPr>
        <dsp:cNvPr id="0" name=""/>
        <dsp:cNvSpPr/>
      </dsp:nvSpPr>
      <dsp:spPr>
        <a:xfrm>
          <a:off x="4618417" y="472630"/>
          <a:ext cx="393002" cy="4597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892954"/>
            <a:satOff val="5380"/>
            <a:lumOff val="431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8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618417" y="564578"/>
        <a:ext cx="275101" cy="275842"/>
      </dsp:txXfrm>
    </dsp:sp>
    <dsp:sp modelId="{DCB65169-0175-414B-9375-EF3AFAD39FC9}">
      <dsp:nvSpPr>
        <dsp:cNvPr id="0" name=""/>
        <dsp:cNvSpPr/>
      </dsp:nvSpPr>
      <dsp:spPr>
        <a:xfrm>
          <a:off x="5196797" y="146364"/>
          <a:ext cx="1853784" cy="1112270"/>
        </a:xfrm>
        <a:prstGeom prst="roundRect">
          <a:avLst>
            <a:gd name="adj" fmla="val 10000"/>
          </a:avLst>
        </a:prstGeom>
        <a:solidFill>
          <a:schemeClr val="accent4">
            <a:hueOff val="-1488257"/>
            <a:satOff val="8966"/>
            <a:lumOff val="719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3. Развитие процесса глобализации</a:t>
          </a:r>
          <a:endParaRPr lang="ru-RU" sz="1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29374" y="178941"/>
        <a:ext cx="1788630" cy="1047116"/>
      </dsp:txXfrm>
    </dsp:sp>
    <dsp:sp modelId="{144CB75D-C882-46EA-B58B-25C08F72B363}">
      <dsp:nvSpPr>
        <dsp:cNvPr id="0" name=""/>
        <dsp:cNvSpPr/>
      </dsp:nvSpPr>
      <dsp:spPr>
        <a:xfrm rot="5400000">
          <a:off x="5927188" y="1388400"/>
          <a:ext cx="393002" cy="4597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1785908"/>
            <a:satOff val="10760"/>
            <a:lumOff val="862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800" kern="120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5985769" y="1421768"/>
        <a:ext cx="275842" cy="275101"/>
      </dsp:txXfrm>
    </dsp:sp>
    <dsp:sp modelId="{99D63371-F7B1-4AF5-B121-43FAD8F85C39}">
      <dsp:nvSpPr>
        <dsp:cNvPr id="0" name=""/>
        <dsp:cNvSpPr/>
      </dsp:nvSpPr>
      <dsp:spPr>
        <a:xfrm>
          <a:off x="5196797" y="2000148"/>
          <a:ext cx="1853784" cy="1112270"/>
        </a:xfrm>
        <a:prstGeom prst="roundRect">
          <a:avLst>
            <a:gd name="adj" fmla="val 10000"/>
          </a:avLst>
        </a:prstGeom>
        <a:solidFill>
          <a:schemeClr val="accent4">
            <a:hueOff val="-2232385"/>
            <a:satOff val="13449"/>
            <a:lumOff val="1078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4. Основные направления научных концепций глобализации мировой экономики: </a:t>
          </a:r>
          <a:r>
            <a:rPr lang="ru-RU" sz="10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гиперглобалистское</a:t>
          </a:r>
          <a:r>
            <a:rPr lang="ru-RU" sz="1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, скептическое и трансформационное</a:t>
          </a:r>
          <a:endParaRPr lang="ru-RU" sz="1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29374" y="2032725"/>
        <a:ext cx="1788630" cy="1047116"/>
      </dsp:txXfrm>
    </dsp:sp>
    <dsp:sp modelId="{675A2DF6-4331-4D4F-8B16-707915A17068}">
      <dsp:nvSpPr>
        <dsp:cNvPr id="0" name=""/>
        <dsp:cNvSpPr/>
      </dsp:nvSpPr>
      <dsp:spPr>
        <a:xfrm rot="10800000">
          <a:off x="4640662" y="2326414"/>
          <a:ext cx="393002" cy="4597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2678862"/>
            <a:satOff val="16139"/>
            <a:lumOff val="1294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800" kern="120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10800000">
        <a:off x="4758563" y="2418362"/>
        <a:ext cx="275101" cy="275842"/>
      </dsp:txXfrm>
    </dsp:sp>
    <dsp:sp modelId="{D2A13252-5541-4E0D-B229-3518FD62F531}">
      <dsp:nvSpPr>
        <dsp:cNvPr id="0" name=""/>
        <dsp:cNvSpPr/>
      </dsp:nvSpPr>
      <dsp:spPr>
        <a:xfrm>
          <a:off x="2601499" y="2000148"/>
          <a:ext cx="1853784" cy="1112270"/>
        </a:xfrm>
        <a:prstGeom prst="roundRect">
          <a:avLst>
            <a:gd name="adj" fmla="val 10000"/>
          </a:avLst>
        </a:prstGeom>
        <a:solidFill>
          <a:schemeClr val="accent4">
            <a:hueOff val="-2976513"/>
            <a:satOff val="17933"/>
            <a:lumOff val="1437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5. </a:t>
          </a:r>
          <a:r>
            <a:rPr lang="ru-RU" sz="1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Экономические взгляды </a:t>
          </a:r>
          <a:r>
            <a:rPr lang="ru-RU" sz="1000" kern="1200" dirty="0" err="1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Дж.Е.Стиглица</a:t>
          </a:r>
          <a:endParaRPr lang="ru-RU" sz="1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634076" y="2032725"/>
        <a:ext cx="1788630" cy="1047116"/>
      </dsp:txXfrm>
    </dsp:sp>
    <dsp:sp modelId="{4247BBE6-19BE-44E5-A78C-CAA4FD75E1EA}">
      <dsp:nvSpPr>
        <dsp:cNvPr id="0" name=""/>
        <dsp:cNvSpPr/>
      </dsp:nvSpPr>
      <dsp:spPr>
        <a:xfrm rot="10800000">
          <a:off x="2045364" y="2326414"/>
          <a:ext cx="393002" cy="4597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3571816"/>
            <a:satOff val="21519"/>
            <a:lumOff val="1725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800" kern="1200"/>
        </a:p>
      </dsp:txBody>
      <dsp:txXfrm rot="10800000">
        <a:off x="2163265" y="2418362"/>
        <a:ext cx="275101" cy="275842"/>
      </dsp:txXfrm>
    </dsp:sp>
    <dsp:sp modelId="{50A3C183-F3BE-4360-8C02-B5027F2E1916}">
      <dsp:nvSpPr>
        <dsp:cNvPr id="0" name=""/>
        <dsp:cNvSpPr/>
      </dsp:nvSpPr>
      <dsp:spPr>
        <a:xfrm>
          <a:off x="6202" y="2000148"/>
          <a:ext cx="1853784" cy="1112270"/>
        </a:xfrm>
        <a:prstGeom prst="roundRect">
          <a:avLst>
            <a:gd name="adj" fmla="val 10000"/>
          </a:avLst>
        </a:prstGeom>
        <a:solidFill>
          <a:schemeClr val="accent4">
            <a:hueOff val="-3720641"/>
            <a:satOff val="22416"/>
            <a:lumOff val="1797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uz-Cyrl-UZ" sz="1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6. </a:t>
          </a:r>
          <a:r>
            <a:rPr lang="ru-RU" sz="1000" b="1" kern="1200" dirty="0" smtClean="0"/>
            <a:t>Научные взгляды сторонников «трансформационного направления»</a:t>
          </a:r>
          <a:endParaRPr lang="ru-RU" sz="1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779" y="2032725"/>
        <a:ext cx="1788630" cy="1047116"/>
      </dsp:txXfrm>
    </dsp:sp>
    <dsp:sp modelId="{92D45E59-6B30-4C71-9A3A-0F62F1F339F2}">
      <dsp:nvSpPr>
        <dsp:cNvPr id="0" name=""/>
        <dsp:cNvSpPr/>
      </dsp:nvSpPr>
      <dsp:spPr>
        <a:xfrm rot="5400000">
          <a:off x="736593" y="3242184"/>
          <a:ext cx="393002" cy="4597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  <a:sp3d z="-52400" extrusionH="1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ru-RU" sz="800" kern="1200"/>
        </a:p>
      </dsp:txBody>
      <dsp:txXfrm rot="-5400000">
        <a:off x="795174" y="3275552"/>
        <a:ext cx="275842" cy="275101"/>
      </dsp:txXfrm>
    </dsp:sp>
    <dsp:sp modelId="{34892C5C-9A70-4E5E-B569-F524D23FE16A}">
      <dsp:nvSpPr>
        <dsp:cNvPr id="0" name=""/>
        <dsp:cNvSpPr/>
      </dsp:nvSpPr>
      <dsp:spPr>
        <a:xfrm>
          <a:off x="6202" y="3853932"/>
          <a:ext cx="1853784" cy="1112270"/>
        </a:xfrm>
        <a:prstGeom prst="roundRect">
          <a:avLst>
            <a:gd name="adj" fmla="val 10000"/>
          </a:avLst>
        </a:prstGeom>
        <a:solidFill>
          <a:schemeClr val="accent4">
            <a:hueOff val="-4464770"/>
            <a:satOff val="26899"/>
            <a:lumOff val="2156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7. Теоретические трансформации глобализации мировой экономики в начале XXI века и их особенности </a:t>
          </a:r>
          <a:endParaRPr lang="ru-RU" sz="1000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8779" y="3886509"/>
        <a:ext cx="1788630" cy="10471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E77CEB-09BA-4963-83E4-14C084093622}">
      <dsp:nvSpPr>
        <dsp:cNvPr id="0" name=""/>
        <dsp:cNvSpPr/>
      </dsp:nvSpPr>
      <dsp:spPr>
        <a:xfrm rot="16200000">
          <a:off x="591643" y="-591643"/>
          <a:ext cx="2220848" cy="3404135"/>
        </a:xfrm>
        <a:prstGeom prst="round1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Ослабились возможности эффективно справляться с предъявляемыми к государству требованиями</a:t>
          </a:r>
        </a:p>
      </dsp:txBody>
      <dsp:txXfrm rot="5400000">
        <a:off x="0" y="0"/>
        <a:ext cx="3404135" cy="1665636"/>
      </dsp:txXfrm>
    </dsp:sp>
    <dsp:sp modelId="{5BB3138F-5F87-4BD9-8407-09F742B4A1D4}">
      <dsp:nvSpPr>
        <dsp:cNvPr id="0" name=""/>
        <dsp:cNvSpPr/>
      </dsp:nvSpPr>
      <dsp:spPr>
        <a:xfrm>
          <a:off x="3404135" y="0"/>
          <a:ext cx="3404135" cy="2220848"/>
        </a:xfrm>
        <a:prstGeom prst="round1Rect">
          <a:avLst/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50000"/>
                <a:satMod val="300000"/>
              </a:schemeClr>
            </a:gs>
            <a:gs pos="35000">
              <a:schemeClr val="accent5">
                <a:hueOff val="-3311292"/>
                <a:satOff val="13270"/>
                <a:lumOff val="2876"/>
                <a:alphaOff val="0"/>
                <a:tint val="37000"/>
                <a:satMod val="30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Расширились функции и сферы ответственности национального государства</a:t>
          </a:r>
        </a:p>
      </dsp:txBody>
      <dsp:txXfrm>
        <a:off x="3404135" y="0"/>
        <a:ext cx="3404135" cy="1665636"/>
      </dsp:txXfrm>
    </dsp:sp>
    <dsp:sp modelId="{D318A57E-FEBB-448E-A417-871659760050}">
      <dsp:nvSpPr>
        <dsp:cNvPr id="0" name=""/>
        <dsp:cNvSpPr/>
      </dsp:nvSpPr>
      <dsp:spPr>
        <a:xfrm rot="10800000">
          <a:off x="0" y="2220848"/>
          <a:ext cx="3404135" cy="2220848"/>
        </a:xfrm>
        <a:prstGeom prst="round1Rect">
          <a:avLst/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50000"/>
                <a:satMod val="300000"/>
              </a:schemeClr>
            </a:gs>
            <a:gs pos="35000">
              <a:schemeClr val="accent5">
                <a:hueOff val="-6622584"/>
                <a:satOff val="26541"/>
                <a:lumOff val="5752"/>
                <a:alphaOff val="0"/>
                <a:tint val="37000"/>
                <a:satMod val="30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Товары, капиталы, люди, знания, так же как и преступность  легко пересекают государственные границы</a:t>
          </a:r>
        </a:p>
      </dsp:txBody>
      <dsp:txXfrm rot="10800000">
        <a:off x="0" y="2776060"/>
        <a:ext cx="3404135" cy="1665636"/>
      </dsp:txXfrm>
    </dsp:sp>
    <dsp:sp modelId="{76C1C429-3ABF-48A0-B870-6B6A960E43E9}">
      <dsp:nvSpPr>
        <dsp:cNvPr id="0" name=""/>
        <dsp:cNvSpPr/>
      </dsp:nvSpPr>
      <dsp:spPr>
        <a:xfrm rot="5400000">
          <a:off x="3995778" y="1629204"/>
          <a:ext cx="2220848" cy="3404135"/>
        </a:xfrm>
        <a:prstGeom prst="round1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42240" tIns="142240" rIns="142240" bIns="14224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0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ТНК, социальные движения и отношения стали проникать почти во все сферы человеческой деятельности</a:t>
          </a:r>
        </a:p>
      </dsp:txBody>
      <dsp:txXfrm rot="-5400000">
        <a:off x="3404135" y="2776059"/>
        <a:ext cx="3404135" cy="1665636"/>
      </dsp:txXfrm>
    </dsp:sp>
    <dsp:sp modelId="{B02BA48B-9081-46BC-AABD-01CC5014BD19}">
      <dsp:nvSpPr>
        <dsp:cNvPr id="0" name=""/>
        <dsp:cNvSpPr/>
      </dsp:nvSpPr>
      <dsp:spPr>
        <a:xfrm>
          <a:off x="2108752" y="1665636"/>
          <a:ext cx="2590764" cy="1110424"/>
        </a:xfrm>
        <a:prstGeom prst="roundRect">
          <a:avLst/>
        </a:prstGeom>
        <a:solidFill>
          <a:schemeClr val="accent1"/>
        </a:solidFill>
        <a:ln w="25400" cap="flat" cmpd="sng" algn="ctr">
          <a:solidFill>
            <a:schemeClr val="accent1">
              <a:shade val="50000"/>
            </a:schemeClr>
          </a:solidFill>
          <a:prstDash val="solid"/>
        </a:ln>
        <a:effectLst/>
        <a:scene3d>
          <a:camera prst="orthographicFront"/>
          <a:lightRig rig="flat" dir="t"/>
        </a:scene3d>
        <a:sp3d/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2400" b="1" kern="1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rPr>
            <a:t>Глобализация</a:t>
          </a:r>
        </a:p>
      </dsp:txBody>
      <dsp:txXfrm>
        <a:off x="2162958" y="1719842"/>
        <a:ext cx="2482352" cy="10020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A4C3BA6-0791-4E05-BB2F-B79EDD84A0D4}">
      <dsp:nvSpPr>
        <dsp:cNvPr id="0" name=""/>
        <dsp:cNvSpPr/>
      </dsp:nvSpPr>
      <dsp:spPr>
        <a:xfrm>
          <a:off x="-5574657" y="-847605"/>
          <a:ext cx="6591755" cy="6591755"/>
        </a:xfrm>
        <a:prstGeom prst="blockArc">
          <a:avLst>
            <a:gd name="adj1" fmla="val 18900000"/>
            <a:gd name="adj2" fmla="val 2700000"/>
            <a:gd name="adj3" fmla="val 328"/>
          </a:avLst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4F3FAA9-35AE-4C3D-8D3E-80970E9B4C02}">
      <dsp:nvSpPr>
        <dsp:cNvPr id="0" name=""/>
        <dsp:cNvSpPr/>
      </dsp:nvSpPr>
      <dsp:spPr>
        <a:xfrm>
          <a:off x="437354" y="216467"/>
          <a:ext cx="6949530" cy="107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7919" tIns="25400" rIns="25400" bIns="2540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/>
            <a:t>Глобализация как глобальное благо. Начало XXI века характеризуется появлением концепции глобализации как средства решения общих проблем (образование, здравоохранение, экология). Глобализация рассматривается как источник возможностей для развития каждого государства и сообщества. Многие авторы называют глобализацию «глобальным общественным благом», способствующим совместному прогрессу человечества.</a:t>
          </a:r>
          <a:endParaRPr lang="ru-RU" sz="1000" kern="1200" dirty="0"/>
        </a:p>
      </dsp:txBody>
      <dsp:txXfrm>
        <a:off x="437354" y="216467"/>
        <a:ext cx="6949530" cy="1073241"/>
      </dsp:txXfrm>
    </dsp:sp>
    <dsp:sp modelId="{AAFCD235-6E7D-4B25-88FB-3274633D9358}">
      <dsp:nvSpPr>
        <dsp:cNvPr id="0" name=""/>
        <dsp:cNvSpPr/>
      </dsp:nvSpPr>
      <dsp:spPr>
        <a:xfrm>
          <a:off x="43346" y="282285"/>
          <a:ext cx="941605" cy="9416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0B238B-3F27-440D-8ABF-6AF829403A2B}">
      <dsp:nvSpPr>
        <dsp:cNvPr id="0" name=""/>
        <dsp:cNvSpPr/>
      </dsp:nvSpPr>
      <dsp:spPr>
        <a:xfrm>
          <a:off x="874110" y="1346589"/>
          <a:ext cx="6507894" cy="107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7919" tIns="25400" rIns="25400" bIns="2540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/>
            <a:t>Социально ориентированный подход. В новых исследованиях приоритет смещается на социальную сторону: глобализация должна служить улучшению жизни людей, а не только росту ВВП. Мировой финансово-экономический кризис 2008 г. усилил представление о необходимости усиленного международного сотрудничества и «справедливых» правил игры. Как пишет </a:t>
          </a:r>
          <a:r>
            <a:rPr lang="ru-RU" sz="1000" kern="1200" dirty="0" err="1" smtClean="0"/>
            <a:t>Л.Добрынина</a:t>
          </a:r>
          <a:r>
            <a:rPr lang="ru-RU" sz="1000" kern="1200" dirty="0" smtClean="0"/>
            <a:t>, кризис «подчеркнул конструктивную роль» идеи «единства мирового сообщества».</a:t>
          </a:r>
          <a:endParaRPr lang="ru-RU" sz="1000" kern="1200" dirty="0"/>
        </a:p>
      </dsp:txBody>
      <dsp:txXfrm>
        <a:off x="874110" y="1346589"/>
        <a:ext cx="6507894" cy="1073241"/>
      </dsp:txXfrm>
    </dsp:sp>
    <dsp:sp modelId="{93235C44-7208-4DB1-BD02-ADEFDEBFE1C3}">
      <dsp:nvSpPr>
        <dsp:cNvPr id="0" name=""/>
        <dsp:cNvSpPr/>
      </dsp:nvSpPr>
      <dsp:spPr>
        <a:xfrm>
          <a:off x="475221" y="1412408"/>
          <a:ext cx="941605" cy="9416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89910-F183-4807-88D6-BAA9C90F9758}">
      <dsp:nvSpPr>
        <dsp:cNvPr id="0" name=""/>
        <dsp:cNvSpPr/>
      </dsp:nvSpPr>
      <dsp:spPr>
        <a:xfrm>
          <a:off x="874110" y="2476712"/>
          <a:ext cx="6507894" cy="107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7919" tIns="25400" rIns="25400" bIns="2540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/>
            <a:t>Уход от дихотомий «Запад – Восток» и «Север – Юг». До 2022 года глобализацию рассматривали не через призму геополитического противостояния блоков, как было в 1990-е, а как феномен, охватывающий все цивилизации. Идентичности и ценности локальных сообществ считаются важным противовесом к унифицирующей тенденции. То есть глобализация XXI века всё меньше представляется как «западный диктат» – вместо этого акцент на диалоге культур и множественности путей развития. Однако после 2022 года эта тенденция изменилась в противоположную сторону.</a:t>
          </a:r>
          <a:endParaRPr lang="ru-RU" sz="1000" kern="1200" dirty="0"/>
        </a:p>
      </dsp:txBody>
      <dsp:txXfrm>
        <a:off x="874110" y="2476712"/>
        <a:ext cx="6507894" cy="1073241"/>
      </dsp:txXfrm>
    </dsp:sp>
    <dsp:sp modelId="{18E68976-F5C8-473A-B55F-54D124F3BB7C}">
      <dsp:nvSpPr>
        <dsp:cNvPr id="0" name=""/>
        <dsp:cNvSpPr/>
      </dsp:nvSpPr>
      <dsp:spPr>
        <a:xfrm>
          <a:off x="475221" y="2542530"/>
          <a:ext cx="941605" cy="9416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D001DA-61E2-44BF-AA12-8D6AA63D1D01}">
      <dsp:nvSpPr>
        <dsp:cNvPr id="0" name=""/>
        <dsp:cNvSpPr/>
      </dsp:nvSpPr>
      <dsp:spPr>
        <a:xfrm>
          <a:off x="437354" y="3606834"/>
          <a:ext cx="6949530" cy="107324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97919" tIns="25400" rIns="25400" bIns="25400" numCol="1" spcCol="1270" anchor="ctr" anchorCtr="0">
          <a:noAutofit/>
        </a:bodyPr>
        <a:lstStyle/>
        <a:p>
          <a:pPr lvl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ru-RU" sz="1000" kern="1200" dirty="0" smtClean="0"/>
            <a:t>Усиление роли международного регулирования. Теоретики XXI века выдвигают идею о необходимости создания новых глобальных правил и институтов, способных смягчать негативные последствия интеграции. В дискуссиях всё чаще звучит мысль о регулировании мировых финансовых потоков, международной солидарности в бедствии и глобальном управлении рисками (экономическими, экологическими и др.). </a:t>
          </a:r>
          <a:endParaRPr lang="ru-RU" sz="1000" kern="1200" dirty="0"/>
        </a:p>
      </dsp:txBody>
      <dsp:txXfrm>
        <a:off x="437354" y="3606834"/>
        <a:ext cx="6949530" cy="1073241"/>
      </dsp:txXfrm>
    </dsp:sp>
    <dsp:sp modelId="{F1BB80B6-D838-4AB6-8A68-98D0C319F5B4}">
      <dsp:nvSpPr>
        <dsp:cNvPr id="0" name=""/>
        <dsp:cNvSpPr/>
      </dsp:nvSpPr>
      <dsp:spPr>
        <a:xfrm>
          <a:off x="43346" y="3672652"/>
          <a:ext cx="941605" cy="941605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chilly" dir="t"/>
        </a:scene3d>
        <a:sp3d z="12700" extrusionH="1700" prstMaterial="dkEdge">
          <a:bevelT w="25400" h="6350" prst="softRound"/>
          <a:bevelB w="0" h="0" prst="convex"/>
        </a:sp3d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9B1E0C17-2219-4B22-A255-CB600FD186FC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507FBBD5-F344-4179-909D-D3036B11B58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2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b="1"/>
              <a:t>Заказ </a:t>
            </a:r>
            <a:r>
              <a:rPr lang="en-US" b="1"/>
              <a:t>#00</a:t>
            </a:r>
            <a:r>
              <a:rPr lang="ru-RU" b="1"/>
              <a:t>30</a:t>
            </a:r>
            <a:r>
              <a:rPr lang="en-US" b="1"/>
              <a:t>. </a:t>
            </a:r>
            <a:r>
              <a:rPr lang="ru-RU"/>
              <a:t>Процессы глобализации в современном мире.</a:t>
            </a:r>
          </a:p>
        </p:txBody>
      </p:sp>
      <p:sp>
        <p:nvSpPr>
          <p:cNvPr id="15363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6CC1579-9181-44E8-BB1F-F6D6A7ACBFC7}" type="slidenum">
              <a:rPr lang="ru-RU"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ru-RU">
              <a:cs typeface="Arial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ru-RU" b="1"/>
              <a:t>Заказ </a:t>
            </a:r>
            <a:r>
              <a:rPr lang="en-US" b="1"/>
              <a:t>#00</a:t>
            </a:r>
            <a:r>
              <a:rPr lang="ru-RU" b="1"/>
              <a:t>30</a:t>
            </a:r>
            <a:r>
              <a:rPr lang="en-US" b="1"/>
              <a:t>. </a:t>
            </a:r>
            <a:r>
              <a:rPr lang="ru-RU"/>
              <a:t>Процессы глобализации в современном мире.</a:t>
            </a:r>
          </a:p>
          <a:p>
            <a:pPr>
              <a:spcBef>
                <a:spcPct val="0"/>
              </a:spcBef>
            </a:pPr>
            <a:endParaRPr lang="ru-RU"/>
          </a:p>
        </p:txBody>
      </p:sp>
      <p:sp>
        <p:nvSpPr>
          <p:cNvPr id="32771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0EBBB095-4B96-43A0-9297-942F21286027}" type="slidenum">
              <a:rPr lang="ru-RU">
                <a:cs typeface="Arial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32</a:t>
            </a:fld>
            <a:endParaRPr lang="ru-RU">
              <a:cs typeface="Arial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mp"/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bmp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F18155-6112-401D-AD06-9597D2A8D6A5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41F196-84C7-4A84-A203-C7B043EC635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FFD2BA-AC8B-481D-8961-296C31A4B78D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63C0F9-B778-46B3-B35F-E00FDA5C4B5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D4FA8E-4567-4466-A189-780C8E4188B0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61A022-3EFE-4E2F-88BC-42B68E4FC84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C914ED-69DA-49A6-967A-C1B052C3AB5D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FF0B0-A609-4792-BE4A-A6E680A2EB5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D35CB-F03F-404A-9318-ABF1DD325432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8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F3A898-25DF-4374-852B-12EC26839D2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857BCD-7F9E-4503-BD77-1EBDC62A6859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919CC4-9413-4D4A-B29E-A6D9BD0C9EB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94F196-5C5F-48A0-9748-D8B1C66F5BCD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3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C0D07B-6B7B-4A60-B552-07EEE91669DA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E69D04-6F22-466B-9EC7-525E184AC775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1BBE70-6399-450C-B8B2-9908443FB7DF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3C1DA-627F-4D21-8F57-4CE173940EFA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9B77E7-949A-4C1D-B3ED-55282AA3302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61CA1C-6BA3-4D9C-B559-6D228CB9BD62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53895-43C8-4C90-8D49-23BA90C7BE91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70D2BB-CE02-40B3-8454-23C0A85550FC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D84909-DC9B-48D9-BC82-8FC55260F280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5" name="Freeform 3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grpSp>
          <p:nvGrpSpPr>
            <p:cNvPr id="3" name="Group 4"/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57" name="Oval 5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8" name="Oval 6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9" name="Oval 7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0" name="Oval 8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1" name="Oval 9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2" name="Freeform 10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3" name="Freeform 11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4" name="Freeform 12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5" name="Freeform 13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6" name="Freeform 14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67" name="Oval 15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4" name="Group 16"/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39" name="Oval 17"/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0" name="Oval 18"/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1" name="Oval 19"/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2" name="Oval 20"/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3" name="Oval 21"/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4" name="Oval 22"/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5" name="Oval 23"/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6" name="Oval 24"/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7" name="Freeform 25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8" name="Freeform 26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49" name="Freeform 27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0" name="Freeform 28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1" name="Freeform 29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2" name="Freeform 30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3" name="Freeform 31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4" name="Freeform 32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5" name="Freeform 33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56" name="Freeform 34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6" name="Group 35"/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22" name="Freeform 36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3" name="Freeform 37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4" name="Freeform 38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5" name="Freeform 39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6" name="Freeform 40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7" name="Freeform 41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8" name="Freeform 42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9" name="Freeform 43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0" name="Freeform 44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1" name="Freeform 45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2" name="Freeform 46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3" name="Oval 47"/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4" name="Oval 48"/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5" name="Oval 49"/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6" name="Oval 50"/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7" name="Oval 51"/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38" name="Oval 52"/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7" name="Group 53"/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10" name="Freeform 54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1" name="Freeform 55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2" name="Freeform 56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3" name="Freeform 57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4" name="Freeform 58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5" name="Freeform 59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16" name="Freeform 60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grpSp>
            <p:nvGrpSpPr>
              <p:cNvPr id="8" name="Group 61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18" name="Oval 62"/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19" name="Oval 63"/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0" name="Oval 64"/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1" name="Oval 65"/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</p:grpSp>
      <p:sp>
        <p:nvSpPr>
          <p:cNvPr id="22594" name="Rectangle 66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692275"/>
            <a:ext cx="7772400" cy="1736725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22595" name="Rectangle 6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68" name="Rectangle 68"/>
          <p:cNvSpPr>
            <a:spLocks noGrp="1" noChangeArrowheads="1"/>
          </p:cNvSpPr>
          <p:nvPr>
            <p:ph type="dt" sz="quarter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9" name="Rectangle 69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0" name="Rectangle 7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08FC44-CC5F-488A-87A5-9BE52BA3499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1826AC-326B-4134-ADBE-91A92B10D616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273A7E1-7AF9-452B-A65B-6B51AA8C81E7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677425-5EF3-47C1-93C8-B6F754545F4E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8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9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A7B9FA-2038-473A-8329-09126315A1F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86251-F3B5-49AB-A05F-32818D64613B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3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4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CDAF160-89AE-4562-86BE-3C06971A7F2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84E0A3-5F51-4649-810D-ED79C4B102D8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4EC139-76A0-41DE-AC7A-A8F1B74E66FD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1F24F-E977-4DD6-822C-B6195DC37F09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4835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483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69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Rectangle 70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Rectangle 71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35614D-1230-4F9C-9AD7-0B7F761E921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Ovr>
    <a:masterClrMapping/>
  </p:clrMapOvr>
  <p:transition>
    <p:strips dir="r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F308FC44-CC5F-488A-87A5-9BE52BA3499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51434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1826AC-326B-4134-ADBE-91A92B10D61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7828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pPr>
              <a:defRPr/>
            </a:pPr>
            <a:fld id="{A273A7E1-7AF9-452B-A65B-6B51AA8C81E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69684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677425-5EF3-47C1-93C8-B6F754545F4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595964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A7B9FA-2038-473A-8329-09126315A1F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2472373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E86251-F3B5-49AB-A05F-32818D64613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61583716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DAF160-89AE-4562-86BE-3C06971A7F2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9464923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D84E0A3-5F51-4649-810D-ED79C4B102D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62905789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F74EC139-76A0-41DE-AC7A-A8F1B74E66F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05278637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B1F24F-E977-4DD6-822C-B6195DC37F0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680741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35614D-1230-4F9C-9AD7-0B7F761E921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730146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74764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635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74765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kumimoji="0" lang="en-US" sz="6200" b="0" i="0" u="none" strike="noStrike" kern="1200" cap="all" spc="-100" normalizeH="0" baseline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34222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308FC44-CC5F-488A-87A5-9BE52BA3499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7761168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71826AC-326B-4134-ADBE-91A92B10D616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455030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0000"/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31750" ty="-120650" sx="100000" sy="100000" flip="xy" algn="tl"/>
          </a:blipFill>
          <a:ln w="19050" cmpd="sng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outerShdw blurRad="63500" algn="ctr" rotWithShape="0">
              <a:prstClr val="black">
                <a:alpha val="40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74764"/>
            <a:ext cx="1554480" cy="64008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635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74765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kumimoji="0" lang="en-US" sz="6200" b="0" i="0" u="none" strike="noStrike" kern="1200" cap="all" spc="-100" normalizeH="0" baseline="0" dirty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1270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2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32914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A273A7E1-7AF9-452B-A65B-6B51AA8C81E7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5203404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6677425-5EF3-47C1-93C8-B6F754545F4E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066539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7A7B9FA-2038-473A-8329-09126315A1F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1300242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5E86251-F3B5-49AB-A05F-32818D64613B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764049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DAF160-89AE-4562-86BE-3C06971A7F2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1860633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307336" y="292608"/>
            <a:ext cx="6163056" cy="6272784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noFill/>
          <a:ln w="635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2505454" y="6265818"/>
            <a:ext cx="3950208" cy="274320"/>
          </a:xfrm>
        </p:spPr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1D84E0A3-5F51-4649-810D-ED79C4B102D8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  <p:sp>
        <p:nvSpPr>
          <p:cNvPr id="12" name="Rectangle 11"/>
          <p:cNvSpPr/>
          <p:nvPr/>
        </p:nvSpPr>
        <p:spPr>
          <a:xfrm>
            <a:off x="6884162" y="292608"/>
            <a:ext cx="1956816" cy="6272784"/>
          </a:xfrm>
          <a:prstGeom prst="rect">
            <a:avLst/>
          </a:prstGeom>
          <a:noFill/>
          <a:ln w="6350" cap="sq">
            <a:solidFill>
              <a:schemeClr val="tx1">
                <a:lumMod val="65000"/>
                <a:lumOff val="3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125344871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tx1"/>
          </a:solidFill>
          <a:ln w="6350">
            <a:solidFill>
              <a:schemeClr val="tx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6884162" y="292608"/>
            <a:ext cx="1956816" cy="6272784"/>
          </a:xfrm>
          <a:prstGeom prst="rect">
            <a:avLst/>
          </a:prstGeom>
          <a:solidFill>
            <a:schemeClr val="bg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bg1">
              <a:lumMod val="50000"/>
              <a:lumOff val="5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F74EC139-76A0-41DE-AC7A-A8F1B74E66FD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620051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EB1F24F-E977-4DD6-822C-B6195DC37F09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19205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35614D-1230-4F9C-9AD7-0B7F761E921C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373383"/>
      </p:ext>
    </p:extLst>
  </p:cSld>
  <p:clrMapOvr>
    <a:masterClrMapping/>
  </p:clrMapOvr>
  <p:transition>
    <p:strips dir="rd"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Заголовок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27" name="Текст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DA49466-88F6-438C-8AB3-8922C6B95CB9}" type="datetimeFigureOut">
              <a:rPr lang="ru-RU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6BBEC7E4-2A97-4B78-BA45-D28AFF3BFC83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reeform 2"/>
          <p:cNvSpPr>
            <a:spLocks/>
          </p:cNvSpPr>
          <p:nvPr/>
        </p:nvSpPr>
        <p:spPr bwMode="hidden">
          <a:xfrm>
            <a:off x="6627813" y="6429375"/>
            <a:ext cx="285750" cy="209550"/>
          </a:xfrm>
          <a:custGeom>
            <a:avLst/>
            <a:gdLst/>
            <a:ahLst/>
            <a:cxnLst>
              <a:cxn ang="0">
                <a:pos x="0" y="132"/>
              </a:cxn>
              <a:cxn ang="0">
                <a:pos x="29" y="132"/>
              </a:cxn>
              <a:cxn ang="0">
                <a:pos x="77" y="108"/>
              </a:cxn>
              <a:cxn ang="0">
                <a:pos x="119" y="78"/>
              </a:cxn>
              <a:cxn ang="0">
                <a:pos x="155" y="48"/>
              </a:cxn>
              <a:cxn ang="0">
                <a:pos x="179" y="12"/>
              </a:cxn>
              <a:cxn ang="0">
                <a:pos x="173" y="6"/>
              </a:cxn>
              <a:cxn ang="0">
                <a:pos x="167" y="0"/>
              </a:cxn>
              <a:cxn ang="0">
                <a:pos x="137" y="42"/>
              </a:cxn>
              <a:cxn ang="0">
                <a:pos x="101" y="78"/>
              </a:cxn>
              <a:cxn ang="0">
                <a:pos x="53" y="108"/>
              </a:cxn>
              <a:cxn ang="0">
                <a:pos x="0" y="132"/>
              </a:cxn>
              <a:cxn ang="0">
                <a:pos x="0" y="132"/>
              </a:cxn>
            </a:cxnLst>
            <a:rect l="0" t="0" r="r" b="b"/>
            <a:pathLst>
              <a:path w="179" h="132">
                <a:moveTo>
                  <a:pt x="0" y="132"/>
                </a:moveTo>
                <a:lnTo>
                  <a:pt x="29" y="132"/>
                </a:lnTo>
                <a:lnTo>
                  <a:pt x="77" y="108"/>
                </a:lnTo>
                <a:lnTo>
                  <a:pt x="119" y="78"/>
                </a:lnTo>
                <a:lnTo>
                  <a:pt x="155" y="48"/>
                </a:lnTo>
                <a:lnTo>
                  <a:pt x="179" y="12"/>
                </a:lnTo>
                <a:lnTo>
                  <a:pt x="173" y="6"/>
                </a:lnTo>
                <a:lnTo>
                  <a:pt x="167" y="0"/>
                </a:lnTo>
                <a:lnTo>
                  <a:pt x="137" y="42"/>
                </a:lnTo>
                <a:lnTo>
                  <a:pt x="101" y="78"/>
                </a:lnTo>
                <a:lnTo>
                  <a:pt x="53" y="108"/>
                </a:lnTo>
                <a:lnTo>
                  <a:pt x="0" y="132"/>
                </a:lnTo>
                <a:lnTo>
                  <a:pt x="0" y="132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87843"/>
                  <a:invGamma/>
                </a:schemeClr>
              </a:gs>
            </a:gsLst>
            <a:lin ang="18900000" scaled="1"/>
          </a:gradFill>
          <a:ln w="9525">
            <a:noFill/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ru-RU"/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175" y="4267200"/>
            <a:ext cx="9140825" cy="2590800"/>
            <a:chOff x="2" y="2688"/>
            <a:chExt cx="5758" cy="1632"/>
          </a:xfrm>
        </p:grpSpPr>
        <p:sp>
          <p:nvSpPr>
            <p:cNvPr id="21508" name="Freeform 4"/>
            <p:cNvSpPr>
              <a:spLocks/>
            </p:cNvSpPr>
            <p:nvPr/>
          </p:nvSpPr>
          <p:spPr bwMode="hidden">
            <a:xfrm>
              <a:off x="2" y="2688"/>
              <a:ext cx="5758" cy="1632"/>
            </a:xfrm>
            <a:custGeom>
              <a:avLst/>
              <a:gdLst/>
              <a:ahLst/>
              <a:cxnLst>
                <a:cxn ang="0">
                  <a:pos x="5740" y="4316"/>
                </a:cxn>
                <a:cxn ang="0">
                  <a:pos x="0" y="4316"/>
                </a:cxn>
                <a:cxn ang="0">
                  <a:pos x="0" y="0"/>
                </a:cxn>
                <a:cxn ang="0">
                  <a:pos x="5740" y="0"/>
                </a:cxn>
                <a:cxn ang="0">
                  <a:pos x="5740" y="4316"/>
                </a:cxn>
                <a:cxn ang="0">
                  <a:pos x="5740" y="4316"/>
                </a:cxn>
              </a:cxnLst>
              <a:rect l="0" t="0" r="r" b="b"/>
              <a:pathLst>
                <a:path w="5740" h="4316">
                  <a:moveTo>
                    <a:pt x="5740" y="4316"/>
                  </a:moveTo>
                  <a:lnTo>
                    <a:pt x="0" y="4316"/>
                  </a:lnTo>
                  <a:lnTo>
                    <a:pt x="0" y="0"/>
                  </a:lnTo>
                  <a:lnTo>
                    <a:pt x="5740" y="0"/>
                  </a:lnTo>
                  <a:lnTo>
                    <a:pt x="5740" y="4316"/>
                  </a:lnTo>
                  <a:lnTo>
                    <a:pt x="5740" y="4316"/>
                  </a:lnTo>
                  <a:close/>
                </a:path>
              </a:pathLst>
            </a:custGeom>
            <a:gradFill rotWithShape="0">
              <a:gsLst>
                <a:gs pos="0">
                  <a:schemeClr val="bg1"/>
                </a:gs>
                <a:gs pos="100000">
                  <a:schemeClr val="accent2"/>
                </a:gs>
              </a:gsLst>
              <a:lin ang="5400000" scaled="1"/>
            </a:gra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ru-RU"/>
            </a:p>
          </p:txBody>
        </p:sp>
        <p:grpSp>
          <p:nvGrpSpPr>
            <p:cNvPr id="3" name="Group 5"/>
            <p:cNvGrpSpPr>
              <a:grpSpLocks/>
            </p:cNvGrpSpPr>
            <p:nvPr userDrawn="1"/>
          </p:nvGrpSpPr>
          <p:grpSpPr bwMode="auto">
            <a:xfrm>
              <a:off x="3528" y="3715"/>
              <a:ext cx="792" cy="521"/>
              <a:chOff x="3527" y="3715"/>
              <a:chExt cx="792" cy="521"/>
            </a:xfrm>
          </p:grpSpPr>
          <p:sp>
            <p:nvSpPr>
              <p:cNvPr id="21510" name="Oval 6"/>
              <p:cNvSpPr>
                <a:spLocks noChangeArrowheads="1"/>
              </p:cNvSpPr>
              <p:nvPr/>
            </p:nvSpPr>
            <p:spPr bwMode="hidden">
              <a:xfrm>
                <a:off x="3686" y="3810"/>
                <a:ext cx="532" cy="32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shape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11" name="Oval 7"/>
              <p:cNvSpPr>
                <a:spLocks noChangeArrowheads="1"/>
              </p:cNvSpPr>
              <p:nvPr/>
            </p:nvSpPr>
            <p:spPr bwMode="hidden">
              <a:xfrm>
                <a:off x="3726" y="3840"/>
                <a:ext cx="452" cy="275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12" name="Oval 8"/>
              <p:cNvSpPr>
                <a:spLocks noChangeArrowheads="1"/>
              </p:cNvSpPr>
              <p:nvPr/>
            </p:nvSpPr>
            <p:spPr bwMode="hidden">
              <a:xfrm>
                <a:off x="3782" y="3872"/>
                <a:ext cx="344" cy="2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13" name="Oval 9"/>
              <p:cNvSpPr>
                <a:spLocks noChangeArrowheads="1"/>
              </p:cNvSpPr>
              <p:nvPr/>
            </p:nvSpPr>
            <p:spPr bwMode="hidden">
              <a:xfrm>
                <a:off x="3822" y="3896"/>
                <a:ext cx="262" cy="15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14" name="Oval 10"/>
              <p:cNvSpPr>
                <a:spLocks noChangeArrowheads="1"/>
              </p:cNvSpPr>
              <p:nvPr/>
            </p:nvSpPr>
            <p:spPr bwMode="hidden">
              <a:xfrm>
                <a:off x="3856" y="3922"/>
                <a:ext cx="192" cy="107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15" name="Freeform 11"/>
              <p:cNvSpPr>
                <a:spLocks/>
              </p:cNvSpPr>
              <p:nvPr/>
            </p:nvSpPr>
            <p:spPr bwMode="hidden">
              <a:xfrm>
                <a:off x="3575" y="3715"/>
                <a:ext cx="383" cy="161"/>
              </a:xfrm>
              <a:custGeom>
                <a:avLst/>
                <a:gdLst/>
                <a:ahLst/>
                <a:cxnLst>
                  <a:cxn ang="0">
                    <a:pos x="376" y="12"/>
                  </a:cxn>
                  <a:cxn ang="0">
                    <a:pos x="257" y="24"/>
                  </a:cxn>
                  <a:cxn ang="0">
                    <a:pos x="149" y="54"/>
                  </a:cxn>
                  <a:cxn ang="0">
                    <a:pos x="101" y="77"/>
                  </a:cxn>
                  <a:cxn ang="0">
                    <a:pos x="59" y="101"/>
                  </a:cxn>
                  <a:cxn ang="0">
                    <a:pos x="24" y="131"/>
                  </a:cxn>
                  <a:cxn ang="0">
                    <a:pos x="0" y="161"/>
                  </a:cxn>
                  <a:cxn ang="0">
                    <a:pos x="0" y="137"/>
                  </a:cxn>
                  <a:cxn ang="0">
                    <a:pos x="29" y="107"/>
                  </a:cxn>
                  <a:cxn ang="0">
                    <a:pos x="65" y="83"/>
                  </a:cxn>
                  <a:cxn ang="0">
                    <a:pos x="155" y="36"/>
                  </a:cxn>
                  <a:cxn ang="0">
                    <a:pos x="257" y="12"/>
                  </a:cxn>
                  <a:cxn ang="0">
                    <a:pos x="376" y="0"/>
                  </a:cxn>
                  <a:cxn ang="0">
                    <a:pos x="376" y="0"/>
                  </a:cxn>
                  <a:cxn ang="0">
                    <a:pos x="382" y="0"/>
                  </a:cxn>
                  <a:cxn ang="0">
                    <a:pos x="382" y="12"/>
                  </a:cxn>
                  <a:cxn ang="0">
                    <a:pos x="376" y="12"/>
                  </a:cxn>
                  <a:cxn ang="0">
                    <a:pos x="376" y="12"/>
                  </a:cxn>
                  <a:cxn ang="0">
                    <a:pos x="376" y="12"/>
                  </a:cxn>
                </a:cxnLst>
                <a:rect l="0" t="0" r="r" b="b"/>
                <a:pathLst>
                  <a:path w="382" h="161">
                    <a:moveTo>
                      <a:pt x="376" y="12"/>
                    </a:moveTo>
                    <a:lnTo>
                      <a:pt x="257" y="24"/>
                    </a:lnTo>
                    <a:lnTo>
                      <a:pt x="149" y="54"/>
                    </a:lnTo>
                    <a:lnTo>
                      <a:pt x="101" y="77"/>
                    </a:lnTo>
                    <a:lnTo>
                      <a:pt x="59" y="101"/>
                    </a:lnTo>
                    <a:lnTo>
                      <a:pt x="24" y="131"/>
                    </a:lnTo>
                    <a:lnTo>
                      <a:pt x="0" y="161"/>
                    </a:lnTo>
                    <a:lnTo>
                      <a:pt x="0" y="137"/>
                    </a:lnTo>
                    <a:lnTo>
                      <a:pt x="29" y="107"/>
                    </a:lnTo>
                    <a:lnTo>
                      <a:pt x="65" y="83"/>
                    </a:lnTo>
                    <a:lnTo>
                      <a:pt x="155" y="36"/>
                    </a:lnTo>
                    <a:lnTo>
                      <a:pt x="257" y="12"/>
                    </a:lnTo>
                    <a:lnTo>
                      <a:pt x="376" y="0"/>
                    </a:lnTo>
                    <a:lnTo>
                      <a:pt x="376" y="0"/>
                    </a:lnTo>
                    <a:lnTo>
                      <a:pt x="382" y="0"/>
                    </a:lnTo>
                    <a:lnTo>
                      <a:pt x="382" y="12"/>
                    </a:lnTo>
                    <a:lnTo>
                      <a:pt x="376" y="12"/>
                    </a:lnTo>
                    <a:lnTo>
                      <a:pt x="376" y="12"/>
                    </a:lnTo>
                    <a:lnTo>
                      <a:pt x="376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16" name="Freeform 12"/>
              <p:cNvSpPr>
                <a:spLocks/>
              </p:cNvSpPr>
              <p:nvPr/>
            </p:nvSpPr>
            <p:spPr bwMode="hidden">
              <a:xfrm>
                <a:off x="3695" y="4170"/>
                <a:ext cx="444" cy="66"/>
              </a:xfrm>
              <a:custGeom>
                <a:avLst/>
                <a:gdLst/>
                <a:ahLst/>
                <a:cxnLst>
                  <a:cxn ang="0">
                    <a:pos x="257" y="54"/>
                  </a:cxn>
                  <a:cxn ang="0">
                    <a:pos x="353" y="48"/>
                  </a:cxn>
                  <a:cxn ang="0">
                    <a:pos x="443" y="24"/>
                  </a:cxn>
                  <a:cxn ang="0">
                    <a:pos x="443" y="36"/>
                  </a:cxn>
                  <a:cxn ang="0">
                    <a:pos x="353" y="60"/>
                  </a:cxn>
                  <a:cxn ang="0">
                    <a:pos x="257" y="66"/>
                  </a:cxn>
                  <a:cxn ang="0">
                    <a:pos x="186" y="60"/>
                  </a:cxn>
                  <a:cxn ang="0">
                    <a:pos x="120" y="48"/>
                  </a:cxn>
                  <a:cxn ang="0">
                    <a:pos x="60" y="36"/>
                  </a:cxn>
                  <a:cxn ang="0">
                    <a:pos x="0" y="12"/>
                  </a:cxn>
                  <a:cxn ang="0">
                    <a:pos x="0" y="0"/>
                  </a:cxn>
                  <a:cxn ang="0">
                    <a:pos x="54" y="24"/>
                  </a:cxn>
                  <a:cxn ang="0">
                    <a:pos x="120" y="36"/>
                  </a:cxn>
                  <a:cxn ang="0">
                    <a:pos x="186" y="48"/>
                  </a:cxn>
                  <a:cxn ang="0">
                    <a:pos x="257" y="54"/>
                  </a:cxn>
                  <a:cxn ang="0">
                    <a:pos x="257" y="54"/>
                  </a:cxn>
                </a:cxnLst>
                <a:rect l="0" t="0" r="r" b="b"/>
                <a:pathLst>
                  <a:path w="443" h="66">
                    <a:moveTo>
                      <a:pt x="257" y="54"/>
                    </a:moveTo>
                    <a:lnTo>
                      <a:pt x="353" y="48"/>
                    </a:lnTo>
                    <a:lnTo>
                      <a:pt x="443" y="24"/>
                    </a:lnTo>
                    <a:lnTo>
                      <a:pt x="443" y="36"/>
                    </a:lnTo>
                    <a:lnTo>
                      <a:pt x="353" y="60"/>
                    </a:lnTo>
                    <a:lnTo>
                      <a:pt x="257" y="66"/>
                    </a:lnTo>
                    <a:lnTo>
                      <a:pt x="186" y="60"/>
                    </a:lnTo>
                    <a:lnTo>
                      <a:pt x="120" y="48"/>
                    </a:lnTo>
                    <a:lnTo>
                      <a:pt x="60" y="36"/>
                    </a:lnTo>
                    <a:lnTo>
                      <a:pt x="0" y="12"/>
                    </a:lnTo>
                    <a:lnTo>
                      <a:pt x="0" y="0"/>
                    </a:lnTo>
                    <a:lnTo>
                      <a:pt x="54" y="24"/>
                    </a:lnTo>
                    <a:lnTo>
                      <a:pt x="120" y="36"/>
                    </a:lnTo>
                    <a:lnTo>
                      <a:pt x="186" y="48"/>
                    </a:lnTo>
                    <a:lnTo>
                      <a:pt x="257" y="54"/>
                    </a:lnTo>
                    <a:lnTo>
                      <a:pt x="257" y="5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84706"/>
                      <a:invGamma/>
                    </a:schemeClr>
                  </a:gs>
                  <a:gs pos="100000">
                    <a:schemeClr val="accent2"/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17" name="Freeform 13"/>
              <p:cNvSpPr>
                <a:spLocks/>
              </p:cNvSpPr>
              <p:nvPr/>
            </p:nvSpPr>
            <p:spPr bwMode="hidden">
              <a:xfrm>
                <a:off x="3527" y="3906"/>
                <a:ext cx="89" cy="216"/>
              </a:xfrm>
              <a:custGeom>
                <a:avLst/>
                <a:gdLst/>
                <a:ahLst/>
                <a:cxnLst>
                  <a:cxn ang="0">
                    <a:pos x="12" y="66"/>
                  </a:cxn>
                  <a:cxn ang="0">
                    <a:pos x="18" y="108"/>
                  </a:cxn>
                  <a:cxn ang="0">
                    <a:pos x="36" y="144"/>
                  </a:cxn>
                  <a:cxn ang="0">
                    <a:pos x="60" y="180"/>
                  </a:cxn>
                  <a:cxn ang="0">
                    <a:pos x="89" y="216"/>
                  </a:cxn>
                  <a:cxn ang="0">
                    <a:pos x="72" y="216"/>
                  </a:cxn>
                  <a:cxn ang="0">
                    <a:pos x="42" y="180"/>
                  </a:cxn>
                  <a:cxn ang="0">
                    <a:pos x="18" y="144"/>
                  </a:cxn>
                  <a:cxn ang="0">
                    <a:pos x="6" y="108"/>
                  </a:cxn>
                  <a:cxn ang="0">
                    <a:pos x="0" y="66"/>
                  </a:cxn>
                  <a:cxn ang="0">
                    <a:pos x="0" y="30"/>
                  </a:cxn>
                  <a:cxn ang="0">
                    <a:pos x="12" y="0"/>
                  </a:cxn>
                  <a:cxn ang="0">
                    <a:pos x="30" y="0"/>
                  </a:cxn>
                  <a:cxn ang="0">
                    <a:pos x="18" y="30"/>
                  </a:cxn>
                  <a:cxn ang="0">
                    <a:pos x="12" y="66"/>
                  </a:cxn>
                  <a:cxn ang="0">
                    <a:pos x="12" y="66"/>
                  </a:cxn>
                </a:cxnLst>
                <a:rect l="0" t="0" r="r" b="b"/>
                <a:pathLst>
                  <a:path w="89" h="216">
                    <a:moveTo>
                      <a:pt x="12" y="66"/>
                    </a:moveTo>
                    <a:lnTo>
                      <a:pt x="18" y="108"/>
                    </a:lnTo>
                    <a:lnTo>
                      <a:pt x="36" y="144"/>
                    </a:lnTo>
                    <a:lnTo>
                      <a:pt x="60" y="180"/>
                    </a:lnTo>
                    <a:lnTo>
                      <a:pt x="89" y="216"/>
                    </a:lnTo>
                    <a:lnTo>
                      <a:pt x="72" y="216"/>
                    </a:lnTo>
                    <a:lnTo>
                      <a:pt x="42" y="180"/>
                    </a:lnTo>
                    <a:lnTo>
                      <a:pt x="18" y="144"/>
                    </a:lnTo>
                    <a:lnTo>
                      <a:pt x="6" y="108"/>
                    </a:lnTo>
                    <a:lnTo>
                      <a:pt x="0" y="66"/>
                    </a:lnTo>
                    <a:lnTo>
                      <a:pt x="0" y="30"/>
                    </a:lnTo>
                    <a:lnTo>
                      <a:pt x="12" y="0"/>
                    </a:lnTo>
                    <a:lnTo>
                      <a:pt x="30" y="0"/>
                    </a:lnTo>
                    <a:lnTo>
                      <a:pt x="18" y="30"/>
                    </a:lnTo>
                    <a:lnTo>
                      <a:pt x="12" y="66"/>
                    </a:lnTo>
                    <a:lnTo>
                      <a:pt x="12" y="6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18" name="Freeform 14"/>
              <p:cNvSpPr>
                <a:spLocks/>
              </p:cNvSpPr>
              <p:nvPr/>
            </p:nvSpPr>
            <p:spPr bwMode="hidden">
              <a:xfrm>
                <a:off x="3569" y="3745"/>
                <a:ext cx="750" cy="461"/>
              </a:xfrm>
              <a:custGeom>
                <a:avLst/>
                <a:gdLst/>
                <a:ahLst/>
                <a:cxnLst>
                  <a:cxn ang="0">
                    <a:pos x="382" y="443"/>
                  </a:cxn>
                  <a:cxn ang="0">
                    <a:pos x="311" y="437"/>
                  </a:cxn>
                  <a:cxn ang="0">
                    <a:pos x="245" y="425"/>
                  </a:cxn>
                  <a:cxn ang="0">
                    <a:pos x="185" y="407"/>
                  </a:cxn>
                  <a:cxn ang="0">
                    <a:pos x="131" y="383"/>
                  </a:cxn>
                  <a:cxn ang="0">
                    <a:pos x="83" y="347"/>
                  </a:cxn>
                  <a:cxn ang="0">
                    <a:pos x="53" y="311"/>
                  </a:cxn>
                  <a:cxn ang="0">
                    <a:pos x="30" y="269"/>
                  </a:cxn>
                  <a:cxn ang="0">
                    <a:pos x="24" y="227"/>
                  </a:cxn>
                  <a:cxn ang="0">
                    <a:pos x="30" y="185"/>
                  </a:cxn>
                  <a:cxn ang="0">
                    <a:pos x="53" y="143"/>
                  </a:cxn>
                  <a:cxn ang="0">
                    <a:pos x="83" y="107"/>
                  </a:cxn>
                  <a:cxn ang="0">
                    <a:pos x="131" y="77"/>
                  </a:cxn>
                  <a:cxn ang="0">
                    <a:pos x="185" y="47"/>
                  </a:cxn>
                  <a:cxn ang="0">
                    <a:pos x="245" y="30"/>
                  </a:cxn>
                  <a:cxn ang="0">
                    <a:pos x="311" y="18"/>
                  </a:cxn>
                  <a:cxn ang="0">
                    <a:pos x="382" y="12"/>
                  </a:cxn>
                  <a:cxn ang="0">
                    <a:pos x="478" y="18"/>
                  </a:cxn>
                  <a:cxn ang="0">
                    <a:pos x="562" y="41"/>
                  </a:cxn>
                  <a:cxn ang="0">
                    <a:pos x="562" y="36"/>
                  </a:cxn>
                  <a:cxn ang="0">
                    <a:pos x="562" y="30"/>
                  </a:cxn>
                  <a:cxn ang="0">
                    <a:pos x="478" y="6"/>
                  </a:cxn>
                  <a:cxn ang="0">
                    <a:pos x="382" y="0"/>
                  </a:cxn>
                  <a:cxn ang="0">
                    <a:pos x="305" y="6"/>
                  </a:cxn>
                  <a:cxn ang="0">
                    <a:pos x="233" y="18"/>
                  </a:cxn>
                  <a:cxn ang="0">
                    <a:pos x="167" y="41"/>
                  </a:cxn>
                  <a:cxn ang="0">
                    <a:pos x="113" y="65"/>
                  </a:cxn>
                  <a:cxn ang="0">
                    <a:pos x="65" y="101"/>
                  </a:cxn>
                  <a:cxn ang="0">
                    <a:pos x="30" y="137"/>
                  </a:cxn>
                  <a:cxn ang="0">
                    <a:pos x="6" y="179"/>
                  </a:cxn>
                  <a:cxn ang="0">
                    <a:pos x="0" y="227"/>
                  </a:cxn>
                  <a:cxn ang="0">
                    <a:pos x="6" y="275"/>
                  </a:cxn>
                  <a:cxn ang="0">
                    <a:pos x="30" y="317"/>
                  </a:cxn>
                  <a:cxn ang="0">
                    <a:pos x="65" y="359"/>
                  </a:cxn>
                  <a:cxn ang="0">
                    <a:pos x="113" y="395"/>
                  </a:cxn>
                  <a:cxn ang="0">
                    <a:pos x="167" y="419"/>
                  </a:cxn>
                  <a:cxn ang="0">
                    <a:pos x="233" y="443"/>
                  </a:cxn>
                  <a:cxn ang="0">
                    <a:pos x="305" y="455"/>
                  </a:cxn>
                  <a:cxn ang="0">
                    <a:pos x="382" y="461"/>
                  </a:cxn>
                  <a:cxn ang="0">
                    <a:pos x="448" y="455"/>
                  </a:cxn>
                  <a:cxn ang="0">
                    <a:pos x="508" y="449"/>
                  </a:cxn>
                  <a:cxn ang="0">
                    <a:pos x="609" y="413"/>
                  </a:cxn>
                  <a:cxn ang="0">
                    <a:pos x="657" y="389"/>
                  </a:cxn>
                  <a:cxn ang="0">
                    <a:pos x="693" y="359"/>
                  </a:cxn>
                  <a:cxn ang="0">
                    <a:pos x="723" y="329"/>
                  </a:cxn>
                  <a:cxn ang="0">
                    <a:pos x="747" y="293"/>
                  </a:cxn>
                  <a:cxn ang="0">
                    <a:pos x="741" y="287"/>
                  </a:cxn>
                  <a:cxn ang="0">
                    <a:pos x="729" y="281"/>
                  </a:cxn>
                  <a:cxn ang="0">
                    <a:pos x="711" y="317"/>
                  </a:cxn>
                  <a:cxn ang="0">
                    <a:pos x="681" y="347"/>
                  </a:cxn>
                  <a:cxn ang="0">
                    <a:pos x="645" y="377"/>
                  </a:cxn>
                  <a:cxn ang="0">
                    <a:pos x="604" y="401"/>
                  </a:cxn>
                  <a:cxn ang="0">
                    <a:pos x="502" y="431"/>
                  </a:cxn>
                  <a:cxn ang="0">
                    <a:pos x="442" y="443"/>
                  </a:cxn>
                  <a:cxn ang="0">
                    <a:pos x="382" y="443"/>
                  </a:cxn>
                  <a:cxn ang="0">
                    <a:pos x="382" y="443"/>
                  </a:cxn>
                </a:cxnLst>
                <a:rect l="0" t="0" r="r" b="b"/>
                <a:pathLst>
                  <a:path w="747" h="461">
                    <a:moveTo>
                      <a:pt x="382" y="443"/>
                    </a:moveTo>
                    <a:lnTo>
                      <a:pt x="311" y="437"/>
                    </a:lnTo>
                    <a:lnTo>
                      <a:pt x="245" y="425"/>
                    </a:lnTo>
                    <a:lnTo>
                      <a:pt x="185" y="407"/>
                    </a:lnTo>
                    <a:lnTo>
                      <a:pt x="131" y="383"/>
                    </a:lnTo>
                    <a:lnTo>
                      <a:pt x="83" y="347"/>
                    </a:lnTo>
                    <a:lnTo>
                      <a:pt x="53" y="311"/>
                    </a:lnTo>
                    <a:lnTo>
                      <a:pt x="30" y="269"/>
                    </a:lnTo>
                    <a:lnTo>
                      <a:pt x="24" y="227"/>
                    </a:lnTo>
                    <a:lnTo>
                      <a:pt x="30" y="185"/>
                    </a:lnTo>
                    <a:lnTo>
                      <a:pt x="53" y="143"/>
                    </a:lnTo>
                    <a:lnTo>
                      <a:pt x="83" y="107"/>
                    </a:lnTo>
                    <a:lnTo>
                      <a:pt x="131" y="77"/>
                    </a:lnTo>
                    <a:lnTo>
                      <a:pt x="185" y="47"/>
                    </a:lnTo>
                    <a:lnTo>
                      <a:pt x="245" y="30"/>
                    </a:lnTo>
                    <a:lnTo>
                      <a:pt x="311" y="18"/>
                    </a:lnTo>
                    <a:lnTo>
                      <a:pt x="382" y="12"/>
                    </a:lnTo>
                    <a:lnTo>
                      <a:pt x="478" y="18"/>
                    </a:lnTo>
                    <a:lnTo>
                      <a:pt x="562" y="41"/>
                    </a:lnTo>
                    <a:lnTo>
                      <a:pt x="562" y="36"/>
                    </a:lnTo>
                    <a:lnTo>
                      <a:pt x="562" y="30"/>
                    </a:lnTo>
                    <a:lnTo>
                      <a:pt x="478" y="6"/>
                    </a:lnTo>
                    <a:lnTo>
                      <a:pt x="382" y="0"/>
                    </a:lnTo>
                    <a:lnTo>
                      <a:pt x="305" y="6"/>
                    </a:lnTo>
                    <a:lnTo>
                      <a:pt x="233" y="18"/>
                    </a:lnTo>
                    <a:lnTo>
                      <a:pt x="167" y="41"/>
                    </a:lnTo>
                    <a:lnTo>
                      <a:pt x="113" y="65"/>
                    </a:lnTo>
                    <a:lnTo>
                      <a:pt x="65" y="101"/>
                    </a:lnTo>
                    <a:lnTo>
                      <a:pt x="30" y="137"/>
                    </a:lnTo>
                    <a:lnTo>
                      <a:pt x="6" y="179"/>
                    </a:lnTo>
                    <a:lnTo>
                      <a:pt x="0" y="227"/>
                    </a:lnTo>
                    <a:lnTo>
                      <a:pt x="6" y="275"/>
                    </a:lnTo>
                    <a:lnTo>
                      <a:pt x="30" y="317"/>
                    </a:lnTo>
                    <a:lnTo>
                      <a:pt x="65" y="359"/>
                    </a:lnTo>
                    <a:lnTo>
                      <a:pt x="113" y="395"/>
                    </a:lnTo>
                    <a:lnTo>
                      <a:pt x="167" y="419"/>
                    </a:lnTo>
                    <a:lnTo>
                      <a:pt x="233" y="443"/>
                    </a:lnTo>
                    <a:lnTo>
                      <a:pt x="305" y="455"/>
                    </a:lnTo>
                    <a:lnTo>
                      <a:pt x="382" y="461"/>
                    </a:lnTo>
                    <a:lnTo>
                      <a:pt x="448" y="455"/>
                    </a:lnTo>
                    <a:lnTo>
                      <a:pt x="508" y="449"/>
                    </a:lnTo>
                    <a:lnTo>
                      <a:pt x="609" y="413"/>
                    </a:lnTo>
                    <a:lnTo>
                      <a:pt x="657" y="389"/>
                    </a:lnTo>
                    <a:lnTo>
                      <a:pt x="693" y="359"/>
                    </a:lnTo>
                    <a:lnTo>
                      <a:pt x="723" y="329"/>
                    </a:lnTo>
                    <a:lnTo>
                      <a:pt x="747" y="293"/>
                    </a:lnTo>
                    <a:lnTo>
                      <a:pt x="741" y="287"/>
                    </a:lnTo>
                    <a:lnTo>
                      <a:pt x="729" y="281"/>
                    </a:lnTo>
                    <a:lnTo>
                      <a:pt x="711" y="317"/>
                    </a:lnTo>
                    <a:lnTo>
                      <a:pt x="681" y="347"/>
                    </a:lnTo>
                    <a:lnTo>
                      <a:pt x="645" y="377"/>
                    </a:lnTo>
                    <a:lnTo>
                      <a:pt x="604" y="401"/>
                    </a:lnTo>
                    <a:lnTo>
                      <a:pt x="502" y="431"/>
                    </a:lnTo>
                    <a:lnTo>
                      <a:pt x="442" y="443"/>
                    </a:lnTo>
                    <a:lnTo>
                      <a:pt x="382" y="443"/>
                    </a:lnTo>
                    <a:lnTo>
                      <a:pt x="382" y="443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path path="rect">
                  <a:fillToRect l="50000" t="50000" r="50000" b="50000"/>
                </a:path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19" name="Freeform 15"/>
              <p:cNvSpPr>
                <a:spLocks/>
              </p:cNvSpPr>
              <p:nvPr/>
            </p:nvSpPr>
            <p:spPr bwMode="hidden">
              <a:xfrm>
                <a:off x="4037" y="3721"/>
                <a:ext cx="96" cy="30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0" y="12"/>
                  </a:cxn>
                  <a:cxn ang="0">
                    <a:pos x="48" y="18"/>
                  </a:cxn>
                  <a:cxn ang="0">
                    <a:pos x="96" y="30"/>
                  </a:cxn>
                  <a:cxn ang="0">
                    <a:pos x="96" y="24"/>
                  </a:cxn>
                  <a:cxn ang="0">
                    <a:pos x="96" y="18"/>
                  </a:cxn>
                  <a:cxn ang="0">
                    <a:pos x="48" y="12"/>
                  </a:cxn>
                  <a:cxn ang="0">
                    <a:pos x="0" y="0"/>
                  </a:cxn>
                  <a:cxn ang="0">
                    <a:pos x="0" y="0"/>
                  </a:cxn>
                </a:cxnLst>
                <a:rect l="0" t="0" r="r" b="b"/>
                <a:pathLst>
                  <a:path w="96" h="30">
                    <a:moveTo>
                      <a:pt x="0" y="0"/>
                    </a:moveTo>
                    <a:lnTo>
                      <a:pt x="0" y="12"/>
                    </a:lnTo>
                    <a:lnTo>
                      <a:pt x="48" y="18"/>
                    </a:lnTo>
                    <a:lnTo>
                      <a:pt x="96" y="30"/>
                    </a:lnTo>
                    <a:lnTo>
                      <a:pt x="96" y="24"/>
                    </a:lnTo>
                    <a:lnTo>
                      <a:pt x="96" y="18"/>
                    </a:lnTo>
                    <a:lnTo>
                      <a:pt x="48" y="12"/>
                    </a:lnTo>
                    <a:lnTo>
                      <a:pt x="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20" name="Oval 16"/>
              <p:cNvSpPr>
                <a:spLocks noChangeArrowheads="1"/>
              </p:cNvSpPr>
              <p:nvPr/>
            </p:nvSpPr>
            <p:spPr bwMode="hidden">
              <a:xfrm>
                <a:off x="3910" y="3948"/>
                <a:ext cx="84" cy="53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4" name="Group 17"/>
            <p:cNvGrpSpPr>
              <a:grpSpLocks/>
            </p:cNvGrpSpPr>
            <p:nvPr userDrawn="1"/>
          </p:nvGrpSpPr>
          <p:grpSpPr bwMode="auto">
            <a:xfrm>
              <a:off x="1776" y="3631"/>
              <a:ext cx="1626" cy="683"/>
              <a:chOff x="1776" y="3631"/>
              <a:chExt cx="1626" cy="683"/>
            </a:xfrm>
          </p:grpSpPr>
          <p:sp>
            <p:nvSpPr>
              <p:cNvPr id="21522" name="Oval 18"/>
              <p:cNvSpPr>
                <a:spLocks noChangeArrowheads="1"/>
              </p:cNvSpPr>
              <p:nvPr/>
            </p:nvSpPr>
            <p:spPr bwMode="hidden">
              <a:xfrm>
                <a:off x="2268" y="3934"/>
                <a:ext cx="638" cy="3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23" name="Oval 19"/>
              <p:cNvSpPr>
                <a:spLocks noChangeArrowheads="1"/>
              </p:cNvSpPr>
              <p:nvPr/>
            </p:nvSpPr>
            <p:spPr bwMode="hidden">
              <a:xfrm>
                <a:off x="2314" y="3958"/>
                <a:ext cx="543" cy="332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24" name="Oval 20"/>
              <p:cNvSpPr>
                <a:spLocks noChangeArrowheads="1"/>
              </p:cNvSpPr>
              <p:nvPr/>
            </p:nvSpPr>
            <p:spPr bwMode="hidden">
              <a:xfrm>
                <a:off x="2341" y="3979"/>
                <a:ext cx="501" cy="29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25" name="Oval 21"/>
              <p:cNvSpPr>
                <a:spLocks noChangeArrowheads="1"/>
              </p:cNvSpPr>
              <p:nvPr/>
            </p:nvSpPr>
            <p:spPr bwMode="hidden">
              <a:xfrm>
                <a:off x="2368" y="3997"/>
                <a:ext cx="444" cy="258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26" name="Oval 22"/>
              <p:cNvSpPr>
                <a:spLocks noChangeArrowheads="1"/>
              </p:cNvSpPr>
              <p:nvPr/>
            </p:nvSpPr>
            <p:spPr bwMode="hidden">
              <a:xfrm>
                <a:off x="2385" y="4005"/>
                <a:ext cx="413" cy="240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27" name="Oval 23"/>
              <p:cNvSpPr>
                <a:spLocks noChangeArrowheads="1"/>
              </p:cNvSpPr>
              <p:nvPr/>
            </p:nvSpPr>
            <p:spPr bwMode="hidden">
              <a:xfrm>
                <a:off x="2437" y="4026"/>
                <a:ext cx="306" cy="192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8784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28" name="Oval 24"/>
              <p:cNvSpPr>
                <a:spLocks noChangeArrowheads="1"/>
              </p:cNvSpPr>
              <p:nvPr/>
            </p:nvSpPr>
            <p:spPr bwMode="hidden">
              <a:xfrm>
                <a:off x="2476" y="4056"/>
                <a:ext cx="227" cy="135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29" name="Oval 25"/>
              <p:cNvSpPr>
                <a:spLocks noChangeArrowheads="1"/>
              </p:cNvSpPr>
              <p:nvPr/>
            </p:nvSpPr>
            <p:spPr bwMode="hidden">
              <a:xfrm>
                <a:off x="2542" y="4097"/>
                <a:ext cx="90" cy="60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30" name="Freeform 26"/>
              <p:cNvSpPr>
                <a:spLocks/>
              </p:cNvSpPr>
              <p:nvPr/>
            </p:nvSpPr>
            <p:spPr bwMode="hidden">
              <a:xfrm>
                <a:off x="2585" y="3822"/>
                <a:ext cx="449" cy="186"/>
              </a:xfrm>
              <a:custGeom>
                <a:avLst/>
                <a:gdLst/>
                <a:ahLst/>
                <a:cxnLst>
                  <a:cxn ang="0">
                    <a:pos x="6" y="6"/>
                  </a:cxn>
                  <a:cxn ang="0">
                    <a:pos x="78" y="12"/>
                  </a:cxn>
                  <a:cxn ang="0">
                    <a:pos x="150" y="18"/>
                  </a:cxn>
                  <a:cxn ang="0">
                    <a:pos x="215" y="36"/>
                  </a:cxn>
                  <a:cxn ang="0">
                    <a:pos x="275" y="60"/>
                  </a:cxn>
                  <a:cxn ang="0">
                    <a:pos x="329" y="84"/>
                  </a:cxn>
                  <a:cxn ang="0">
                    <a:pos x="377" y="114"/>
                  </a:cxn>
                  <a:cxn ang="0">
                    <a:pos x="419" y="150"/>
                  </a:cxn>
                  <a:cxn ang="0">
                    <a:pos x="448" y="186"/>
                  </a:cxn>
                  <a:cxn ang="0">
                    <a:pos x="448" y="162"/>
                  </a:cxn>
                  <a:cxn ang="0">
                    <a:pos x="413" y="126"/>
                  </a:cxn>
                  <a:cxn ang="0">
                    <a:pos x="371" y="96"/>
                  </a:cxn>
                  <a:cxn ang="0">
                    <a:pos x="323" y="66"/>
                  </a:cxn>
                  <a:cxn ang="0">
                    <a:pos x="269" y="48"/>
                  </a:cxn>
                  <a:cxn ang="0">
                    <a:pos x="144" y="12"/>
                  </a:cxn>
                  <a:cxn ang="0">
                    <a:pos x="78" y="6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6" y="6"/>
                  </a:cxn>
                  <a:cxn ang="0">
                    <a:pos x="6" y="6"/>
                  </a:cxn>
                </a:cxnLst>
                <a:rect l="0" t="0" r="r" b="b"/>
                <a:pathLst>
                  <a:path w="448" h="186">
                    <a:moveTo>
                      <a:pt x="6" y="6"/>
                    </a:moveTo>
                    <a:lnTo>
                      <a:pt x="78" y="12"/>
                    </a:lnTo>
                    <a:lnTo>
                      <a:pt x="150" y="18"/>
                    </a:lnTo>
                    <a:lnTo>
                      <a:pt x="215" y="36"/>
                    </a:lnTo>
                    <a:lnTo>
                      <a:pt x="275" y="60"/>
                    </a:lnTo>
                    <a:lnTo>
                      <a:pt x="329" y="84"/>
                    </a:lnTo>
                    <a:lnTo>
                      <a:pt x="377" y="114"/>
                    </a:lnTo>
                    <a:lnTo>
                      <a:pt x="419" y="150"/>
                    </a:lnTo>
                    <a:lnTo>
                      <a:pt x="448" y="186"/>
                    </a:lnTo>
                    <a:lnTo>
                      <a:pt x="448" y="162"/>
                    </a:lnTo>
                    <a:lnTo>
                      <a:pt x="413" y="126"/>
                    </a:lnTo>
                    <a:lnTo>
                      <a:pt x="371" y="96"/>
                    </a:lnTo>
                    <a:lnTo>
                      <a:pt x="323" y="66"/>
                    </a:lnTo>
                    <a:lnTo>
                      <a:pt x="269" y="48"/>
                    </a:lnTo>
                    <a:lnTo>
                      <a:pt x="144" y="12"/>
                    </a:lnTo>
                    <a:lnTo>
                      <a:pt x="78" y="6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6" y="6"/>
                    </a:lnTo>
                    <a:lnTo>
                      <a:pt x="6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shade val="90980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31" name="Freeform 27"/>
              <p:cNvSpPr>
                <a:spLocks/>
              </p:cNvSpPr>
              <p:nvPr/>
            </p:nvSpPr>
            <p:spPr bwMode="hidden">
              <a:xfrm>
                <a:off x="2142" y="3852"/>
                <a:ext cx="892" cy="462"/>
              </a:xfrm>
              <a:custGeom>
                <a:avLst/>
                <a:gdLst/>
                <a:ahLst/>
                <a:cxnLst>
                  <a:cxn ang="0">
                    <a:pos x="23" y="276"/>
                  </a:cxn>
                  <a:cxn ang="0">
                    <a:pos x="29" y="222"/>
                  </a:cxn>
                  <a:cxn ang="0">
                    <a:pos x="59" y="174"/>
                  </a:cxn>
                  <a:cxn ang="0">
                    <a:pos x="95" y="132"/>
                  </a:cxn>
                  <a:cxn ang="0">
                    <a:pos x="149" y="96"/>
                  </a:cxn>
                  <a:cxn ang="0">
                    <a:pos x="209" y="60"/>
                  </a:cxn>
                  <a:cxn ang="0">
                    <a:pos x="281" y="36"/>
                  </a:cxn>
                  <a:cxn ang="0">
                    <a:pos x="364" y="24"/>
                  </a:cxn>
                  <a:cxn ang="0">
                    <a:pos x="448" y="18"/>
                  </a:cxn>
                  <a:cxn ang="0">
                    <a:pos x="532" y="24"/>
                  </a:cxn>
                  <a:cxn ang="0">
                    <a:pos x="609" y="36"/>
                  </a:cxn>
                  <a:cxn ang="0">
                    <a:pos x="681" y="60"/>
                  </a:cxn>
                  <a:cxn ang="0">
                    <a:pos x="741" y="96"/>
                  </a:cxn>
                  <a:cxn ang="0">
                    <a:pos x="795" y="132"/>
                  </a:cxn>
                  <a:cxn ang="0">
                    <a:pos x="831" y="174"/>
                  </a:cxn>
                  <a:cxn ang="0">
                    <a:pos x="861" y="222"/>
                  </a:cxn>
                  <a:cxn ang="0">
                    <a:pos x="867" y="276"/>
                  </a:cxn>
                  <a:cxn ang="0">
                    <a:pos x="855" y="330"/>
                  </a:cxn>
                  <a:cxn ang="0">
                    <a:pos x="831" y="378"/>
                  </a:cxn>
                  <a:cxn ang="0">
                    <a:pos x="783" y="426"/>
                  </a:cxn>
                  <a:cxn ang="0">
                    <a:pos x="723" y="462"/>
                  </a:cxn>
                  <a:cxn ang="0">
                    <a:pos x="765" y="462"/>
                  </a:cxn>
                  <a:cxn ang="0">
                    <a:pos x="819" y="426"/>
                  </a:cxn>
                  <a:cxn ang="0">
                    <a:pos x="855" y="378"/>
                  </a:cxn>
                  <a:cxn ang="0">
                    <a:pos x="884" y="330"/>
                  </a:cxn>
                  <a:cxn ang="0">
                    <a:pos x="890" y="276"/>
                  </a:cxn>
                  <a:cxn ang="0">
                    <a:pos x="884" y="222"/>
                  </a:cxn>
                  <a:cxn ang="0">
                    <a:pos x="855" y="168"/>
                  </a:cxn>
                  <a:cxn ang="0">
                    <a:pos x="813" y="120"/>
                  </a:cxn>
                  <a:cxn ang="0">
                    <a:pos x="759" y="84"/>
                  </a:cxn>
                  <a:cxn ang="0">
                    <a:pos x="693" y="48"/>
                  </a:cxn>
                  <a:cxn ang="0">
                    <a:pos x="621" y="24"/>
                  </a:cxn>
                  <a:cxn ang="0">
                    <a:pos x="538" y="6"/>
                  </a:cxn>
                  <a:cxn ang="0">
                    <a:pos x="448" y="0"/>
                  </a:cxn>
                  <a:cxn ang="0">
                    <a:pos x="358" y="6"/>
                  </a:cxn>
                  <a:cxn ang="0">
                    <a:pos x="275" y="24"/>
                  </a:cxn>
                  <a:cxn ang="0">
                    <a:pos x="197" y="48"/>
                  </a:cxn>
                  <a:cxn ang="0">
                    <a:pos x="131" y="84"/>
                  </a:cxn>
                  <a:cxn ang="0">
                    <a:pos x="77" y="120"/>
                  </a:cxn>
                  <a:cxn ang="0">
                    <a:pos x="35" y="168"/>
                  </a:cxn>
                  <a:cxn ang="0">
                    <a:pos x="12" y="222"/>
                  </a:cxn>
                  <a:cxn ang="0">
                    <a:pos x="0" y="276"/>
                  </a:cxn>
                  <a:cxn ang="0">
                    <a:pos x="6" y="330"/>
                  </a:cxn>
                  <a:cxn ang="0">
                    <a:pos x="35" y="378"/>
                  </a:cxn>
                  <a:cxn ang="0">
                    <a:pos x="71" y="426"/>
                  </a:cxn>
                  <a:cxn ang="0">
                    <a:pos x="125" y="462"/>
                  </a:cxn>
                  <a:cxn ang="0">
                    <a:pos x="167" y="462"/>
                  </a:cxn>
                  <a:cxn ang="0">
                    <a:pos x="107" y="426"/>
                  </a:cxn>
                  <a:cxn ang="0">
                    <a:pos x="59" y="378"/>
                  </a:cxn>
                  <a:cxn ang="0">
                    <a:pos x="35" y="330"/>
                  </a:cxn>
                  <a:cxn ang="0">
                    <a:pos x="23" y="276"/>
                  </a:cxn>
                  <a:cxn ang="0">
                    <a:pos x="23" y="276"/>
                  </a:cxn>
                </a:cxnLst>
                <a:rect l="0" t="0" r="r" b="b"/>
                <a:pathLst>
                  <a:path w="890" h="462">
                    <a:moveTo>
                      <a:pt x="23" y="276"/>
                    </a:moveTo>
                    <a:lnTo>
                      <a:pt x="29" y="222"/>
                    </a:lnTo>
                    <a:lnTo>
                      <a:pt x="59" y="174"/>
                    </a:lnTo>
                    <a:lnTo>
                      <a:pt x="95" y="132"/>
                    </a:lnTo>
                    <a:lnTo>
                      <a:pt x="149" y="96"/>
                    </a:lnTo>
                    <a:lnTo>
                      <a:pt x="209" y="60"/>
                    </a:lnTo>
                    <a:lnTo>
                      <a:pt x="281" y="36"/>
                    </a:lnTo>
                    <a:lnTo>
                      <a:pt x="364" y="24"/>
                    </a:lnTo>
                    <a:lnTo>
                      <a:pt x="448" y="18"/>
                    </a:lnTo>
                    <a:lnTo>
                      <a:pt x="532" y="24"/>
                    </a:lnTo>
                    <a:lnTo>
                      <a:pt x="609" y="36"/>
                    </a:lnTo>
                    <a:lnTo>
                      <a:pt x="681" y="60"/>
                    </a:lnTo>
                    <a:lnTo>
                      <a:pt x="741" y="96"/>
                    </a:lnTo>
                    <a:lnTo>
                      <a:pt x="795" y="132"/>
                    </a:lnTo>
                    <a:lnTo>
                      <a:pt x="831" y="174"/>
                    </a:lnTo>
                    <a:lnTo>
                      <a:pt x="861" y="222"/>
                    </a:lnTo>
                    <a:lnTo>
                      <a:pt x="867" y="276"/>
                    </a:lnTo>
                    <a:lnTo>
                      <a:pt x="855" y="330"/>
                    </a:lnTo>
                    <a:lnTo>
                      <a:pt x="831" y="378"/>
                    </a:lnTo>
                    <a:lnTo>
                      <a:pt x="783" y="426"/>
                    </a:lnTo>
                    <a:lnTo>
                      <a:pt x="723" y="462"/>
                    </a:lnTo>
                    <a:lnTo>
                      <a:pt x="765" y="462"/>
                    </a:lnTo>
                    <a:lnTo>
                      <a:pt x="819" y="426"/>
                    </a:lnTo>
                    <a:lnTo>
                      <a:pt x="855" y="378"/>
                    </a:lnTo>
                    <a:lnTo>
                      <a:pt x="884" y="330"/>
                    </a:lnTo>
                    <a:lnTo>
                      <a:pt x="890" y="276"/>
                    </a:lnTo>
                    <a:lnTo>
                      <a:pt x="884" y="222"/>
                    </a:lnTo>
                    <a:lnTo>
                      <a:pt x="855" y="168"/>
                    </a:lnTo>
                    <a:lnTo>
                      <a:pt x="813" y="120"/>
                    </a:lnTo>
                    <a:lnTo>
                      <a:pt x="759" y="84"/>
                    </a:lnTo>
                    <a:lnTo>
                      <a:pt x="693" y="48"/>
                    </a:lnTo>
                    <a:lnTo>
                      <a:pt x="621" y="24"/>
                    </a:lnTo>
                    <a:lnTo>
                      <a:pt x="538" y="6"/>
                    </a:lnTo>
                    <a:lnTo>
                      <a:pt x="448" y="0"/>
                    </a:lnTo>
                    <a:lnTo>
                      <a:pt x="358" y="6"/>
                    </a:lnTo>
                    <a:lnTo>
                      <a:pt x="275" y="24"/>
                    </a:lnTo>
                    <a:lnTo>
                      <a:pt x="197" y="48"/>
                    </a:lnTo>
                    <a:lnTo>
                      <a:pt x="131" y="84"/>
                    </a:lnTo>
                    <a:lnTo>
                      <a:pt x="77" y="120"/>
                    </a:lnTo>
                    <a:lnTo>
                      <a:pt x="35" y="168"/>
                    </a:lnTo>
                    <a:lnTo>
                      <a:pt x="12" y="222"/>
                    </a:lnTo>
                    <a:lnTo>
                      <a:pt x="0" y="276"/>
                    </a:lnTo>
                    <a:lnTo>
                      <a:pt x="6" y="330"/>
                    </a:lnTo>
                    <a:lnTo>
                      <a:pt x="35" y="378"/>
                    </a:lnTo>
                    <a:lnTo>
                      <a:pt x="71" y="426"/>
                    </a:lnTo>
                    <a:lnTo>
                      <a:pt x="125" y="462"/>
                    </a:lnTo>
                    <a:lnTo>
                      <a:pt x="167" y="462"/>
                    </a:lnTo>
                    <a:lnTo>
                      <a:pt x="107" y="426"/>
                    </a:lnTo>
                    <a:lnTo>
                      <a:pt x="59" y="378"/>
                    </a:lnTo>
                    <a:lnTo>
                      <a:pt x="35" y="330"/>
                    </a:lnTo>
                    <a:lnTo>
                      <a:pt x="23" y="276"/>
                    </a:lnTo>
                    <a:lnTo>
                      <a:pt x="23" y="27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4706"/>
                      <a:invGamma/>
                    </a:schemeClr>
                  </a:gs>
                </a:gsLst>
                <a:lin ang="27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32" name="Freeform 28"/>
              <p:cNvSpPr>
                <a:spLocks/>
              </p:cNvSpPr>
              <p:nvPr/>
            </p:nvSpPr>
            <p:spPr bwMode="hidden">
              <a:xfrm>
                <a:off x="2082" y="3828"/>
                <a:ext cx="407" cy="486"/>
              </a:xfrm>
              <a:custGeom>
                <a:avLst/>
                <a:gdLst/>
                <a:ahLst/>
                <a:cxnLst>
                  <a:cxn ang="0">
                    <a:pos x="18" y="300"/>
                  </a:cxn>
                  <a:cxn ang="0">
                    <a:pos x="24" y="246"/>
                  </a:cxn>
                  <a:cxn ang="0">
                    <a:pos x="48" y="198"/>
                  </a:cxn>
                  <a:cxn ang="0">
                    <a:pos x="83" y="150"/>
                  </a:cxn>
                  <a:cxn ang="0">
                    <a:pos x="131" y="108"/>
                  </a:cxn>
                  <a:cxn ang="0">
                    <a:pos x="185" y="72"/>
                  </a:cxn>
                  <a:cxn ang="0">
                    <a:pos x="251" y="42"/>
                  </a:cxn>
                  <a:cxn ang="0">
                    <a:pos x="329" y="24"/>
                  </a:cxn>
                  <a:cxn ang="0">
                    <a:pos x="406" y="6"/>
                  </a:cxn>
                  <a:cxn ang="0">
                    <a:pos x="406" y="0"/>
                  </a:cxn>
                  <a:cxn ang="0">
                    <a:pos x="323" y="12"/>
                  </a:cxn>
                  <a:cxn ang="0">
                    <a:pos x="245" y="36"/>
                  </a:cxn>
                  <a:cxn ang="0">
                    <a:pos x="179" y="66"/>
                  </a:cxn>
                  <a:cxn ang="0">
                    <a:pos x="119" y="102"/>
                  </a:cxn>
                  <a:cxn ang="0">
                    <a:pos x="72" y="144"/>
                  </a:cxn>
                  <a:cxn ang="0">
                    <a:pos x="30" y="192"/>
                  </a:cxn>
                  <a:cxn ang="0">
                    <a:pos x="6" y="246"/>
                  </a:cxn>
                  <a:cxn ang="0">
                    <a:pos x="0" y="300"/>
                  </a:cxn>
                  <a:cxn ang="0">
                    <a:pos x="6" y="348"/>
                  </a:cxn>
                  <a:cxn ang="0">
                    <a:pos x="30" y="396"/>
                  </a:cxn>
                  <a:cxn ang="0">
                    <a:pos x="66" y="444"/>
                  </a:cxn>
                  <a:cxn ang="0">
                    <a:pos x="107" y="486"/>
                  </a:cxn>
                  <a:cxn ang="0">
                    <a:pos x="131" y="486"/>
                  </a:cxn>
                  <a:cxn ang="0">
                    <a:pos x="83" y="450"/>
                  </a:cxn>
                  <a:cxn ang="0">
                    <a:pos x="48" y="402"/>
                  </a:cxn>
                  <a:cxn ang="0">
                    <a:pos x="24" y="354"/>
                  </a:cxn>
                  <a:cxn ang="0">
                    <a:pos x="18" y="300"/>
                  </a:cxn>
                  <a:cxn ang="0">
                    <a:pos x="18" y="300"/>
                  </a:cxn>
                </a:cxnLst>
                <a:rect l="0" t="0" r="r" b="b"/>
                <a:pathLst>
                  <a:path w="406" h="486">
                    <a:moveTo>
                      <a:pt x="18" y="300"/>
                    </a:moveTo>
                    <a:lnTo>
                      <a:pt x="24" y="246"/>
                    </a:lnTo>
                    <a:lnTo>
                      <a:pt x="48" y="198"/>
                    </a:lnTo>
                    <a:lnTo>
                      <a:pt x="83" y="150"/>
                    </a:lnTo>
                    <a:lnTo>
                      <a:pt x="131" y="108"/>
                    </a:lnTo>
                    <a:lnTo>
                      <a:pt x="185" y="72"/>
                    </a:lnTo>
                    <a:lnTo>
                      <a:pt x="251" y="42"/>
                    </a:lnTo>
                    <a:lnTo>
                      <a:pt x="329" y="24"/>
                    </a:lnTo>
                    <a:lnTo>
                      <a:pt x="406" y="6"/>
                    </a:lnTo>
                    <a:lnTo>
                      <a:pt x="406" y="0"/>
                    </a:lnTo>
                    <a:lnTo>
                      <a:pt x="323" y="12"/>
                    </a:lnTo>
                    <a:lnTo>
                      <a:pt x="245" y="36"/>
                    </a:lnTo>
                    <a:lnTo>
                      <a:pt x="179" y="66"/>
                    </a:lnTo>
                    <a:lnTo>
                      <a:pt x="119" y="102"/>
                    </a:lnTo>
                    <a:lnTo>
                      <a:pt x="72" y="144"/>
                    </a:lnTo>
                    <a:lnTo>
                      <a:pt x="30" y="192"/>
                    </a:lnTo>
                    <a:lnTo>
                      <a:pt x="6" y="246"/>
                    </a:lnTo>
                    <a:lnTo>
                      <a:pt x="0" y="300"/>
                    </a:lnTo>
                    <a:lnTo>
                      <a:pt x="6" y="348"/>
                    </a:lnTo>
                    <a:lnTo>
                      <a:pt x="30" y="396"/>
                    </a:lnTo>
                    <a:lnTo>
                      <a:pt x="66" y="444"/>
                    </a:lnTo>
                    <a:lnTo>
                      <a:pt x="107" y="486"/>
                    </a:lnTo>
                    <a:lnTo>
                      <a:pt x="131" y="486"/>
                    </a:lnTo>
                    <a:lnTo>
                      <a:pt x="83" y="450"/>
                    </a:lnTo>
                    <a:lnTo>
                      <a:pt x="48" y="402"/>
                    </a:lnTo>
                    <a:lnTo>
                      <a:pt x="24" y="354"/>
                    </a:lnTo>
                    <a:lnTo>
                      <a:pt x="18" y="300"/>
                    </a:lnTo>
                    <a:lnTo>
                      <a:pt x="18" y="30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0980"/>
                      <a:invGamma/>
                    </a:schemeClr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33" name="Freeform 29"/>
              <p:cNvSpPr>
                <a:spLocks/>
              </p:cNvSpPr>
              <p:nvPr/>
            </p:nvSpPr>
            <p:spPr bwMode="hidden">
              <a:xfrm>
                <a:off x="2987" y="4044"/>
                <a:ext cx="108" cy="252"/>
              </a:xfrm>
              <a:custGeom>
                <a:avLst/>
                <a:gdLst/>
                <a:ahLst/>
                <a:cxnLst>
                  <a:cxn ang="0">
                    <a:pos x="89" y="84"/>
                  </a:cxn>
                  <a:cxn ang="0">
                    <a:pos x="83" y="132"/>
                  </a:cxn>
                  <a:cxn ang="0">
                    <a:pos x="65" y="174"/>
                  </a:cxn>
                  <a:cxn ang="0">
                    <a:pos x="36" y="216"/>
                  </a:cxn>
                  <a:cxn ang="0">
                    <a:pos x="0" y="252"/>
                  </a:cxn>
                  <a:cxn ang="0">
                    <a:pos x="18" y="252"/>
                  </a:cxn>
                  <a:cxn ang="0">
                    <a:pos x="53" y="216"/>
                  </a:cxn>
                  <a:cxn ang="0">
                    <a:pos x="83" y="174"/>
                  </a:cxn>
                  <a:cxn ang="0">
                    <a:pos x="101" y="132"/>
                  </a:cxn>
                  <a:cxn ang="0">
                    <a:pos x="107" y="84"/>
                  </a:cxn>
                  <a:cxn ang="0">
                    <a:pos x="101" y="42"/>
                  </a:cxn>
                  <a:cxn ang="0">
                    <a:pos x="89" y="0"/>
                  </a:cxn>
                  <a:cxn ang="0">
                    <a:pos x="65" y="0"/>
                  </a:cxn>
                  <a:cxn ang="0">
                    <a:pos x="83" y="42"/>
                  </a:cxn>
                  <a:cxn ang="0">
                    <a:pos x="89" y="84"/>
                  </a:cxn>
                  <a:cxn ang="0">
                    <a:pos x="89" y="84"/>
                  </a:cxn>
                </a:cxnLst>
                <a:rect l="0" t="0" r="r" b="b"/>
                <a:pathLst>
                  <a:path w="107" h="252">
                    <a:moveTo>
                      <a:pt x="89" y="84"/>
                    </a:moveTo>
                    <a:lnTo>
                      <a:pt x="83" y="132"/>
                    </a:lnTo>
                    <a:lnTo>
                      <a:pt x="65" y="174"/>
                    </a:lnTo>
                    <a:lnTo>
                      <a:pt x="36" y="216"/>
                    </a:lnTo>
                    <a:lnTo>
                      <a:pt x="0" y="252"/>
                    </a:lnTo>
                    <a:lnTo>
                      <a:pt x="18" y="252"/>
                    </a:lnTo>
                    <a:lnTo>
                      <a:pt x="53" y="216"/>
                    </a:lnTo>
                    <a:lnTo>
                      <a:pt x="83" y="174"/>
                    </a:lnTo>
                    <a:lnTo>
                      <a:pt x="101" y="132"/>
                    </a:lnTo>
                    <a:lnTo>
                      <a:pt x="107" y="84"/>
                    </a:lnTo>
                    <a:lnTo>
                      <a:pt x="101" y="42"/>
                    </a:lnTo>
                    <a:lnTo>
                      <a:pt x="89" y="0"/>
                    </a:lnTo>
                    <a:lnTo>
                      <a:pt x="65" y="0"/>
                    </a:lnTo>
                    <a:lnTo>
                      <a:pt x="83" y="42"/>
                    </a:lnTo>
                    <a:lnTo>
                      <a:pt x="89" y="84"/>
                    </a:lnTo>
                    <a:lnTo>
                      <a:pt x="89" y="8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1961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34" name="Freeform 30"/>
              <p:cNvSpPr>
                <a:spLocks/>
              </p:cNvSpPr>
              <p:nvPr/>
            </p:nvSpPr>
            <p:spPr bwMode="hidden">
              <a:xfrm>
                <a:off x="2068" y="3685"/>
                <a:ext cx="835" cy="150"/>
              </a:xfrm>
              <a:custGeom>
                <a:avLst/>
                <a:gdLst/>
                <a:ahLst/>
                <a:cxnLst>
                  <a:cxn ang="0">
                    <a:pos x="518" y="18"/>
                  </a:cxn>
                  <a:cxn ang="0">
                    <a:pos x="597" y="24"/>
                  </a:cxn>
                  <a:cxn ang="0">
                    <a:pos x="682" y="30"/>
                  </a:cxn>
                  <a:cxn ang="0">
                    <a:pos x="755" y="42"/>
                  </a:cxn>
                  <a:cxn ang="0">
                    <a:pos x="828" y="60"/>
                  </a:cxn>
                  <a:cxn ang="0">
                    <a:pos x="835" y="42"/>
                  </a:cxn>
                  <a:cxn ang="0">
                    <a:pos x="761" y="24"/>
                  </a:cxn>
                  <a:cxn ang="0">
                    <a:pos x="688" y="12"/>
                  </a:cxn>
                  <a:cxn ang="0">
                    <a:pos x="603" y="6"/>
                  </a:cxn>
                  <a:cxn ang="0">
                    <a:pos x="518" y="0"/>
                  </a:cxn>
                  <a:cxn ang="0">
                    <a:pos x="372" y="12"/>
                  </a:cxn>
                  <a:cxn ang="0">
                    <a:pos x="232" y="36"/>
                  </a:cxn>
                  <a:cxn ang="0">
                    <a:pos x="110" y="78"/>
                  </a:cxn>
                  <a:cxn ang="0">
                    <a:pos x="0" y="132"/>
                  </a:cxn>
                  <a:cxn ang="0">
                    <a:pos x="19" y="150"/>
                  </a:cxn>
                  <a:cxn ang="0">
                    <a:pos x="122" y="96"/>
                  </a:cxn>
                  <a:cxn ang="0">
                    <a:pos x="244" y="54"/>
                  </a:cxn>
                  <a:cxn ang="0">
                    <a:pos x="378" y="30"/>
                  </a:cxn>
                  <a:cxn ang="0">
                    <a:pos x="518" y="18"/>
                  </a:cxn>
                  <a:cxn ang="0">
                    <a:pos x="518" y="18"/>
                  </a:cxn>
                </a:cxnLst>
                <a:rect l="0" t="0" r="r" b="b"/>
                <a:pathLst>
                  <a:path w="835" h="150">
                    <a:moveTo>
                      <a:pt x="518" y="18"/>
                    </a:moveTo>
                    <a:lnTo>
                      <a:pt x="597" y="24"/>
                    </a:lnTo>
                    <a:lnTo>
                      <a:pt x="682" y="30"/>
                    </a:lnTo>
                    <a:lnTo>
                      <a:pt x="755" y="42"/>
                    </a:lnTo>
                    <a:lnTo>
                      <a:pt x="828" y="60"/>
                    </a:lnTo>
                    <a:lnTo>
                      <a:pt x="835" y="42"/>
                    </a:lnTo>
                    <a:lnTo>
                      <a:pt x="761" y="24"/>
                    </a:lnTo>
                    <a:lnTo>
                      <a:pt x="688" y="12"/>
                    </a:lnTo>
                    <a:lnTo>
                      <a:pt x="603" y="6"/>
                    </a:lnTo>
                    <a:lnTo>
                      <a:pt x="518" y="0"/>
                    </a:lnTo>
                    <a:lnTo>
                      <a:pt x="372" y="12"/>
                    </a:lnTo>
                    <a:lnTo>
                      <a:pt x="232" y="36"/>
                    </a:lnTo>
                    <a:lnTo>
                      <a:pt x="110" y="78"/>
                    </a:lnTo>
                    <a:lnTo>
                      <a:pt x="0" y="132"/>
                    </a:lnTo>
                    <a:lnTo>
                      <a:pt x="19" y="150"/>
                    </a:lnTo>
                    <a:lnTo>
                      <a:pt x="122" y="96"/>
                    </a:lnTo>
                    <a:lnTo>
                      <a:pt x="244" y="54"/>
                    </a:lnTo>
                    <a:lnTo>
                      <a:pt x="378" y="30"/>
                    </a:lnTo>
                    <a:lnTo>
                      <a:pt x="518" y="18"/>
                    </a:lnTo>
                    <a:lnTo>
                      <a:pt x="518" y="18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35" name="Freeform 31"/>
              <p:cNvSpPr>
                <a:spLocks/>
              </p:cNvSpPr>
              <p:nvPr/>
            </p:nvSpPr>
            <p:spPr bwMode="hidden">
              <a:xfrm>
                <a:off x="1867" y="3853"/>
                <a:ext cx="171" cy="461"/>
              </a:xfrm>
              <a:custGeom>
                <a:avLst/>
                <a:gdLst/>
                <a:ahLst/>
                <a:cxnLst>
                  <a:cxn ang="0">
                    <a:pos x="31" y="263"/>
                  </a:cxn>
                  <a:cxn ang="0">
                    <a:pos x="43" y="191"/>
                  </a:cxn>
                  <a:cxn ang="0">
                    <a:pos x="67" y="131"/>
                  </a:cxn>
                  <a:cxn ang="0">
                    <a:pos x="116" y="72"/>
                  </a:cxn>
                  <a:cxn ang="0">
                    <a:pos x="171" y="18"/>
                  </a:cxn>
                  <a:cxn ang="0">
                    <a:pos x="153" y="0"/>
                  </a:cxn>
                  <a:cxn ang="0">
                    <a:pos x="86" y="60"/>
                  </a:cxn>
                  <a:cxn ang="0">
                    <a:pos x="43" y="120"/>
                  </a:cxn>
                  <a:cxn ang="0">
                    <a:pos x="13" y="191"/>
                  </a:cxn>
                  <a:cxn ang="0">
                    <a:pos x="0" y="263"/>
                  </a:cxn>
                  <a:cxn ang="0">
                    <a:pos x="6" y="317"/>
                  </a:cxn>
                  <a:cxn ang="0">
                    <a:pos x="25" y="365"/>
                  </a:cxn>
                  <a:cxn ang="0">
                    <a:pos x="49" y="413"/>
                  </a:cxn>
                  <a:cxn ang="0">
                    <a:pos x="86" y="461"/>
                  </a:cxn>
                  <a:cxn ang="0">
                    <a:pos x="122" y="461"/>
                  </a:cxn>
                  <a:cxn ang="0">
                    <a:pos x="86" y="413"/>
                  </a:cxn>
                  <a:cxn ang="0">
                    <a:pos x="55" y="365"/>
                  </a:cxn>
                  <a:cxn ang="0">
                    <a:pos x="37" y="317"/>
                  </a:cxn>
                  <a:cxn ang="0">
                    <a:pos x="31" y="263"/>
                  </a:cxn>
                  <a:cxn ang="0">
                    <a:pos x="31" y="263"/>
                  </a:cxn>
                </a:cxnLst>
                <a:rect l="0" t="0" r="r" b="b"/>
                <a:pathLst>
                  <a:path w="171" h="461">
                    <a:moveTo>
                      <a:pt x="31" y="263"/>
                    </a:moveTo>
                    <a:lnTo>
                      <a:pt x="43" y="191"/>
                    </a:lnTo>
                    <a:lnTo>
                      <a:pt x="67" y="131"/>
                    </a:lnTo>
                    <a:lnTo>
                      <a:pt x="116" y="72"/>
                    </a:lnTo>
                    <a:lnTo>
                      <a:pt x="171" y="18"/>
                    </a:lnTo>
                    <a:lnTo>
                      <a:pt x="153" y="0"/>
                    </a:lnTo>
                    <a:lnTo>
                      <a:pt x="86" y="60"/>
                    </a:lnTo>
                    <a:lnTo>
                      <a:pt x="43" y="120"/>
                    </a:lnTo>
                    <a:lnTo>
                      <a:pt x="13" y="191"/>
                    </a:lnTo>
                    <a:lnTo>
                      <a:pt x="0" y="263"/>
                    </a:lnTo>
                    <a:lnTo>
                      <a:pt x="6" y="317"/>
                    </a:lnTo>
                    <a:lnTo>
                      <a:pt x="25" y="365"/>
                    </a:lnTo>
                    <a:lnTo>
                      <a:pt x="49" y="413"/>
                    </a:lnTo>
                    <a:lnTo>
                      <a:pt x="86" y="461"/>
                    </a:lnTo>
                    <a:lnTo>
                      <a:pt x="122" y="461"/>
                    </a:lnTo>
                    <a:lnTo>
                      <a:pt x="86" y="413"/>
                    </a:lnTo>
                    <a:lnTo>
                      <a:pt x="55" y="365"/>
                    </a:lnTo>
                    <a:lnTo>
                      <a:pt x="37" y="317"/>
                    </a:lnTo>
                    <a:lnTo>
                      <a:pt x="31" y="263"/>
                    </a:lnTo>
                    <a:lnTo>
                      <a:pt x="31" y="263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36" name="Freeform 32"/>
              <p:cNvSpPr>
                <a:spLocks/>
              </p:cNvSpPr>
              <p:nvPr/>
            </p:nvSpPr>
            <p:spPr bwMode="hidden">
              <a:xfrm>
                <a:off x="2951" y="3751"/>
                <a:ext cx="360" cy="563"/>
              </a:xfrm>
              <a:custGeom>
                <a:avLst/>
                <a:gdLst/>
                <a:ahLst/>
                <a:cxnLst>
                  <a:cxn ang="0">
                    <a:pos x="360" y="365"/>
                  </a:cxn>
                  <a:cxn ang="0">
                    <a:pos x="353" y="305"/>
                  </a:cxn>
                  <a:cxn ang="0">
                    <a:pos x="335" y="251"/>
                  </a:cxn>
                  <a:cxn ang="0">
                    <a:pos x="305" y="204"/>
                  </a:cxn>
                  <a:cxn ang="0">
                    <a:pos x="262" y="156"/>
                  </a:cxn>
                  <a:cxn ang="0">
                    <a:pos x="213" y="108"/>
                  </a:cxn>
                  <a:cxn ang="0">
                    <a:pos x="159" y="66"/>
                  </a:cxn>
                  <a:cxn ang="0">
                    <a:pos x="92" y="30"/>
                  </a:cxn>
                  <a:cxn ang="0">
                    <a:pos x="19" y="0"/>
                  </a:cxn>
                  <a:cxn ang="0">
                    <a:pos x="0" y="12"/>
                  </a:cxn>
                  <a:cxn ang="0">
                    <a:pos x="67" y="42"/>
                  </a:cxn>
                  <a:cxn ang="0">
                    <a:pos x="134" y="78"/>
                  </a:cxn>
                  <a:cxn ang="0">
                    <a:pos x="189" y="114"/>
                  </a:cxn>
                  <a:cxn ang="0">
                    <a:pos x="238" y="162"/>
                  </a:cxn>
                  <a:cxn ang="0">
                    <a:pos x="274" y="210"/>
                  </a:cxn>
                  <a:cxn ang="0">
                    <a:pos x="299" y="257"/>
                  </a:cxn>
                  <a:cxn ang="0">
                    <a:pos x="317" y="311"/>
                  </a:cxn>
                  <a:cxn ang="0">
                    <a:pos x="323" y="365"/>
                  </a:cxn>
                  <a:cxn ang="0">
                    <a:pos x="317" y="419"/>
                  </a:cxn>
                  <a:cxn ang="0">
                    <a:pos x="299" y="467"/>
                  </a:cxn>
                  <a:cxn ang="0">
                    <a:pos x="274" y="515"/>
                  </a:cxn>
                  <a:cxn ang="0">
                    <a:pos x="238" y="563"/>
                  </a:cxn>
                  <a:cxn ang="0">
                    <a:pos x="268" y="563"/>
                  </a:cxn>
                  <a:cxn ang="0">
                    <a:pos x="311" y="515"/>
                  </a:cxn>
                  <a:cxn ang="0">
                    <a:pos x="335" y="467"/>
                  </a:cxn>
                  <a:cxn ang="0">
                    <a:pos x="353" y="419"/>
                  </a:cxn>
                  <a:cxn ang="0">
                    <a:pos x="360" y="365"/>
                  </a:cxn>
                  <a:cxn ang="0">
                    <a:pos x="360" y="365"/>
                  </a:cxn>
                </a:cxnLst>
                <a:rect l="0" t="0" r="r" b="b"/>
                <a:pathLst>
                  <a:path w="360" h="563">
                    <a:moveTo>
                      <a:pt x="360" y="365"/>
                    </a:moveTo>
                    <a:lnTo>
                      <a:pt x="353" y="305"/>
                    </a:lnTo>
                    <a:lnTo>
                      <a:pt x="335" y="251"/>
                    </a:lnTo>
                    <a:lnTo>
                      <a:pt x="305" y="204"/>
                    </a:lnTo>
                    <a:lnTo>
                      <a:pt x="262" y="156"/>
                    </a:lnTo>
                    <a:lnTo>
                      <a:pt x="213" y="108"/>
                    </a:lnTo>
                    <a:lnTo>
                      <a:pt x="159" y="66"/>
                    </a:lnTo>
                    <a:lnTo>
                      <a:pt x="92" y="30"/>
                    </a:lnTo>
                    <a:lnTo>
                      <a:pt x="19" y="0"/>
                    </a:lnTo>
                    <a:lnTo>
                      <a:pt x="0" y="12"/>
                    </a:lnTo>
                    <a:lnTo>
                      <a:pt x="67" y="42"/>
                    </a:lnTo>
                    <a:lnTo>
                      <a:pt x="134" y="78"/>
                    </a:lnTo>
                    <a:lnTo>
                      <a:pt x="189" y="114"/>
                    </a:lnTo>
                    <a:lnTo>
                      <a:pt x="238" y="162"/>
                    </a:lnTo>
                    <a:lnTo>
                      <a:pt x="274" y="210"/>
                    </a:lnTo>
                    <a:lnTo>
                      <a:pt x="299" y="257"/>
                    </a:lnTo>
                    <a:lnTo>
                      <a:pt x="317" y="311"/>
                    </a:lnTo>
                    <a:lnTo>
                      <a:pt x="323" y="365"/>
                    </a:lnTo>
                    <a:lnTo>
                      <a:pt x="317" y="419"/>
                    </a:lnTo>
                    <a:lnTo>
                      <a:pt x="299" y="467"/>
                    </a:lnTo>
                    <a:lnTo>
                      <a:pt x="274" y="515"/>
                    </a:lnTo>
                    <a:lnTo>
                      <a:pt x="238" y="563"/>
                    </a:lnTo>
                    <a:lnTo>
                      <a:pt x="268" y="563"/>
                    </a:lnTo>
                    <a:lnTo>
                      <a:pt x="311" y="515"/>
                    </a:lnTo>
                    <a:lnTo>
                      <a:pt x="335" y="467"/>
                    </a:lnTo>
                    <a:lnTo>
                      <a:pt x="353" y="419"/>
                    </a:lnTo>
                    <a:lnTo>
                      <a:pt x="360" y="365"/>
                    </a:lnTo>
                    <a:lnTo>
                      <a:pt x="360" y="36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37" name="Freeform 33"/>
              <p:cNvSpPr>
                <a:spLocks/>
              </p:cNvSpPr>
              <p:nvPr/>
            </p:nvSpPr>
            <p:spPr bwMode="hidden">
              <a:xfrm>
                <a:off x="2318" y="3631"/>
                <a:ext cx="1078" cy="425"/>
              </a:xfrm>
              <a:custGeom>
                <a:avLst/>
                <a:gdLst/>
                <a:ahLst/>
                <a:cxnLst>
                  <a:cxn ang="0">
                    <a:pos x="1053" y="425"/>
                  </a:cxn>
                  <a:cxn ang="0">
                    <a:pos x="1078" y="419"/>
                  </a:cxn>
                  <a:cxn ang="0">
                    <a:pos x="1066" y="377"/>
                  </a:cxn>
                  <a:cxn ang="0">
                    <a:pos x="1047" y="336"/>
                  </a:cxn>
                  <a:cxn ang="0">
                    <a:pos x="986" y="252"/>
                  </a:cxn>
                  <a:cxn ang="0">
                    <a:pos x="907" y="180"/>
                  </a:cxn>
                  <a:cxn ang="0">
                    <a:pos x="810" y="120"/>
                  </a:cxn>
                  <a:cxn ang="0">
                    <a:pos x="694" y="72"/>
                  </a:cxn>
                  <a:cxn ang="0">
                    <a:pos x="560" y="30"/>
                  </a:cxn>
                  <a:cxn ang="0">
                    <a:pos x="420" y="6"/>
                  </a:cxn>
                  <a:cxn ang="0">
                    <a:pos x="268" y="0"/>
                  </a:cxn>
                  <a:cxn ang="0">
                    <a:pos x="134" y="6"/>
                  </a:cxn>
                  <a:cxn ang="0">
                    <a:pos x="0" y="24"/>
                  </a:cxn>
                  <a:cxn ang="0">
                    <a:pos x="12" y="36"/>
                  </a:cxn>
                  <a:cxn ang="0">
                    <a:pos x="134" y="18"/>
                  </a:cxn>
                  <a:cxn ang="0">
                    <a:pos x="268" y="12"/>
                  </a:cxn>
                  <a:cxn ang="0">
                    <a:pos x="420" y="18"/>
                  </a:cxn>
                  <a:cxn ang="0">
                    <a:pos x="554" y="42"/>
                  </a:cxn>
                  <a:cxn ang="0">
                    <a:pos x="682" y="84"/>
                  </a:cxn>
                  <a:cxn ang="0">
                    <a:pos x="798" y="132"/>
                  </a:cxn>
                  <a:cxn ang="0">
                    <a:pos x="895" y="192"/>
                  </a:cxn>
                  <a:cxn ang="0">
                    <a:pos x="968" y="264"/>
                  </a:cxn>
                  <a:cxn ang="0">
                    <a:pos x="999" y="300"/>
                  </a:cxn>
                  <a:cxn ang="0">
                    <a:pos x="1023" y="342"/>
                  </a:cxn>
                  <a:cxn ang="0">
                    <a:pos x="1041" y="383"/>
                  </a:cxn>
                  <a:cxn ang="0">
                    <a:pos x="1053" y="425"/>
                  </a:cxn>
                  <a:cxn ang="0">
                    <a:pos x="1053" y="425"/>
                  </a:cxn>
                </a:cxnLst>
                <a:rect l="0" t="0" r="r" b="b"/>
                <a:pathLst>
                  <a:path w="1078" h="425">
                    <a:moveTo>
                      <a:pt x="1053" y="425"/>
                    </a:moveTo>
                    <a:lnTo>
                      <a:pt x="1078" y="419"/>
                    </a:lnTo>
                    <a:lnTo>
                      <a:pt x="1066" y="377"/>
                    </a:lnTo>
                    <a:lnTo>
                      <a:pt x="1047" y="336"/>
                    </a:lnTo>
                    <a:lnTo>
                      <a:pt x="986" y="252"/>
                    </a:lnTo>
                    <a:lnTo>
                      <a:pt x="907" y="180"/>
                    </a:lnTo>
                    <a:lnTo>
                      <a:pt x="810" y="120"/>
                    </a:lnTo>
                    <a:lnTo>
                      <a:pt x="694" y="72"/>
                    </a:lnTo>
                    <a:lnTo>
                      <a:pt x="560" y="30"/>
                    </a:lnTo>
                    <a:lnTo>
                      <a:pt x="420" y="6"/>
                    </a:lnTo>
                    <a:lnTo>
                      <a:pt x="268" y="0"/>
                    </a:lnTo>
                    <a:lnTo>
                      <a:pt x="134" y="6"/>
                    </a:lnTo>
                    <a:lnTo>
                      <a:pt x="0" y="24"/>
                    </a:lnTo>
                    <a:lnTo>
                      <a:pt x="12" y="36"/>
                    </a:lnTo>
                    <a:lnTo>
                      <a:pt x="134" y="18"/>
                    </a:lnTo>
                    <a:lnTo>
                      <a:pt x="268" y="12"/>
                    </a:lnTo>
                    <a:lnTo>
                      <a:pt x="420" y="18"/>
                    </a:lnTo>
                    <a:lnTo>
                      <a:pt x="554" y="42"/>
                    </a:lnTo>
                    <a:lnTo>
                      <a:pt x="682" y="84"/>
                    </a:lnTo>
                    <a:lnTo>
                      <a:pt x="798" y="132"/>
                    </a:lnTo>
                    <a:lnTo>
                      <a:pt x="895" y="192"/>
                    </a:lnTo>
                    <a:lnTo>
                      <a:pt x="968" y="264"/>
                    </a:lnTo>
                    <a:lnTo>
                      <a:pt x="999" y="300"/>
                    </a:lnTo>
                    <a:lnTo>
                      <a:pt x="1023" y="342"/>
                    </a:lnTo>
                    <a:lnTo>
                      <a:pt x="1041" y="383"/>
                    </a:lnTo>
                    <a:lnTo>
                      <a:pt x="1053" y="425"/>
                    </a:lnTo>
                    <a:lnTo>
                      <a:pt x="1053" y="425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38" name="Freeform 34"/>
              <p:cNvSpPr>
                <a:spLocks/>
              </p:cNvSpPr>
              <p:nvPr/>
            </p:nvSpPr>
            <p:spPr bwMode="hidden">
              <a:xfrm>
                <a:off x="3304" y="4080"/>
                <a:ext cx="98" cy="234"/>
              </a:xfrm>
              <a:custGeom>
                <a:avLst/>
                <a:gdLst/>
                <a:ahLst/>
                <a:cxnLst>
                  <a:cxn ang="0">
                    <a:pos x="0" y="234"/>
                  </a:cxn>
                  <a:cxn ang="0">
                    <a:pos x="25" y="234"/>
                  </a:cxn>
                  <a:cxn ang="0">
                    <a:pos x="55" y="186"/>
                  </a:cxn>
                  <a:cxn ang="0">
                    <a:pos x="80" y="138"/>
                  </a:cxn>
                  <a:cxn ang="0">
                    <a:pos x="92" y="90"/>
                  </a:cxn>
                  <a:cxn ang="0">
                    <a:pos x="98" y="36"/>
                  </a:cxn>
                  <a:cxn ang="0">
                    <a:pos x="98" y="0"/>
                  </a:cxn>
                  <a:cxn ang="0">
                    <a:pos x="74" y="0"/>
                  </a:cxn>
                  <a:cxn ang="0">
                    <a:pos x="74" y="36"/>
                  </a:cxn>
                  <a:cxn ang="0">
                    <a:pos x="67" y="90"/>
                  </a:cxn>
                  <a:cxn ang="0">
                    <a:pos x="55" y="138"/>
                  </a:cxn>
                  <a:cxn ang="0">
                    <a:pos x="31" y="186"/>
                  </a:cxn>
                  <a:cxn ang="0">
                    <a:pos x="0" y="234"/>
                  </a:cxn>
                  <a:cxn ang="0">
                    <a:pos x="0" y="234"/>
                  </a:cxn>
                </a:cxnLst>
                <a:rect l="0" t="0" r="r" b="b"/>
                <a:pathLst>
                  <a:path w="98" h="234">
                    <a:moveTo>
                      <a:pt x="0" y="234"/>
                    </a:moveTo>
                    <a:lnTo>
                      <a:pt x="25" y="234"/>
                    </a:lnTo>
                    <a:lnTo>
                      <a:pt x="55" y="186"/>
                    </a:lnTo>
                    <a:lnTo>
                      <a:pt x="80" y="138"/>
                    </a:lnTo>
                    <a:lnTo>
                      <a:pt x="92" y="90"/>
                    </a:lnTo>
                    <a:lnTo>
                      <a:pt x="98" y="36"/>
                    </a:lnTo>
                    <a:lnTo>
                      <a:pt x="98" y="0"/>
                    </a:lnTo>
                    <a:lnTo>
                      <a:pt x="74" y="0"/>
                    </a:lnTo>
                    <a:lnTo>
                      <a:pt x="74" y="36"/>
                    </a:lnTo>
                    <a:lnTo>
                      <a:pt x="67" y="90"/>
                    </a:lnTo>
                    <a:lnTo>
                      <a:pt x="55" y="138"/>
                    </a:lnTo>
                    <a:lnTo>
                      <a:pt x="31" y="186"/>
                    </a:lnTo>
                    <a:lnTo>
                      <a:pt x="0" y="234"/>
                    </a:lnTo>
                    <a:lnTo>
                      <a:pt x="0" y="23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87843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39" name="Freeform 35"/>
              <p:cNvSpPr>
                <a:spLocks/>
              </p:cNvSpPr>
              <p:nvPr/>
            </p:nvSpPr>
            <p:spPr bwMode="hidden">
              <a:xfrm>
                <a:off x="1776" y="3673"/>
                <a:ext cx="481" cy="641"/>
              </a:xfrm>
              <a:custGeom>
                <a:avLst/>
                <a:gdLst/>
                <a:ahLst/>
                <a:cxnLst>
                  <a:cxn ang="0">
                    <a:pos x="18" y="443"/>
                  </a:cxn>
                  <a:cxn ang="0">
                    <a:pos x="24" y="371"/>
                  </a:cxn>
                  <a:cxn ang="0">
                    <a:pos x="55" y="305"/>
                  </a:cxn>
                  <a:cxn ang="0">
                    <a:pos x="91" y="246"/>
                  </a:cxn>
                  <a:cxn ang="0">
                    <a:pos x="146" y="186"/>
                  </a:cxn>
                  <a:cxn ang="0">
                    <a:pos x="213" y="132"/>
                  </a:cxn>
                  <a:cxn ang="0">
                    <a:pos x="292" y="84"/>
                  </a:cxn>
                  <a:cxn ang="0">
                    <a:pos x="384" y="48"/>
                  </a:cxn>
                  <a:cxn ang="0">
                    <a:pos x="481" y="12"/>
                  </a:cxn>
                  <a:cxn ang="0">
                    <a:pos x="457" y="0"/>
                  </a:cxn>
                  <a:cxn ang="0">
                    <a:pos x="359" y="36"/>
                  </a:cxn>
                  <a:cxn ang="0">
                    <a:pos x="274" y="78"/>
                  </a:cxn>
                  <a:cxn ang="0">
                    <a:pos x="195" y="126"/>
                  </a:cxn>
                  <a:cxn ang="0">
                    <a:pos x="128" y="180"/>
                  </a:cxn>
                  <a:cxn ang="0">
                    <a:pos x="73" y="240"/>
                  </a:cxn>
                  <a:cxn ang="0">
                    <a:pos x="37" y="305"/>
                  </a:cxn>
                  <a:cxn ang="0">
                    <a:pos x="6" y="371"/>
                  </a:cxn>
                  <a:cxn ang="0">
                    <a:pos x="0" y="443"/>
                  </a:cxn>
                  <a:cxn ang="0">
                    <a:pos x="6" y="497"/>
                  </a:cxn>
                  <a:cxn ang="0">
                    <a:pos x="18" y="545"/>
                  </a:cxn>
                  <a:cxn ang="0">
                    <a:pos x="43" y="593"/>
                  </a:cxn>
                  <a:cxn ang="0">
                    <a:pos x="73" y="641"/>
                  </a:cxn>
                  <a:cxn ang="0">
                    <a:pos x="97" y="641"/>
                  </a:cxn>
                  <a:cxn ang="0">
                    <a:pos x="67" y="593"/>
                  </a:cxn>
                  <a:cxn ang="0">
                    <a:pos x="43" y="545"/>
                  </a:cxn>
                  <a:cxn ang="0">
                    <a:pos x="24" y="497"/>
                  </a:cxn>
                  <a:cxn ang="0">
                    <a:pos x="18" y="443"/>
                  </a:cxn>
                  <a:cxn ang="0">
                    <a:pos x="18" y="443"/>
                  </a:cxn>
                </a:cxnLst>
                <a:rect l="0" t="0" r="r" b="b"/>
                <a:pathLst>
                  <a:path w="481" h="641">
                    <a:moveTo>
                      <a:pt x="18" y="443"/>
                    </a:moveTo>
                    <a:lnTo>
                      <a:pt x="24" y="371"/>
                    </a:lnTo>
                    <a:lnTo>
                      <a:pt x="55" y="305"/>
                    </a:lnTo>
                    <a:lnTo>
                      <a:pt x="91" y="246"/>
                    </a:lnTo>
                    <a:lnTo>
                      <a:pt x="146" y="186"/>
                    </a:lnTo>
                    <a:lnTo>
                      <a:pt x="213" y="132"/>
                    </a:lnTo>
                    <a:lnTo>
                      <a:pt x="292" y="84"/>
                    </a:lnTo>
                    <a:lnTo>
                      <a:pt x="384" y="48"/>
                    </a:lnTo>
                    <a:lnTo>
                      <a:pt x="481" y="12"/>
                    </a:lnTo>
                    <a:lnTo>
                      <a:pt x="457" y="0"/>
                    </a:lnTo>
                    <a:lnTo>
                      <a:pt x="359" y="36"/>
                    </a:lnTo>
                    <a:lnTo>
                      <a:pt x="274" y="78"/>
                    </a:lnTo>
                    <a:lnTo>
                      <a:pt x="195" y="126"/>
                    </a:lnTo>
                    <a:lnTo>
                      <a:pt x="128" y="180"/>
                    </a:lnTo>
                    <a:lnTo>
                      <a:pt x="73" y="240"/>
                    </a:lnTo>
                    <a:lnTo>
                      <a:pt x="37" y="305"/>
                    </a:lnTo>
                    <a:lnTo>
                      <a:pt x="6" y="371"/>
                    </a:lnTo>
                    <a:lnTo>
                      <a:pt x="0" y="443"/>
                    </a:lnTo>
                    <a:lnTo>
                      <a:pt x="6" y="497"/>
                    </a:lnTo>
                    <a:lnTo>
                      <a:pt x="18" y="545"/>
                    </a:lnTo>
                    <a:lnTo>
                      <a:pt x="43" y="593"/>
                    </a:lnTo>
                    <a:lnTo>
                      <a:pt x="73" y="641"/>
                    </a:lnTo>
                    <a:lnTo>
                      <a:pt x="97" y="641"/>
                    </a:lnTo>
                    <a:lnTo>
                      <a:pt x="67" y="593"/>
                    </a:lnTo>
                    <a:lnTo>
                      <a:pt x="43" y="545"/>
                    </a:lnTo>
                    <a:lnTo>
                      <a:pt x="24" y="497"/>
                    </a:lnTo>
                    <a:lnTo>
                      <a:pt x="18" y="443"/>
                    </a:lnTo>
                    <a:lnTo>
                      <a:pt x="18" y="443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5" name="Group 36"/>
            <p:cNvGrpSpPr>
              <a:grpSpLocks/>
            </p:cNvGrpSpPr>
            <p:nvPr userDrawn="1"/>
          </p:nvGrpSpPr>
          <p:grpSpPr bwMode="auto">
            <a:xfrm>
              <a:off x="4128" y="3360"/>
              <a:ext cx="1351" cy="821"/>
              <a:chOff x="4128" y="3360"/>
              <a:chExt cx="1351" cy="821"/>
            </a:xfrm>
          </p:grpSpPr>
          <p:sp>
            <p:nvSpPr>
              <p:cNvPr id="21541" name="Freeform 37"/>
              <p:cNvSpPr>
                <a:spLocks noEditPoints="1"/>
              </p:cNvSpPr>
              <p:nvPr/>
            </p:nvSpPr>
            <p:spPr bwMode="hidden">
              <a:xfrm>
                <a:off x="4200" y="3402"/>
                <a:ext cx="1201" cy="731"/>
              </a:xfrm>
              <a:custGeom>
                <a:avLst/>
                <a:gdLst/>
                <a:ahLst/>
                <a:cxnLst>
                  <a:cxn ang="0">
                    <a:pos x="484" y="6"/>
                  </a:cxn>
                  <a:cxn ang="0">
                    <a:pos x="263" y="60"/>
                  </a:cxn>
                  <a:cxn ang="0">
                    <a:pos x="101" y="162"/>
                  </a:cxn>
                  <a:cxn ang="0">
                    <a:pos x="12" y="294"/>
                  </a:cxn>
                  <a:cxn ang="0">
                    <a:pos x="0" y="366"/>
                  </a:cxn>
                  <a:cxn ang="0">
                    <a:pos x="12" y="437"/>
                  </a:cxn>
                  <a:cxn ang="0">
                    <a:pos x="101" y="569"/>
                  </a:cxn>
                  <a:cxn ang="0">
                    <a:pos x="263" y="671"/>
                  </a:cxn>
                  <a:cxn ang="0">
                    <a:pos x="484" y="725"/>
                  </a:cxn>
                  <a:cxn ang="0">
                    <a:pos x="723" y="725"/>
                  </a:cxn>
                  <a:cxn ang="0">
                    <a:pos x="938" y="671"/>
                  </a:cxn>
                  <a:cxn ang="0">
                    <a:pos x="1100" y="569"/>
                  </a:cxn>
                  <a:cxn ang="0">
                    <a:pos x="1189" y="437"/>
                  </a:cxn>
                  <a:cxn ang="0">
                    <a:pos x="1201" y="366"/>
                  </a:cxn>
                  <a:cxn ang="0">
                    <a:pos x="1189" y="294"/>
                  </a:cxn>
                  <a:cxn ang="0">
                    <a:pos x="1100" y="162"/>
                  </a:cxn>
                  <a:cxn ang="0">
                    <a:pos x="938" y="60"/>
                  </a:cxn>
                  <a:cxn ang="0">
                    <a:pos x="723" y="6"/>
                  </a:cxn>
                  <a:cxn ang="0">
                    <a:pos x="604" y="0"/>
                  </a:cxn>
                  <a:cxn ang="0">
                    <a:pos x="490" y="701"/>
                  </a:cxn>
                  <a:cxn ang="0">
                    <a:pos x="287" y="647"/>
                  </a:cxn>
                  <a:cxn ang="0">
                    <a:pos x="131" y="557"/>
                  </a:cxn>
                  <a:cxn ang="0">
                    <a:pos x="48" y="437"/>
                  </a:cxn>
                  <a:cxn ang="0">
                    <a:pos x="36" y="366"/>
                  </a:cxn>
                  <a:cxn ang="0">
                    <a:pos x="48" y="300"/>
                  </a:cxn>
                  <a:cxn ang="0">
                    <a:pos x="131" y="174"/>
                  </a:cxn>
                  <a:cxn ang="0">
                    <a:pos x="287" y="84"/>
                  </a:cxn>
                  <a:cxn ang="0">
                    <a:pos x="490" y="30"/>
                  </a:cxn>
                  <a:cxn ang="0">
                    <a:pos x="717" y="30"/>
                  </a:cxn>
                  <a:cxn ang="0">
                    <a:pos x="920" y="84"/>
                  </a:cxn>
                  <a:cxn ang="0">
                    <a:pos x="1070" y="174"/>
                  </a:cxn>
                  <a:cxn ang="0">
                    <a:pos x="1153" y="300"/>
                  </a:cxn>
                  <a:cxn ang="0">
                    <a:pos x="1153" y="437"/>
                  </a:cxn>
                  <a:cxn ang="0">
                    <a:pos x="1070" y="557"/>
                  </a:cxn>
                  <a:cxn ang="0">
                    <a:pos x="920" y="647"/>
                  </a:cxn>
                  <a:cxn ang="0">
                    <a:pos x="717" y="701"/>
                  </a:cxn>
                  <a:cxn ang="0">
                    <a:pos x="604" y="707"/>
                  </a:cxn>
                </a:cxnLst>
                <a:rect l="0" t="0" r="r" b="b"/>
                <a:pathLst>
                  <a:path w="1201" h="731">
                    <a:moveTo>
                      <a:pt x="604" y="0"/>
                    </a:moveTo>
                    <a:lnTo>
                      <a:pt x="484" y="6"/>
                    </a:lnTo>
                    <a:lnTo>
                      <a:pt x="370" y="30"/>
                    </a:lnTo>
                    <a:lnTo>
                      <a:pt x="263" y="60"/>
                    </a:lnTo>
                    <a:lnTo>
                      <a:pt x="179" y="108"/>
                    </a:lnTo>
                    <a:lnTo>
                      <a:pt x="101" y="162"/>
                    </a:lnTo>
                    <a:lnTo>
                      <a:pt x="48" y="222"/>
                    </a:lnTo>
                    <a:lnTo>
                      <a:pt x="12" y="294"/>
                    </a:lnTo>
                    <a:lnTo>
                      <a:pt x="6" y="330"/>
                    </a:lnTo>
                    <a:lnTo>
                      <a:pt x="0" y="366"/>
                    </a:lnTo>
                    <a:lnTo>
                      <a:pt x="6" y="401"/>
                    </a:lnTo>
                    <a:lnTo>
                      <a:pt x="12" y="437"/>
                    </a:lnTo>
                    <a:lnTo>
                      <a:pt x="48" y="509"/>
                    </a:lnTo>
                    <a:lnTo>
                      <a:pt x="101" y="569"/>
                    </a:lnTo>
                    <a:lnTo>
                      <a:pt x="179" y="623"/>
                    </a:lnTo>
                    <a:lnTo>
                      <a:pt x="263" y="671"/>
                    </a:lnTo>
                    <a:lnTo>
                      <a:pt x="370" y="701"/>
                    </a:lnTo>
                    <a:lnTo>
                      <a:pt x="484" y="725"/>
                    </a:lnTo>
                    <a:lnTo>
                      <a:pt x="604" y="731"/>
                    </a:lnTo>
                    <a:lnTo>
                      <a:pt x="723" y="725"/>
                    </a:lnTo>
                    <a:lnTo>
                      <a:pt x="837" y="701"/>
                    </a:lnTo>
                    <a:lnTo>
                      <a:pt x="938" y="671"/>
                    </a:lnTo>
                    <a:lnTo>
                      <a:pt x="1028" y="623"/>
                    </a:lnTo>
                    <a:lnTo>
                      <a:pt x="1100" y="569"/>
                    </a:lnTo>
                    <a:lnTo>
                      <a:pt x="1153" y="509"/>
                    </a:lnTo>
                    <a:lnTo>
                      <a:pt x="1189" y="437"/>
                    </a:lnTo>
                    <a:lnTo>
                      <a:pt x="1201" y="401"/>
                    </a:lnTo>
                    <a:lnTo>
                      <a:pt x="1201" y="366"/>
                    </a:lnTo>
                    <a:lnTo>
                      <a:pt x="1201" y="330"/>
                    </a:lnTo>
                    <a:lnTo>
                      <a:pt x="1189" y="294"/>
                    </a:lnTo>
                    <a:lnTo>
                      <a:pt x="1153" y="222"/>
                    </a:lnTo>
                    <a:lnTo>
                      <a:pt x="1100" y="162"/>
                    </a:lnTo>
                    <a:lnTo>
                      <a:pt x="1028" y="108"/>
                    </a:lnTo>
                    <a:lnTo>
                      <a:pt x="938" y="60"/>
                    </a:lnTo>
                    <a:lnTo>
                      <a:pt x="837" y="30"/>
                    </a:lnTo>
                    <a:lnTo>
                      <a:pt x="723" y="6"/>
                    </a:lnTo>
                    <a:lnTo>
                      <a:pt x="604" y="0"/>
                    </a:lnTo>
                    <a:lnTo>
                      <a:pt x="604" y="0"/>
                    </a:lnTo>
                    <a:close/>
                    <a:moveTo>
                      <a:pt x="604" y="707"/>
                    </a:moveTo>
                    <a:lnTo>
                      <a:pt x="490" y="701"/>
                    </a:lnTo>
                    <a:lnTo>
                      <a:pt x="382" y="683"/>
                    </a:lnTo>
                    <a:lnTo>
                      <a:pt x="287" y="647"/>
                    </a:lnTo>
                    <a:lnTo>
                      <a:pt x="203" y="611"/>
                    </a:lnTo>
                    <a:lnTo>
                      <a:pt x="131" y="557"/>
                    </a:lnTo>
                    <a:lnTo>
                      <a:pt x="83" y="497"/>
                    </a:lnTo>
                    <a:lnTo>
                      <a:pt x="48" y="437"/>
                    </a:lnTo>
                    <a:lnTo>
                      <a:pt x="42" y="401"/>
                    </a:lnTo>
                    <a:lnTo>
                      <a:pt x="36" y="366"/>
                    </a:lnTo>
                    <a:lnTo>
                      <a:pt x="42" y="330"/>
                    </a:lnTo>
                    <a:lnTo>
                      <a:pt x="48" y="300"/>
                    </a:lnTo>
                    <a:lnTo>
                      <a:pt x="83" y="234"/>
                    </a:lnTo>
                    <a:lnTo>
                      <a:pt x="131" y="174"/>
                    </a:lnTo>
                    <a:lnTo>
                      <a:pt x="203" y="126"/>
                    </a:lnTo>
                    <a:lnTo>
                      <a:pt x="287" y="84"/>
                    </a:lnTo>
                    <a:lnTo>
                      <a:pt x="382" y="54"/>
                    </a:lnTo>
                    <a:lnTo>
                      <a:pt x="490" y="30"/>
                    </a:lnTo>
                    <a:lnTo>
                      <a:pt x="604" y="24"/>
                    </a:lnTo>
                    <a:lnTo>
                      <a:pt x="717" y="30"/>
                    </a:lnTo>
                    <a:lnTo>
                      <a:pt x="825" y="54"/>
                    </a:lnTo>
                    <a:lnTo>
                      <a:pt x="920" y="84"/>
                    </a:lnTo>
                    <a:lnTo>
                      <a:pt x="1004" y="126"/>
                    </a:lnTo>
                    <a:lnTo>
                      <a:pt x="1070" y="174"/>
                    </a:lnTo>
                    <a:lnTo>
                      <a:pt x="1124" y="234"/>
                    </a:lnTo>
                    <a:lnTo>
                      <a:pt x="1153" y="300"/>
                    </a:lnTo>
                    <a:lnTo>
                      <a:pt x="1165" y="366"/>
                    </a:lnTo>
                    <a:lnTo>
                      <a:pt x="1153" y="437"/>
                    </a:lnTo>
                    <a:lnTo>
                      <a:pt x="1124" y="497"/>
                    </a:lnTo>
                    <a:lnTo>
                      <a:pt x="1070" y="557"/>
                    </a:lnTo>
                    <a:lnTo>
                      <a:pt x="1004" y="611"/>
                    </a:lnTo>
                    <a:lnTo>
                      <a:pt x="920" y="647"/>
                    </a:lnTo>
                    <a:lnTo>
                      <a:pt x="825" y="683"/>
                    </a:lnTo>
                    <a:lnTo>
                      <a:pt x="717" y="701"/>
                    </a:lnTo>
                    <a:lnTo>
                      <a:pt x="604" y="707"/>
                    </a:lnTo>
                    <a:lnTo>
                      <a:pt x="604" y="707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42" name="Freeform 38"/>
              <p:cNvSpPr>
                <a:spLocks/>
              </p:cNvSpPr>
              <p:nvPr/>
            </p:nvSpPr>
            <p:spPr bwMode="hidden">
              <a:xfrm>
                <a:off x="4128" y="3366"/>
                <a:ext cx="544" cy="737"/>
              </a:xfrm>
              <a:custGeom>
                <a:avLst/>
                <a:gdLst/>
                <a:ahLst/>
                <a:cxnLst>
                  <a:cxn ang="0">
                    <a:pos x="24" y="402"/>
                  </a:cxn>
                  <a:cxn ang="0">
                    <a:pos x="36" y="330"/>
                  </a:cxn>
                  <a:cxn ang="0">
                    <a:pos x="66" y="264"/>
                  </a:cxn>
                  <a:cxn ang="0">
                    <a:pos x="108" y="204"/>
                  </a:cxn>
                  <a:cxn ang="0">
                    <a:pos x="173" y="150"/>
                  </a:cxn>
                  <a:cxn ang="0">
                    <a:pos x="251" y="102"/>
                  </a:cxn>
                  <a:cxn ang="0">
                    <a:pos x="335" y="60"/>
                  </a:cxn>
                  <a:cxn ang="0">
                    <a:pos x="436" y="30"/>
                  </a:cxn>
                  <a:cxn ang="0">
                    <a:pos x="544" y="12"/>
                  </a:cxn>
                  <a:cxn ang="0">
                    <a:pos x="544" y="0"/>
                  </a:cxn>
                  <a:cxn ang="0">
                    <a:pos x="430" y="18"/>
                  </a:cxn>
                  <a:cxn ang="0">
                    <a:pos x="329" y="48"/>
                  </a:cxn>
                  <a:cxn ang="0">
                    <a:pos x="233" y="90"/>
                  </a:cxn>
                  <a:cxn ang="0">
                    <a:pos x="155" y="138"/>
                  </a:cxn>
                  <a:cxn ang="0">
                    <a:pos x="90" y="198"/>
                  </a:cxn>
                  <a:cxn ang="0">
                    <a:pos x="42" y="258"/>
                  </a:cxn>
                  <a:cxn ang="0">
                    <a:pos x="12" y="330"/>
                  </a:cxn>
                  <a:cxn ang="0">
                    <a:pos x="0" y="402"/>
                  </a:cxn>
                  <a:cxn ang="0">
                    <a:pos x="6" y="455"/>
                  </a:cxn>
                  <a:cxn ang="0">
                    <a:pos x="18" y="503"/>
                  </a:cxn>
                  <a:cxn ang="0">
                    <a:pos x="42" y="545"/>
                  </a:cxn>
                  <a:cxn ang="0">
                    <a:pos x="78" y="593"/>
                  </a:cxn>
                  <a:cxn ang="0">
                    <a:pos x="114" y="635"/>
                  </a:cxn>
                  <a:cxn ang="0">
                    <a:pos x="161" y="671"/>
                  </a:cxn>
                  <a:cxn ang="0">
                    <a:pos x="221" y="707"/>
                  </a:cxn>
                  <a:cxn ang="0">
                    <a:pos x="281" y="737"/>
                  </a:cxn>
                  <a:cxn ang="0">
                    <a:pos x="323" y="737"/>
                  </a:cxn>
                  <a:cxn ang="0">
                    <a:pos x="257" y="707"/>
                  </a:cxn>
                  <a:cxn ang="0">
                    <a:pos x="203" y="671"/>
                  </a:cxn>
                  <a:cxn ang="0">
                    <a:pos x="149" y="635"/>
                  </a:cxn>
                  <a:cxn ang="0">
                    <a:pos x="108" y="593"/>
                  </a:cxn>
                  <a:cxn ang="0">
                    <a:pos x="72" y="551"/>
                  </a:cxn>
                  <a:cxn ang="0">
                    <a:pos x="48" y="503"/>
                  </a:cxn>
                  <a:cxn ang="0">
                    <a:pos x="30" y="455"/>
                  </a:cxn>
                  <a:cxn ang="0">
                    <a:pos x="24" y="402"/>
                  </a:cxn>
                  <a:cxn ang="0">
                    <a:pos x="24" y="402"/>
                  </a:cxn>
                </a:cxnLst>
                <a:rect l="0" t="0" r="r" b="b"/>
                <a:pathLst>
                  <a:path w="544" h="737">
                    <a:moveTo>
                      <a:pt x="24" y="402"/>
                    </a:moveTo>
                    <a:lnTo>
                      <a:pt x="36" y="330"/>
                    </a:lnTo>
                    <a:lnTo>
                      <a:pt x="66" y="264"/>
                    </a:lnTo>
                    <a:lnTo>
                      <a:pt x="108" y="204"/>
                    </a:lnTo>
                    <a:lnTo>
                      <a:pt x="173" y="150"/>
                    </a:lnTo>
                    <a:lnTo>
                      <a:pt x="251" y="102"/>
                    </a:lnTo>
                    <a:lnTo>
                      <a:pt x="335" y="60"/>
                    </a:lnTo>
                    <a:lnTo>
                      <a:pt x="436" y="30"/>
                    </a:lnTo>
                    <a:lnTo>
                      <a:pt x="544" y="12"/>
                    </a:lnTo>
                    <a:lnTo>
                      <a:pt x="544" y="0"/>
                    </a:lnTo>
                    <a:lnTo>
                      <a:pt x="430" y="18"/>
                    </a:lnTo>
                    <a:lnTo>
                      <a:pt x="329" y="48"/>
                    </a:lnTo>
                    <a:lnTo>
                      <a:pt x="233" y="90"/>
                    </a:lnTo>
                    <a:lnTo>
                      <a:pt x="155" y="138"/>
                    </a:lnTo>
                    <a:lnTo>
                      <a:pt x="90" y="198"/>
                    </a:lnTo>
                    <a:lnTo>
                      <a:pt x="42" y="258"/>
                    </a:lnTo>
                    <a:lnTo>
                      <a:pt x="12" y="330"/>
                    </a:lnTo>
                    <a:lnTo>
                      <a:pt x="0" y="402"/>
                    </a:lnTo>
                    <a:lnTo>
                      <a:pt x="6" y="455"/>
                    </a:lnTo>
                    <a:lnTo>
                      <a:pt x="18" y="503"/>
                    </a:lnTo>
                    <a:lnTo>
                      <a:pt x="42" y="545"/>
                    </a:lnTo>
                    <a:lnTo>
                      <a:pt x="78" y="593"/>
                    </a:lnTo>
                    <a:lnTo>
                      <a:pt x="114" y="635"/>
                    </a:lnTo>
                    <a:lnTo>
                      <a:pt x="161" y="671"/>
                    </a:lnTo>
                    <a:lnTo>
                      <a:pt x="221" y="707"/>
                    </a:lnTo>
                    <a:lnTo>
                      <a:pt x="281" y="737"/>
                    </a:lnTo>
                    <a:lnTo>
                      <a:pt x="323" y="737"/>
                    </a:lnTo>
                    <a:lnTo>
                      <a:pt x="257" y="707"/>
                    </a:lnTo>
                    <a:lnTo>
                      <a:pt x="203" y="671"/>
                    </a:lnTo>
                    <a:lnTo>
                      <a:pt x="149" y="635"/>
                    </a:lnTo>
                    <a:lnTo>
                      <a:pt x="108" y="593"/>
                    </a:lnTo>
                    <a:lnTo>
                      <a:pt x="72" y="551"/>
                    </a:lnTo>
                    <a:lnTo>
                      <a:pt x="48" y="503"/>
                    </a:lnTo>
                    <a:lnTo>
                      <a:pt x="30" y="455"/>
                    </a:lnTo>
                    <a:lnTo>
                      <a:pt x="24" y="402"/>
                    </a:lnTo>
                    <a:lnTo>
                      <a:pt x="24" y="40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43" name="Freeform 39"/>
              <p:cNvSpPr>
                <a:spLocks/>
              </p:cNvSpPr>
              <p:nvPr/>
            </p:nvSpPr>
            <p:spPr bwMode="hidden">
              <a:xfrm>
                <a:off x="4792" y="3360"/>
                <a:ext cx="609" cy="252"/>
              </a:xfrm>
              <a:custGeom>
                <a:avLst/>
                <a:gdLst/>
                <a:ahLst/>
                <a:cxnLst>
                  <a:cxn ang="0">
                    <a:pos x="12" y="12"/>
                  </a:cxn>
                  <a:cxn ang="0">
                    <a:pos x="113" y="18"/>
                  </a:cxn>
                  <a:cxn ang="0">
                    <a:pos x="203" y="30"/>
                  </a:cxn>
                  <a:cxn ang="0">
                    <a:pos x="292" y="48"/>
                  </a:cxn>
                  <a:cxn ang="0">
                    <a:pos x="376" y="78"/>
                  </a:cxn>
                  <a:cxn ang="0">
                    <a:pos x="448" y="114"/>
                  </a:cxn>
                  <a:cxn ang="0">
                    <a:pos x="514" y="156"/>
                  </a:cxn>
                  <a:cxn ang="0">
                    <a:pos x="567" y="198"/>
                  </a:cxn>
                  <a:cxn ang="0">
                    <a:pos x="609" y="252"/>
                  </a:cxn>
                  <a:cxn ang="0">
                    <a:pos x="609" y="216"/>
                  </a:cxn>
                  <a:cxn ang="0">
                    <a:pos x="561" y="168"/>
                  </a:cxn>
                  <a:cxn ang="0">
                    <a:pos x="502" y="126"/>
                  </a:cxn>
                  <a:cxn ang="0">
                    <a:pos x="436" y="90"/>
                  </a:cxn>
                  <a:cxn ang="0">
                    <a:pos x="364" y="60"/>
                  </a:cxn>
                  <a:cxn ang="0">
                    <a:pos x="286" y="36"/>
                  </a:cxn>
                  <a:cxn ang="0">
                    <a:pos x="197" y="18"/>
                  </a:cxn>
                  <a:cxn ang="0">
                    <a:pos x="107" y="6"/>
                  </a:cxn>
                  <a:cxn ang="0">
                    <a:pos x="12" y="0"/>
                  </a:cxn>
                  <a:cxn ang="0">
                    <a:pos x="6" y="0"/>
                  </a:cxn>
                  <a:cxn ang="0">
                    <a:pos x="0" y="0"/>
                  </a:cxn>
                  <a:cxn ang="0">
                    <a:pos x="0" y="12"/>
                  </a:cxn>
                  <a:cxn ang="0">
                    <a:pos x="6" y="12"/>
                  </a:cxn>
                  <a:cxn ang="0">
                    <a:pos x="12" y="12"/>
                  </a:cxn>
                  <a:cxn ang="0">
                    <a:pos x="12" y="12"/>
                  </a:cxn>
                </a:cxnLst>
                <a:rect l="0" t="0" r="r" b="b"/>
                <a:pathLst>
                  <a:path w="609" h="252">
                    <a:moveTo>
                      <a:pt x="12" y="12"/>
                    </a:moveTo>
                    <a:lnTo>
                      <a:pt x="113" y="18"/>
                    </a:lnTo>
                    <a:lnTo>
                      <a:pt x="203" y="30"/>
                    </a:lnTo>
                    <a:lnTo>
                      <a:pt x="292" y="48"/>
                    </a:lnTo>
                    <a:lnTo>
                      <a:pt x="376" y="78"/>
                    </a:lnTo>
                    <a:lnTo>
                      <a:pt x="448" y="114"/>
                    </a:lnTo>
                    <a:lnTo>
                      <a:pt x="514" y="156"/>
                    </a:lnTo>
                    <a:lnTo>
                      <a:pt x="567" y="198"/>
                    </a:lnTo>
                    <a:lnTo>
                      <a:pt x="609" y="252"/>
                    </a:lnTo>
                    <a:lnTo>
                      <a:pt x="609" y="216"/>
                    </a:lnTo>
                    <a:lnTo>
                      <a:pt x="561" y="168"/>
                    </a:lnTo>
                    <a:lnTo>
                      <a:pt x="502" y="126"/>
                    </a:lnTo>
                    <a:lnTo>
                      <a:pt x="436" y="90"/>
                    </a:lnTo>
                    <a:lnTo>
                      <a:pt x="364" y="60"/>
                    </a:lnTo>
                    <a:lnTo>
                      <a:pt x="286" y="36"/>
                    </a:lnTo>
                    <a:lnTo>
                      <a:pt x="197" y="18"/>
                    </a:lnTo>
                    <a:lnTo>
                      <a:pt x="107" y="6"/>
                    </a:lnTo>
                    <a:lnTo>
                      <a:pt x="12" y="0"/>
                    </a:ln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12"/>
                    </a:lnTo>
                    <a:lnTo>
                      <a:pt x="12" y="12"/>
                    </a:lnTo>
                    <a:lnTo>
                      <a:pt x="12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44" name="Freeform 40"/>
              <p:cNvSpPr>
                <a:spLocks/>
              </p:cNvSpPr>
              <p:nvPr/>
            </p:nvSpPr>
            <p:spPr bwMode="hidden">
              <a:xfrm>
                <a:off x="5246" y="4007"/>
                <a:ext cx="72" cy="54"/>
              </a:xfrm>
              <a:custGeom>
                <a:avLst/>
                <a:gdLst/>
                <a:ahLst/>
                <a:cxnLst>
                  <a:cxn ang="0">
                    <a:pos x="72" y="0"/>
                  </a:cxn>
                  <a:cxn ang="0">
                    <a:pos x="36" y="30"/>
                  </a:cxn>
                  <a:cxn ang="0">
                    <a:pos x="0" y="54"/>
                  </a:cxn>
                  <a:cxn ang="0">
                    <a:pos x="36" y="54"/>
                  </a:cxn>
                  <a:cxn ang="0">
                    <a:pos x="54" y="42"/>
                  </a:cxn>
                  <a:cxn ang="0">
                    <a:pos x="72" y="24"/>
                  </a:cxn>
                  <a:cxn ang="0">
                    <a:pos x="72" y="24"/>
                  </a:cxn>
                  <a:cxn ang="0">
                    <a:pos x="72" y="0"/>
                  </a:cxn>
                  <a:cxn ang="0">
                    <a:pos x="72" y="0"/>
                  </a:cxn>
                </a:cxnLst>
                <a:rect l="0" t="0" r="r" b="b"/>
                <a:pathLst>
                  <a:path w="72" h="54">
                    <a:moveTo>
                      <a:pt x="72" y="0"/>
                    </a:moveTo>
                    <a:lnTo>
                      <a:pt x="36" y="30"/>
                    </a:lnTo>
                    <a:lnTo>
                      <a:pt x="0" y="54"/>
                    </a:lnTo>
                    <a:lnTo>
                      <a:pt x="36" y="54"/>
                    </a:lnTo>
                    <a:lnTo>
                      <a:pt x="54" y="42"/>
                    </a:lnTo>
                    <a:lnTo>
                      <a:pt x="72" y="24"/>
                    </a:lnTo>
                    <a:lnTo>
                      <a:pt x="72" y="24"/>
                    </a:lnTo>
                    <a:lnTo>
                      <a:pt x="72" y="0"/>
                    </a:lnTo>
                    <a:lnTo>
                      <a:pt x="72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45" name="Freeform 41"/>
              <p:cNvSpPr>
                <a:spLocks/>
              </p:cNvSpPr>
              <p:nvPr/>
            </p:nvSpPr>
            <p:spPr bwMode="hidden">
              <a:xfrm>
                <a:off x="4505" y="4073"/>
                <a:ext cx="705" cy="108"/>
              </a:xfrm>
              <a:custGeom>
                <a:avLst/>
                <a:gdLst/>
                <a:ahLst/>
                <a:cxnLst>
                  <a:cxn ang="0">
                    <a:pos x="299" y="90"/>
                  </a:cxn>
                  <a:cxn ang="0">
                    <a:pos x="221" y="90"/>
                  </a:cxn>
                  <a:cxn ang="0">
                    <a:pos x="143" y="78"/>
                  </a:cxn>
                  <a:cxn ang="0">
                    <a:pos x="0" y="48"/>
                  </a:cxn>
                  <a:cxn ang="0">
                    <a:pos x="0" y="66"/>
                  </a:cxn>
                  <a:cxn ang="0">
                    <a:pos x="143" y="96"/>
                  </a:cxn>
                  <a:cxn ang="0">
                    <a:pos x="221" y="108"/>
                  </a:cxn>
                  <a:cxn ang="0">
                    <a:pos x="299" y="108"/>
                  </a:cxn>
                  <a:cxn ang="0">
                    <a:pos x="412" y="102"/>
                  </a:cxn>
                  <a:cxn ang="0">
                    <a:pos x="520" y="84"/>
                  </a:cxn>
                  <a:cxn ang="0">
                    <a:pos x="615" y="60"/>
                  </a:cxn>
                  <a:cxn ang="0">
                    <a:pos x="705" y="24"/>
                  </a:cxn>
                  <a:cxn ang="0">
                    <a:pos x="705" y="0"/>
                  </a:cxn>
                  <a:cxn ang="0">
                    <a:pos x="615" y="42"/>
                  </a:cxn>
                  <a:cxn ang="0">
                    <a:pos x="520" y="66"/>
                  </a:cxn>
                  <a:cxn ang="0">
                    <a:pos x="412" y="84"/>
                  </a:cxn>
                  <a:cxn ang="0">
                    <a:pos x="299" y="90"/>
                  </a:cxn>
                  <a:cxn ang="0">
                    <a:pos x="299" y="90"/>
                  </a:cxn>
                </a:cxnLst>
                <a:rect l="0" t="0" r="r" b="b"/>
                <a:pathLst>
                  <a:path w="705" h="108">
                    <a:moveTo>
                      <a:pt x="299" y="90"/>
                    </a:moveTo>
                    <a:lnTo>
                      <a:pt x="221" y="90"/>
                    </a:lnTo>
                    <a:lnTo>
                      <a:pt x="143" y="78"/>
                    </a:lnTo>
                    <a:lnTo>
                      <a:pt x="0" y="48"/>
                    </a:lnTo>
                    <a:lnTo>
                      <a:pt x="0" y="66"/>
                    </a:lnTo>
                    <a:lnTo>
                      <a:pt x="143" y="96"/>
                    </a:lnTo>
                    <a:lnTo>
                      <a:pt x="221" y="108"/>
                    </a:lnTo>
                    <a:lnTo>
                      <a:pt x="299" y="108"/>
                    </a:lnTo>
                    <a:lnTo>
                      <a:pt x="412" y="102"/>
                    </a:lnTo>
                    <a:lnTo>
                      <a:pt x="520" y="84"/>
                    </a:lnTo>
                    <a:lnTo>
                      <a:pt x="615" y="60"/>
                    </a:lnTo>
                    <a:lnTo>
                      <a:pt x="705" y="24"/>
                    </a:lnTo>
                    <a:lnTo>
                      <a:pt x="705" y="0"/>
                    </a:lnTo>
                    <a:lnTo>
                      <a:pt x="615" y="42"/>
                    </a:lnTo>
                    <a:lnTo>
                      <a:pt x="520" y="66"/>
                    </a:lnTo>
                    <a:lnTo>
                      <a:pt x="412" y="84"/>
                    </a:lnTo>
                    <a:lnTo>
                      <a:pt x="299" y="90"/>
                    </a:lnTo>
                    <a:lnTo>
                      <a:pt x="29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46" name="Freeform 42"/>
              <p:cNvSpPr>
                <a:spLocks/>
              </p:cNvSpPr>
              <p:nvPr/>
            </p:nvSpPr>
            <p:spPr bwMode="hidden">
              <a:xfrm>
                <a:off x="5336" y="3654"/>
                <a:ext cx="143" cy="341"/>
              </a:xfrm>
              <a:custGeom>
                <a:avLst/>
                <a:gdLst/>
                <a:ahLst/>
                <a:cxnLst>
                  <a:cxn ang="0">
                    <a:pos x="119" y="114"/>
                  </a:cxn>
                  <a:cxn ang="0">
                    <a:pos x="113" y="173"/>
                  </a:cxn>
                  <a:cxn ang="0">
                    <a:pos x="89" y="239"/>
                  </a:cxn>
                  <a:cxn ang="0">
                    <a:pos x="47" y="293"/>
                  </a:cxn>
                  <a:cxn ang="0">
                    <a:pos x="0" y="341"/>
                  </a:cxn>
                  <a:cxn ang="0">
                    <a:pos x="29" y="341"/>
                  </a:cxn>
                  <a:cxn ang="0">
                    <a:pos x="77" y="287"/>
                  </a:cxn>
                  <a:cxn ang="0">
                    <a:pos x="113" y="233"/>
                  </a:cxn>
                  <a:cxn ang="0">
                    <a:pos x="137" y="173"/>
                  </a:cxn>
                  <a:cxn ang="0">
                    <a:pos x="143" y="114"/>
                  </a:cxn>
                  <a:cxn ang="0">
                    <a:pos x="137" y="60"/>
                  </a:cxn>
                  <a:cxn ang="0">
                    <a:pos x="119" y="0"/>
                  </a:cxn>
                  <a:cxn ang="0">
                    <a:pos x="89" y="0"/>
                  </a:cxn>
                  <a:cxn ang="0">
                    <a:pos x="113" y="60"/>
                  </a:cxn>
                  <a:cxn ang="0">
                    <a:pos x="119" y="114"/>
                  </a:cxn>
                  <a:cxn ang="0">
                    <a:pos x="119" y="114"/>
                  </a:cxn>
                </a:cxnLst>
                <a:rect l="0" t="0" r="r" b="b"/>
                <a:pathLst>
                  <a:path w="143" h="341">
                    <a:moveTo>
                      <a:pt x="119" y="114"/>
                    </a:moveTo>
                    <a:lnTo>
                      <a:pt x="113" y="173"/>
                    </a:lnTo>
                    <a:lnTo>
                      <a:pt x="89" y="239"/>
                    </a:lnTo>
                    <a:lnTo>
                      <a:pt x="47" y="293"/>
                    </a:lnTo>
                    <a:lnTo>
                      <a:pt x="0" y="341"/>
                    </a:lnTo>
                    <a:lnTo>
                      <a:pt x="29" y="341"/>
                    </a:lnTo>
                    <a:lnTo>
                      <a:pt x="77" y="287"/>
                    </a:lnTo>
                    <a:lnTo>
                      <a:pt x="113" y="233"/>
                    </a:lnTo>
                    <a:lnTo>
                      <a:pt x="137" y="173"/>
                    </a:lnTo>
                    <a:lnTo>
                      <a:pt x="143" y="114"/>
                    </a:lnTo>
                    <a:lnTo>
                      <a:pt x="137" y="60"/>
                    </a:lnTo>
                    <a:lnTo>
                      <a:pt x="119" y="0"/>
                    </a:lnTo>
                    <a:lnTo>
                      <a:pt x="89" y="0"/>
                    </a:lnTo>
                    <a:lnTo>
                      <a:pt x="113" y="60"/>
                    </a:lnTo>
                    <a:lnTo>
                      <a:pt x="119" y="114"/>
                    </a:lnTo>
                    <a:lnTo>
                      <a:pt x="119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47" name="Freeform 43"/>
              <p:cNvSpPr>
                <a:spLocks/>
              </p:cNvSpPr>
              <p:nvPr/>
            </p:nvSpPr>
            <p:spPr bwMode="hidden">
              <a:xfrm>
                <a:off x="5061" y="3624"/>
                <a:ext cx="83" cy="90"/>
              </a:xfrm>
              <a:custGeom>
                <a:avLst/>
                <a:gdLst/>
                <a:ahLst/>
                <a:cxnLst>
                  <a:cxn ang="0">
                    <a:pos x="59" y="90"/>
                  </a:cxn>
                  <a:cxn ang="0">
                    <a:pos x="83" y="84"/>
                  </a:cxn>
                  <a:cxn ang="0">
                    <a:pos x="71" y="60"/>
                  </a:cxn>
                  <a:cxn ang="0">
                    <a:pos x="53" y="42"/>
                  </a:cxn>
                  <a:cxn ang="0">
                    <a:pos x="6" y="0"/>
                  </a:cxn>
                  <a:cxn ang="0">
                    <a:pos x="0" y="18"/>
                  </a:cxn>
                  <a:cxn ang="0">
                    <a:pos x="35" y="48"/>
                  </a:cxn>
                  <a:cxn ang="0">
                    <a:pos x="59" y="90"/>
                  </a:cxn>
                  <a:cxn ang="0">
                    <a:pos x="59" y="90"/>
                  </a:cxn>
                </a:cxnLst>
                <a:rect l="0" t="0" r="r" b="b"/>
                <a:pathLst>
                  <a:path w="83" h="90">
                    <a:moveTo>
                      <a:pt x="59" y="90"/>
                    </a:moveTo>
                    <a:lnTo>
                      <a:pt x="83" y="84"/>
                    </a:lnTo>
                    <a:lnTo>
                      <a:pt x="71" y="60"/>
                    </a:lnTo>
                    <a:lnTo>
                      <a:pt x="53" y="42"/>
                    </a:lnTo>
                    <a:lnTo>
                      <a:pt x="6" y="0"/>
                    </a:lnTo>
                    <a:lnTo>
                      <a:pt x="0" y="18"/>
                    </a:lnTo>
                    <a:lnTo>
                      <a:pt x="35" y="48"/>
                    </a:lnTo>
                    <a:lnTo>
                      <a:pt x="59" y="90"/>
                    </a:lnTo>
                    <a:lnTo>
                      <a:pt x="59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48" name="Freeform 44"/>
              <p:cNvSpPr>
                <a:spLocks/>
              </p:cNvSpPr>
              <p:nvPr/>
            </p:nvSpPr>
            <p:spPr bwMode="hidden">
              <a:xfrm>
                <a:off x="4445" y="3552"/>
                <a:ext cx="717" cy="431"/>
              </a:xfrm>
              <a:custGeom>
                <a:avLst/>
                <a:gdLst/>
                <a:ahLst/>
                <a:cxnLst>
                  <a:cxn ang="0">
                    <a:pos x="693" y="216"/>
                  </a:cxn>
                  <a:cxn ang="0">
                    <a:pos x="687" y="257"/>
                  </a:cxn>
                  <a:cxn ang="0">
                    <a:pos x="669" y="293"/>
                  </a:cxn>
                  <a:cxn ang="0">
                    <a:pos x="633" y="329"/>
                  </a:cxn>
                  <a:cxn ang="0">
                    <a:pos x="598" y="359"/>
                  </a:cxn>
                  <a:cxn ang="0">
                    <a:pos x="544" y="383"/>
                  </a:cxn>
                  <a:cxn ang="0">
                    <a:pos x="490" y="401"/>
                  </a:cxn>
                  <a:cxn ang="0">
                    <a:pos x="424" y="413"/>
                  </a:cxn>
                  <a:cxn ang="0">
                    <a:pos x="359" y="419"/>
                  </a:cxn>
                  <a:cxn ang="0">
                    <a:pos x="293" y="413"/>
                  </a:cxn>
                  <a:cxn ang="0">
                    <a:pos x="227" y="401"/>
                  </a:cxn>
                  <a:cxn ang="0">
                    <a:pos x="173" y="383"/>
                  </a:cxn>
                  <a:cxn ang="0">
                    <a:pos x="119" y="359"/>
                  </a:cxn>
                  <a:cxn ang="0">
                    <a:pos x="84" y="329"/>
                  </a:cxn>
                  <a:cxn ang="0">
                    <a:pos x="48" y="293"/>
                  </a:cxn>
                  <a:cxn ang="0">
                    <a:pos x="30" y="257"/>
                  </a:cxn>
                  <a:cxn ang="0">
                    <a:pos x="24" y="216"/>
                  </a:cxn>
                  <a:cxn ang="0">
                    <a:pos x="30" y="174"/>
                  </a:cxn>
                  <a:cxn ang="0">
                    <a:pos x="48" y="138"/>
                  </a:cxn>
                  <a:cxn ang="0">
                    <a:pos x="84" y="102"/>
                  </a:cxn>
                  <a:cxn ang="0">
                    <a:pos x="119" y="72"/>
                  </a:cxn>
                  <a:cxn ang="0">
                    <a:pos x="173" y="48"/>
                  </a:cxn>
                  <a:cxn ang="0">
                    <a:pos x="227" y="30"/>
                  </a:cxn>
                  <a:cxn ang="0">
                    <a:pos x="293" y="18"/>
                  </a:cxn>
                  <a:cxn ang="0">
                    <a:pos x="359" y="12"/>
                  </a:cxn>
                  <a:cxn ang="0">
                    <a:pos x="418" y="18"/>
                  </a:cxn>
                  <a:cxn ang="0">
                    <a:pos x="478" y="30"/>
                  </a:cxn>
                  <a:cxn ang="0">
                    <a:pos x="532" y="48"/>
                  </a:cxn>
                  <a:cxn ang="0">
                    <a:pos x="580" y="66"/>
                  </a:cxn>
                  <a:cxn ang="0">
                    <a:pos x="586" y="48"/>
                  </a:cxn>
                  <a:cxn ang="0">
                    <a:pos x="478" y="12"/>
                  </a:cxn>
                  <a:cxn ang="0">
                    <a:pos x="418" y="6"/>
                  </a:cxn>
                  <a:cxn ang="0">
                    <a:pos x="359" y="0"/>
                  </a:cxn>
                  <a:cxn ang="0">
                    <a:pos x="287" y="6"/>
                  </a:cxn>
                  <a:cxn ang="0">
                    <a:pos x="221" y="18"/>
                  </a:cxn>
                  <a:cxn ang="0">
                    <a:pos x="161" y="36"/>
                  </a:cxn>
                  <a:cxn ang="0">
                    <a:pos x="107" y="66"/>
                  </a:cxn>
                  <a:cxn ang="0">
                    <a:pos x="60" y="96"/>
                  </a:cxn>
                  <a:cxn ang="0">
                    <a:pos x="30" y="132"/>
                  </a:cxn>
                  <a:cxn ang="0">
                    <a:pos x="6" y="174"/>
                  </a:cxn>
                  <a:cxn ang="0">
                    <a:pos x="0" y="216"/>
                  </a:cxn>
                  <a:cxn ang="0">
                    <a:pos x="6" y="257"/>
                  </a:cxn>
                  <a:cxn ang="0">
                    <a:pos x="30" y="299"/>
                  </a:cxn>
                  <a:cxn ang="0">
                    <a:pos x="60" y="335"/>
                  </a:cxn>
                  <a:cxn ang="0">
                    <a:pos x="107" y="371"/>
                  </a:cxn>
                  <a:cxn ang="0">
                    <a:pos x="161" y="395"/>
                  </a:cxn>
                  <a:cxn ang="0">
                    <a:pos x="221" y="413"/>
                  </a:cxn>
                  <a:cxn ang="0">
                    <a:pos x="287" y="425"/>
                  </a:cxn>
                  <a:cxn ang="0">
                    <a:pos x="359" y="431"/>
                  </a:cxn>
                  <a:cxn ang="0">
                    <a:pos x="430" y="425"/>
                  </a:cxn>
                  <a:cxn ang="0">
                    <a:pos x="496" y="413"/>
                  </a:cxn>
                  <a:cxn ang="0">
                    <a:pos x="562" y="395"/>
                  </a:cxn>
                  <a:cxn ang="0">
                    <a:pos x="610" y="371"/>
                  </a:cxn>
                  <a:cxn ang="0">
                    <a:pos x="657" y="335"/>
                  </a:cxn>
                  <a:cxn ang="0">
                    <a:pos x="687" y="299"/>
                  </a:cxn>
                  <a:cxn ang="0">
                    <a:pos x="711" y="257"/>
                  </a:cxn>
                  <a:cxn ang="0">
                    <a:pos x="717" y="216"/>
                  </a:cxn>
                  <a:cxn ang="0">
                    <a:pos x="717" y="204"/>
                  </a:cxn>
                  <a:cxn ang="0">
                    <a:pos x="711" y="192"/>
                  </a:cxn>
                  <a:cxn ang="0">
                    <a:pos x="687" y="198"/>
                  </a:cxn>
                  <a:cxn ang="0">
                    <a:pos x="693" y="210"/>
                  </a:cxn>
                  <a:cxn ang="0">
                    <a:pos x="693" y="216"/>
                  </a:cxn>
                  <a:cxn ang="0">
                    <a:pos x="693" y="216"/>
                  </a:cxn>
                </a:cxnLst>
                <a:rect l="0" t="0" r="r" b="b"/>
                <a:pathLst>
                  <a:path w="717" h="431">
                    <a:moveTo>
                      <a:pt x="693" y="216"/>
                    </a:moveTo>
                    <a:lnTo>
                      <a:pt x="687" y="257"/>
                    </a:lnTo>
                    <a:lnTo>
                      <a:pt x="669" y="293"/>
                    </a:lnTo>
                    <a:lnTo>
                      <a:pt x="633" y="329"/>
                    </a:lnTo>
                    <a:lnTo>
                      <a:pt x="598" y="359"/>
                    </a:lnTo>
                    <a:lnTo>
                      <a:pt x="544" y="383"/>
                    </a:lnTo>
                    <a:lnTo>
                      <a:pt x="490" y="401"/>
                    </a:lnTo>
                    <a:lnTo>
                      <a:pt x="424" y="413"/>
                    </a:lnTo>
                    <a:lnTo>
                      <a:pt x="359" y="419"/>
                    </a:lnTo>
                    <a:lnTo>
                      <a:pt x="293" y="413"/>
                    </a:lnTo>
                    <a:lnTo>
                      <a:pt x="227" y="401"/>
                    </a:lnTo>
                    <a:lnTo>
                      <a:pt x="173" y="383"/>
                    </a:lnTo>
                    <a:lnTo>
                      <a:pt x="119" y="359"/>
                    </a:lnTo>
                    <a:lnTo>
                      <a:pt x="84" y="329"/>
                    </a:lnTo>
                    <a:lnTo>
                      <a:pt x="48" y="293"/>
                    </a:lnTo>
                    <a:lnTo>
                      <a:pt x="30" y="257"/>
                    </a:lnTo>
                    <a:lnTo>
                      <a:pt x="24" y="216"/>
                    </a:lnTo>
                    <a:lnTo>
                      <a:pt x="30" y="174"/>
                    </a:lnTo>
                    <a:lnTo>
                      <a:pt x="48" y="138"/>
                    </a:lnTo>
                    <a:lnTo>
                      <a:pt x="84" y="102"/>
                    </a:lnTo>
                    <a:lnTo>
                      <a:pt x="119" y="72"/>
                    </a:lnTo>
                    <a:lnTo>
                      <a:pt x="173" y="48"/>
                    </a:lnTo>
                    <a:lnTo>
                      <a:pt x="227" y="30"/>
                    </a:lnTo>
                    <a:lnTo>
                      <a:pt x="293" y="18"/>
                    </a:lnTo>
                    <a:lnTo>
                      <a:pt x="359" y="12"/>
                    </a:lnTo>
                    <a:lnTo>
                      <a:pt x="418" y="18"/>
                    </a:lnTo>
                    <a:lnTo>
                      <a:pt x="478" y="30"/>
                    </a:lnTo>
                    <a:lnTo>
                      <a:pt x="532" y="48"/>
                    </a:lnTo>
                    <a:lnTo>
                      <a:pt x="580" y="66"/>
                    </a:lnTo>
                    <a:lnTo>
                      <a:pt x="586" y="48"/>
                    </a:lnTo>
                    <a:lnTo>
                      <a:pt x="478" y="12"/>
                    </a:lnTo>
                    <a:lnTo>
                      <a:pt x="418" y="6"/>
                    </a:lnTo>
                    <a:lnTo>
                      <a:pt x="359" y="0"/>
                    </a:lnTo>
                    <a:lnTo>
                      <a:pt x="287" y="6"/>
                    </a:lnTo>
                    <a:lnTo>
                      <a:pt x="221" y="18"/>
                    </a:lnTo>
                    <a:lnTo>
                      <a:pt x="161" y="36"/>
                    </a:lnTo>
                    <a:lnTo>
                      <a:pt x="107" y="66"/>
                    </a:lnTo>
                    <a:lnTo>
                      <a:pt x="60" y="96"/>
                    </a:lnTo>
                    <a:lnTo>
                      <a:pt x="30" y="132"/>
                    </a:lnTo>
                    <a:lnTo>
                      <a:pt x="6" y="174"/>
                    </a:lnTo>
                    <a:lnTo>
                      <a:pt x="0" y="216"/>
                    </a:lnTo>
                    <a:lnTo>
                      <a:pt x="6" y="257"/>
                    </a:lnTo>
                    <a:lnTo>
                      <a:pt x="30" y="299"/>
                    </a:lnTo>
                    <a:lnTo>
                      <a:pt x="60" y="335"/>
                    </a:lnTo>
                    <a:lnTo>
                      <a:pt x="107" y="371"/>
                    </a:lnTo>
                    <a:lnTo>
                      <a:pt x="161" y="395"/>
                    </a:lnTo>
                    <a:lnTo>
                      <a:pt x="221" y="413"/>
                    </a:lnTo>
                    <a:lnTo>
                      <a:pt x="287" y="425"/>
                    </a:lnTo>
                    <a:lnTo>
                      <a:pt x="359" y="431"/>
                    </a:lnTo>
                    <a:lnTo>
                      <a:pt x="430" y="425"/>
                    </a:lnTo>
                    <a:lnTo>
                      <a:pt x="496" y="413"/>
                    </a:lnTo>
                    <a:lnTo>
                      <a:pt x="562" y="395"/>
                    </a:lnTo>
                    <a:lnTo>
                      <a:pt x="610" y="371"/>
                    </a:lnTo>
                    <a:lnTo>
                      <a:pt x="657" y="335"/>
                    </a:lnTo>
                    <a:lnTo>
                      <a:pt x="687" y="299"/>
                    </a:lnTo>
                    <a:lnTo>
                      <a:pt x="711" y="257"/>
                    </a:lnTo>
                    <a:lnTo>
                      <a:pt x="717" y="216"/>
                    </a:lnTo>
                    <a:lnTo>
                      <a:pt x="717" y="204"/>
                    </a:lnTo>
                    <a:lnTo>
                      <a:pt x="711" y="192"/>
                    </a:lnTo>
                    <a:lnTo>
                      <a:pt x="687" y="198"/>
                    </a:lnTo>
                    <a:lnTo>
                      <a:pt x="693" y="210"/>
                    </a:lnTo>
                    <a:lnTo>
                      <a:pt x="693" y="216"/>
                    </a:lnTo>
                    <a:lnTo>
                      <a:pt x="693" y="216"/>
                    </a:ln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49" name="Freeform 45"/>
              <p:cNvSpPr>
                <a:spLocks/>
              </p:cNvSpPr>
              <p:nvPr/>
            </p:nvSpPr>
            <p:spPr bwMode="hidden">
              <a:xfrm>
                <a:off x="4349" y="3510"/>
                <a:ext cx="909" cy="533"/>
              </a:xfrm>
              <a:custGeom>
                <a:avLst/>
                <a:gdLst/>
                <a:ahLst/>
                <a:cxnLst>
                  <a:cxn ang="0">
                    <a:pos x="616" y="0"/>
                  </a:cxn>
                  <a:cxn ang="0">
                    <a:pos x="616" y="18"/>
                  </a:cxn>
                  <a:cxn ang="0">
                    <a:pos x="724" y="60"/>
                  </a:cxn>
                  <a:cxn ang="0">
                    <a:pos x="765" y="84"/>
                  </a:cxn>
                  <a:cxn ang="0">
                    <a:pos x="807" y="114"/>
                  </a:cxn>
                  <a:cxn ang="0">
                    <a:pos x="837" y="144"/>
                  </a:cxn>
                  <a:cxn ang="0">
                    <a:pos x="861" y="180"/>
                  </a:cxn>
                  <a:cxn ang="0">
                    <a:pos x="873" y="216"/>
                  </a:cxn>
                  <a:cxn ang="0">
                    <a:pos x="879" y="258"/>
                  </a:cxn>
                  <a:cxn ang="0">
                    <a:pos x="873" y="311"/>
                  </a:cxn>
                  <a:cxn ang="0">
                    <a:pos x="843" y="359"/>
                  </a:cxn>
                  <a:cxn ang="0">
                    <a:pos x="807" y="401"/>
                  </a:cxn>
                  <a:cxn ang="0">
                    <a:pos x="753" y="443"/>
                  </a:cxn>
                  <a:cxn ang="0">
                    <a:pos x="694" y="473"/>
                  </a:cxn>
                  <a:cxn ang="0">
                    <a:pos x="622" y="497"/>
                  </a:cxn>
                  <a:cxn ang="0">
                    <a:pos x="538" y="509"/>
                  </a:cxn>
                  <a:cxn ang="0">
                    <a:pos x="455" y="515"/>
                  </a:cxn>
                  <a:cxn ang="0">
                    <a:pos x="371" y="509"/>
                  </a:cxn>
                  <a:cxn ang="0">
                    <a:pos x="287" y="497"/>
                  </a:cxn>
                  <a:cxn ang="0">
                    <a:pos x="215" y="473"/>
                  </a:cxn>
                  <a:cxn ang="0">
                    <a:pos x="156" y="443"/>
                  </a:cxn>
                  <a:cxn ang="0">
                    <a:pos x="102" y="401"/>
                  </a:cxn>
                  <a:cxn ang="0">
                    <a:pos x="66" y="359"/>
                  </a:cxn>
                  <a:cxn ang="0">
                    <a:pos x="36" y="311"/>
                  </a:cxn>
                  <a:cxn ang="0">
                    <a:pos x="30" y="258"/>
                  </a:cxn>
                  <a:cxn ang="0">
                    <a:pos x="36" y="222"/>
                  </a:cxn>
                  <a:cxn ang="0">
                    <a:pos x="48" y="186"/>
                  </a:cxn>
                  <a:cxn ang="0">
                    <a:pos x="66" y="156"/>
                  </a:cxn>
                  <a:cxn ang="0">
                    <a:pos x="90" y="126"/>
                  </a:cxn>
                  <a:cxn ang="0">
                    <a:pos x="66" y="114"/>
                  </a:cxn>
                  <a:cxn ang="0">
                    <a:pos x="36" y="144"/>
                  </a:cxn>
                  <a:cxn ang="0">
                    <a:pos x="18" y="180"/>
                  </a:cxn>
                  <a:cxn ang="0">
                    <a:pos x="6" y="216"/>
                  </a:cxn>
                  <a:cxn ang="0">
                    <a:pos x="0" y="258"/>
                  </a:cxn>
                  <a:cxn ang="0">
                    <a:pos x="12" y="311"/>
                  </a:cxn>
                  <a:cxn ang="0">
                    <a:pos x="36" y="365"/>
                  </a:cxn>
                  <a:cxn ang="0">
                    <a:pos x="78" y="413"/>
                  </a:cxn>
                  <a:cxn ang="0">
                    <a:pos x="132" y="449"/>
                  </a:cxn>
                  <a:cxn ang="0">
                    <a:pos x="203" y="485"/>
                  </a:cxn>
                  <a:cxn ang="0">
                    <a:pos x="275" y="509"/>
                  </a:cxn>
                  <a:cxn ang="0">
                    <a:pos x="365" y="527"/>
                  </a:cxn>
                  <a:cxn ang="0">
                    <a:pos x="455" y="533"/>
                  </a:cxn>
                  <a:cxn ang="0">
                    <a:pos x="544" y="527"/>
                  </a:cxn>
                  <a:cxn ang="0">
                    <a:pos x="634" y="509"/>
                  </a:cxn>
                  <a:cxn ang="0">
                    <a:pos x="712" y="485"/>
                  </a:cxn>
                  <a:cxn ang="0">
                    <a:pos x="777" y="449"/>
                  </a:cxn>
                  <a:cxn ang="0">
                    <a:pos x="831" y="413"/>
                  </a:cxn>
                  <a:cxn ang="0">
                    <a:pos x="873" y="365"/>
                  </a:cxn>
                  <a:cxn ang="0">
                    <a:pos x="897" y="311"/>
                  </a:cxn>
                  <a:cxn ang="0">
                    <a:pos x="909" y="258"/>
                  </a:cxn>
                  <a:cxn ang="0">
                    <a:pos x="903" y="216"/>
                  </a:cxn>
                  <a:cxn ang="0">
                    <a:pos x="885" y="174"/>
                  </a:cxn>
                  <a:cxn ang="0">
                    <a:pos x="861" y="132"/>
                  </a:cxn>
                  <a:cxn ang="0">
                    <a:pos x="825" y="102"/>
                  </a:cxn>
                  <a:cxn ang="0">
                    <a:pos x="783" y="66"/>
                  </a:cxn>
                  <a:cxn ang="0">
                    <a:pos x="735" y="42"/>
                  </a:cxn>
                  <a:cxn ang="0">
                    <a:pos x="616" y="0"/>
                  </a:cxn>
                  <a:cxn ang="0">
                    <a:pos x="616" y="0"/>
                  </a:cxn>
                </a:cxnLst>
                <a:rect l="0" t="0" r="r" b="b"/>
                <a:pathLst>
                  <a:path w="909" h="533">
                    <a:moveTo>
                      <a:pt x="616" y="0"/>
                    </a:moveTo>
                    <a:lnTo>
                      <a:pt x="616" y="18"/>
                    </a:lnTo>
                    <a:lnTo>
                      <a:pt x="724" y="60"/>
                    </a:lnTo>
                    <a:lnTo>
                      <a:pt x="765" y="84"/>
                    </a:lnTo>
                    <a:lnTo>
                      <a:pt x="807" y="114"/>
                    </a:lnTo>
                    <a:lnTo>
                      <a:pt x="837" y="144"/>
                    </a:lnTo>
                    <a:lnTo>
                      <a:pt x="861" y="180"/>
                    </a:lnTo>
                    <a:lnTo>
                      <a:pt x="873" y="216"/>
                    </a:lnTo>
                    <a:lnTo>
                      <a:pt x="879" y="258"/>
                    </a:lnTo>
                    <a:lnTo>
                      <a:pt x="873" y="311"/>
                    </a:lnTo>
                    <a:lnTo>
                      <a:pt x="843" y="359"/>
                    </a:lnTo>
                    <a:lnTo>
                      <a:pt x="807" y="401"/>
                    </a:lnTo>
                    <a:lnTo>
                      <a:pt x="753" y="443"/>
                    </a:lnTo>
                    <a:lnTo>
                      <a:pt x="694" y="473"/>
                    </a:lnTo>
                    <a:lnTo>
                      <a:pt x="622" y="497"/>
                    </a:lnTo>
                    <a:lnTo>
                      <a:pt x="538" y="509"/>
                    </a:lnTo>
                    <a:lnTo>
                      <a:pt x="455" y="515"/>
                    </a:lnTo>
                    <a:lnTo>
                      <a:pt x="371" y="509"/>
                    </a:lnTo>
                    <a:lnTo>
                      <a:pt x="287" y="497"/>
                    </a:lnTo>
                    <a:lnTo>
                      <a:pt x="215" y="473"/>
                    </a:lnTo>
                    <a:lnTo>
                      <a:pt x="156" y="443"/>
                    </a:lnTo>
                    <a:lnTo>
                      <a:pt x="102" y="401"/>
                    </a:lnTo>
                    <a:lnTo>
                      <a:pt x="66" y="359"/>
                    </a:lnTo>
                    <a:lnTo>
                      <a:pt x="36" y="311"/>
                    </a:lnTo>
                    <a:lnTo>
                      <a:pt x="30" y="258"/>
                    </a:lnTo>
                    <a:lnTo>
                      <a:pt x="36" y="222"/>
                    </a:lnTo>
                    <a:lnTo>
                      <a:pt x="48" y="186"/>
                    </a:lnTo>
                    <a:lnTo>
                      <a:pt x="66" y="156"/>
                    </a:lnTo>
                    <a:lnTo>
                      <a:pt x="90" y="126"/>
                    </a:lnTo>
                    <a:lnTo>
                      <a:pt x="66" y="114"/>
                    </a:lnTo>
                    <a:lnTo>
                      <a:pt x="36" y="144"/>
                    </a:lnTo>
                    <a:lnTo>
                      <a:pt x="18" y="180"/>
                    </a:lnTo>
                    <a:lnTo>
                      <a:pt x="6" y="216"/>
                    </a:lnTo>
                    <a:lnTo>
                      <a:pt x="0" y="258"/>
                    </a:lnTo>
                    <a:lnTo>
                      <a:pt x="12" y="311"/>
                    </a:lnTo>
                    <a:lnTo>
                      <a:pt x="36" y="365"/>
                    </a:lnTo>
                    <a:lnTo>
                      <a:pt x="78" y="413"/>
                    </a:lnTo>
                    <a:lnTo>
                      <a:pt x="132" y="449"/>
                    </a:lnTo>
                    <a:lnTo>
                      <a:pt x="203" y="485"/>
                    </a:lnTo>
                    <a:lnTo>
                      <a:pt x="275" y="509"/>
                    </a:lnTo>
                    <a:lnTo>
                      <a:pt x="365" y="527"/>
                    </a:lnTo>
                    <a:lnTo>
                      <a:pt x="455" y="533"/>
                    </a:lnTo>
                    <a:lnTo>
                      <a:pt x="544" y="527"/>
                    </a:lnTo>
                    <a:lnTo>
                      <a:pt x="634" y="509"/>
                    </a:lnTo>
                    <a:lnTo>
                      <a:pt x="712" y="485"/>
                    </a:lnTo>
                    <a:lnTo>
                      <a:pt x="777" y="449"/>
                    </a:lnTo>
                    <a:lnTo>
                      <a:pt x="831" y="413"/>
                    </a:lnTo>
                    <a:lnTo>
                      <a:pt x="873" y="365"/>
                    </a:lnTo>
                    <a:lnTo>
                      <a:pt x="897" y="311"/>
                    </a:lnTo>
                    <a:lnTo>
                      <a:pt x="909" y="258"/>
                    </a:lnTo>
                    <a:lnTo>
                      <a:pt x="903" y="216"/>
                    </a:lnTo>
                    <a:lnTo>
                      <a:pt x="885" y="174"/>
                    </a:lnTo>
                    <a:lnTo>
                      <a:pt x="861" y="132"/>
                    </a:lnTo>
                    <a:lnTo>
                      <a:pt x="825" y="102"/>
                    </a:lnTo>
                    <a:lnTo>
                      <a:pt x="783" y="66"/>
                    </a:lnTo>
                    <a:lnTo>
                      <a:pt x="735" y="42"/>
                    </a:lnTo>
                    <a:lnTo>
                      <a:pt x="616" y="0"/>
                    </a:lnTo>
                    <a:lnTo>
                      <a:pt x="616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50" name="Freeform 46"/>
              <p:cNvSpPr>
                <a:spLocks/>
              </p:cNvSpPr>
              <p:nvPr/>
            </p:nvSpPr>
            <p:spPr bwMode="hidden">
              <a:xfrm>
                <a:off x="4564" y="3492"/>
                <a:ext cx="365" cy="66"/>
              </a:xfrm>
              <a:custGeom>
                <a:avLst/>
                <a:gdLst/>
                <a:ahLst/>
                <a:cxnLst>
                  <a:cxn ang="0">
                    <a:pos x="240" y="18"/>
                  </a:cxn>
                  <a:cxn ang="0">
                    <a:pos x="299" y="24"/>
                  </a:cxn>
                  <a:cxn ang="0">
                    <a:pos x="359" y="30"/>
                  </a:cxn>
                  <a:cxn ang="0">
                    <a:pos x="365" y="12"/>
                  </a:cxn>
                  <a:cxn ang="0">
                    <a:pos x="305" y="6"/>
                  </a:cxn>
                  <a:cxn ang="0">
                    <a:pos x="240" y="0"/>
                  </a:cxn>
                  <a:cxn ang="0">
                    <a:pos x="174" y="6"/>
                  </a:cxn>
                  <a:cxn ang="0">
                    <a:pos x="114" y="12"/>
                  </a:cxn>
                  <a:cxn ang="0">
                    <a:pos x="0" y="42"/>
                  </a:cxn>
                  <a:cxn ang="0">
                    <a:pos x="0" y="66"/>
                  </a:cxn>
                  <a:cxn ang="0">
                    <a:pos x="54" y="48"/>
                  </a:cxn>
                  <a:cxn ang="0">
                    <a:pos x="114" y="30"/>
                  </a:cxn>
                  <a:cxn ang="0">
                    <a:pos x="174" y="24"/>
                  </a:cxn>
                  <a:cxn ang="0">
                    <a:pos x="240" y="18"/>
                  </a:cxn>
                  <a:cxn ang="0">
                    <a:pos x="240" y="18"/>
                  </a:cxn>
                </a:cxnLst>
                <a:rect l="0" t="0" r="r" b="b"/>
                <a:pathLst>
                  <a:path w="365" h="66">
                    <a:moveTo>
                      <a:pt x="240" y="18"/>
                    </a:moveTo>
                    <a:lnTo>
                      <a:pt x="299" y="24"/>
                    </a:lnTo>
                    <a:lnTo>
                      <a:pt x="359" y="30"/>
                    </a:lnTo>
                    <a:lnTo>
                      <a:pt x="365" y="12"/>
                    </a:lnTo>
                    <a:lnTo>
                      <a:pt x="305" y="6"/>
                    </a:lnTo>
                    <a:lnTo>
                      <a:pt x="240" y="0"/>
                    </a:lnTo>
                    <a:lnTo>
                      <a:pt x="174" y="6"/>
                    </a:lnTo>
                    <a:lnTo>
                      <a:pt x="114" y="12"/>
                    </a:lnTo>
                    <a:lnTo>
                      <a:pt x="0" y="42"/>
                    </a:lnTo>
                    <a:lnTo>
                      <a:pt x="0" y="66"/>
                    </a:lnTo>
                    <a:lnTo>
                      <a:pt x="54" y="48"/>
                    </a:lnTo>
                    <a:lnTo>
                      <a:pt x="114" y="30"/>
                    </a:lnTo>
                    <a:lnTo>
                      <a:pt x="174" y="24"/>
                    </a:lnTo>
                    <a:lnTo>
                      <a:pt x="240" y="18"/>
                    </a:lnTo>
                    <a:lnTo>
                      <a:pt x="240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51" name="Freeform 47"/>
              <p:cNvSpPr>
                <a:spLocks/>
              </p:cNvSpPr>
              <p:nvPr/>
            </p:nvSpPr>
            <p:spPr bwMode="hidden">
              <a:xfrm>
                <a:off x="4463" y="3558"/>
                <a:ext cx="66" cy="48"/>
              </a:xfrm>
              <a:custGeom>
                <a:avLst/>
                <a:gdLst/>
                <a:ahLst/>
                <a:cxnLst>
                  <a:cxn ang="0">
                    <a:pos x="66" y="18"/>
                  </a:cxn>
                  <a:cxn ang="0">
                    <a:pos x="48" y="0"/>
                  </a:cxn>
                  <a:cxn ang="0">
                    <a:pos x="24" y="12"/>
                  </a:cxn>
                  <a:cxn ang="0">
                    <a:pos x="0" y="30"/>
                  </a:cxn>
                  <a:cxn ang="0">
                    <a:pos x="12" y="48"/>
                  </a:cxn>
                  <a:cxn ang="0">
                    <a:pos x="42" y="30"/>
                  </a:cxn>
                  <a:cxn ang="0">
                    <a:pos x="66" y="18"/>
                  </a:cxn>
                  <a:cxn ang="0">
                    <a:pos x="66" y="18"/>
                  </a:cxn>
                </a:cxnLst>
                <a:rect l="0" t="0" r="r" b="b"/>
                <a:pathLst>
                  <a:path w="66" h="48">
                    <a:moveTo>
                      <a:pt x="66" y="18"/>
                    </a:moveTo>
                    <a:lnTo>
                      <a:pt x="48" y="0"/>
                    </a:lnTo>
                    <a:lnTo>
                      <a:pt x="24" y="12"/>
                    </a:lnTo>
                    <a:lnTo>
                      <a:pt x="0" y="30"/>
                    </a:lnTo>
                    <a:lnTo>
                      <a:pt x="12" y="48"/>
                    </a:lnTo>
                    <a:lnTo>
                      <a:pt x="42" y="30"/>
                    </a:lnTo>
                    <a:lnTo>
                      <a:pt x="66" y="18"/>
                    </a:lnTo>
                    <a:lnTo>
                      <a:pt x="66" y="18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52" name="Oval 48"/>
              <p:cNvSpPr>
                <a:spLocks noChangeArrowheads="1"/>
              </p:cNvSpPr>
              <p:nvPr/>
            </p:nvSpPr>
            <p:spPr bwMode="hidden">
              <a:xfrm>
                <a:off x="4546" y="3608"/>
                <a:ext cx="518" cy="319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53" name="Oval 49"/>
              <p:cNvSpPr>
                <a:spLocks noChangeArrowheads="1"/>
              </p:cNvSpPr>
              <p:nvPr/>
            </p:nvSpPr>
            <p:spPr bwMode="hidden">
              <a:xfrm>
                <a:off x="4578" y="3630"/>
                <a:ext cx="446" cy="27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tint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54" name="Oval 50"/>
              <p:cNvSpPr>
                <a:spLocks noChangeArrowheads="1"/>
              </p:cNvSpPr>
              <p:nvPr/>
            </p:nvSpPr>
            <p:spPr bwMode="hidden">
              <a:xfrm>
                <a:off x="4610" y="3650"/>
                <a:ext cx="386" cy="233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55" name="Oval 51"/>
              <p:cNvSpPr>
                <a:spLocks noChangeArrowheads="1"/>
              </p:cNvSpPr>
              <p:nvPr/>
            </p:nvSpPr>
            <p:spPr bwMode="hidden">
              <a:xfrm>
                <a:off x="4654" y="3678"/>
                <a:ext cx="298" cy="177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4118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56" name="Oval 52"/>
              <p:cNvSpPr>
                <a:spLocks noChangeArrowheads="1"/>
              </p:cNvSpPr>
              <p:nvPr/>
            </p:nvSpPr>
            <p:spPr bwMode="hidden">
              <a:xfrm>
                <a:off x="4690" y="3698"/>
                <a:ext cx="222" cy="139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94118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57" name="Oval 53"/>
              <p:cNvSpPr>
                <a:spLocks noChangeArrowheads="1"/>
              </p:cNvSpPr>
              <p:nvPr/>
            </p:nvSpPr>
            <p:spPr bwMode="hidden">
              <a:xfrm>
                <a:off x="4738" y="3728"/>
                <a:ext cx="126" cy="81"/>
              </a:xfrm>
              <a:prstGeom prst="ellipse">
                <a:avLst/>
              </a:prstGeom>
              <a:gradFill rotWithShape="0">
                <a:gsLst>
                  <a:gs pos="0">
                    <a:schemeClr val="accent2">
                      <a:gamma/>
                      <a:shade val="96863"/>
                      <a:invGamma/>
                    </a:schemeClr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</p:grpSp>
        <p:grpSp>
          <p:nvGrpSpPr>
            <p:cNvPr id="6" name="Group 54"/>
            <p:cNvGrpSpPr>
              <a:grpSpLocks/>
            </p:cNvGrpSpPr>
            <p:nvPr userDrawn="1"/>
          </p:nvGrpSpPr>
          <p:grpSpPr bwMode="auto">
            <a:xfrm>
              <a:off x="5280" y="3024"/>
              <a:ext cx="425" cy="258"/>
              <a:chOff x="5280" y="3024"/>
              <a:chExt cx="425" cy="258"/>
            </a:xfrm>
          </p:grpSpPr>
          <p:sp>
            <p:nvSpPr>
              <p:cNvPr id="21559" name="Freeform 55"/>
              <p:cNvSpPr>
                <a:spLocks/>
              </p:cNvSpPr>
              <p:nvPr/>
            </p:nvSpPr>
            <p:spPr bwMode="hidden">
              <a:xfrm>
                <a:off x="5280" y="3186"/>
                <a:ext cx="383" cy="96"/>
              </a:xfrm>
              <a:custGeom>
                <a:avLst/>
                <a:gdLst/>
                <a:ahLst/>
                <a:cxnLst>
                  <a:cxn ang="0">
                    <a:pos x="209" y="96"/>
                  </a:cxn>
                  <a:cxn ang="0">
                    <a:pos x="143" y="90"/>
                  </a:cxn>
                  <a:cxn ang="0">
                    <a:pos x="83" y="66"/>
                  </a:cxn>
                  <a:cxn ang="0">
                    <a:pos x="35" y="36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9" y="42"/>
                  </a:cxn>
                  <a:cxn ang="0">
                    <a:pos x="77" y="72"/>
                  </a:cxn>
                  <a:cxn ang="0">
                    <a:pos x="137" y="90"/>
                  </a:cxn>
                  <a:cxn ang="0">
                    <a:pos x="209" y="96"/>
                  </a:cxn>
                  <a:cxn ang="0">
                    <a:pos x="263" y="90"/>
                  </a:cxn>
                  <a:cxn ang="0">
                    <a:pos x="311" y="84"/>
                  </a:cxn>
                  <a:cxn ang="0">
                    <a:pos x="352" y="66"/>
                  </a:cxn>
                  <a:cxn ang="0">
                    <a:pos x="382" y="42"/>
                  </a:cxn>
                  <a:cxn ang="0">
                    <a:pos x="376" y="42"/>
                  </a:cxn>
                  <a:cxn ang="0">
                    <a:pos x="346" y="66"/>
                  </a:cxn>
                  <a:cxn ang="0">
                    <a:pos x="305" y="78"/>
                  </a:cxn>
                  <a:cxn ang="0">
                    <a:pos x="263" y="90"/>
                  </a:cxn>
                  <a:cxn ang="0">
                    <a:pos x="209" y="96"/>
                  </a:cxn>
                  <a:cxn ang="0">
                    <a:pos x="209" y="96"/>
                  </a:cxn>
                </a:cxnLst>
                <a:rect l="0" t="0" r="r" b="b"/>
                <a:pathLst>
                  <a:path w="382" h="96">
                    <a:moveTo>
                      <a:pt x="209" y="96"/>
                    </a:moveTo>
                    <a:lnTo>
                      <a:pt x="143" y="90"/>
                    </a:lnTo>
                    <a:lnTo>
                      <a:pt x="83" y="66"/>
                    </a:lnTo>
                    <a:lnTo>
                      <a:pt x="35" y="36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9" y="42"/>
                    </a:lnTo>
                    <a:lnTo>
                      <a:pt x="77" y="72"/>
                    </a:lnTo>
                    <a:lnTo>
                      <a:pt x="137" y="90"/>
                    </a:lnTo>
                    <a:lnTo>
                      <a:pt x="209" y="96"/>
                    </a:lnTo>
                    <a:lnTo>
                      <a:pt x="263" y="90"/>
                    </a:lnTo>
                    <a:lnTo>
                      <a:pt x="311" y="84"/>
                    </a:lnTo>
                    <a:lnTo>
                      <a:pt x="352" y="66"/>
                    </a:lnTo>
                    <a:lnTo>
                      <a:pt x="382" y="42"/>
                    </a:lnTo>
                    <a:lnTo>
                      <a:pt x="376" y="42"/>
                    </a:lnTo>
                    <a:lnTo>
                      <a:pt x="346" y="66"/>
                    </a:lnTo>
                    <a:lnTo>
                      <a:pt x="305" y="78"/>
                    </a:lnTo>
                    <a:lnTo>
                      <a:pt x="263" y="90"/>
                    </a:lnTo>
                    <a:lnTo>
                      <a:pt x="209" y="96"/>
                    </a:lnTo>
                    <a:lnTo>
                      <a:pt x="209" y="9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60" name="Freeform 56"/>
              <p:cNvSpPr>
                <a:spLocks/>
              </p:cNvSpPr>
              <p:nvPr/>
            </p:nvSpPr>
            <p:spPr bwMode="hidden">
              <a:xfrm>
                <a:off x="5315" y="3024"/>
                <a:ext cx="258" cy="54"/>
              </a:xfrm>
              <a:custGeom>
                <a:avLst/>
                <a:gdLst/>
                <a:ahLst/>
                <a:cxnLst>
                  <a:cxn ang="0">
                    <a:pos x="174" y="0"/>
                  </a:cxn>
                  <a:cxn ang="0">
                    <a:pos x="216" y="6"/>
                  </a:cxn>
                  <a:cxn ang="0">
                    <a:pos x="258" y="12"/>
                  </a:cxn>
                  <a:cxn ang="0">
                    <a:pos x="252" y="6"/>
                  </a:cxn>
                  <a:cxn ang="0">
                    <a:pos x="216" y="0"/>
                  </a:cxn>
                  <a:cxn ang="0">
                    <a:pos x="174" y="0"/>
                  </a:cxn>
                  <a:cxn ang="0">
                    <a:pos x="120" y="6"/>
                  </a:cxn>
                  <a:cxn ang="0">
                    <a:pos x="78" y="12"/>
                  </a:cxn>
                  <a:cxn ang="0">
                    <a:pos x="36" y="30"/>
                  </a:cxn>
                  <a:cxn ang="0">
                    <a:pos x="0" y="48"/>
                  </a:cxn>
                  <a:cxn ang="0">
                    <a:pos x="6" y="54"/>
                  </a:cxn>
                  <a:cxn ang="0">
                    <a:pos x="36" y="36"/>
                  </a:cxn>
                  <a:cxn ang="0">
                    <a:pos x="78" y="18"/>
                  </a:cxn>
                  <a:cxn ang="0">
                    <a:pos x="120" y="6"/>
                  </a:cxn>
                  <a:cxn ang="0">
                    <a:pos x="174" y="0"/>
                  </a:cxn>
                  <a:cxn ang="0">
                    <a:pos x="174" y="0"/>
                  </a:cxn>
                </a:cxnLst>
                <a:rect l="0" t="0" r="r" b="b"/>
                <a:pathLst>
                  <a:path w="258" h="54">
                    <a:moveTo>
                      <a:pt x="174" y="0"/>
                    </a:moveTo>
                    <a:lnTo>
                      <a:pt x="216" y="6"/>
                    </a:lnTo>
                    <a:lnTo>
                      <a:pt x="258" y="12"/>
                    </a:lnTo>
                    <a:lnTo>
                      <a:pt x="252" y="6"/>
                    </a:lnTo>
                    <a:lnTo>
                      <a:pt x="216" y="0"/>
                    </a:lnTo>
                    <a:lnTo>
                      <a:pt x="174" y="0"/>
                    </a:lnTo>
                    <a:lnTo>
                      <a:pt x="120" y="6"/>
                    </a:lnTo>
                    <a:lnTo>
                      <a:pt x="78" y="12"/>
                    </a:lnTo>
                    <a:lnTo>
                      <a:pt x="36" y="30"/>
                    </a:lnTo>
                    <a:lnTo>
                      <a:pt x="0" y="48"/>
                    </a:lnTo>
                    <a:lnTo>
                      <a:pt x="6" y="54"/>
                    </a:lnTo>
                    <a:lnTo>
                      <a:pt x="36" y="36"/>
                    </a:lnTo>
                    <a:lnTo>
                      <a:pt x="78" y="18"/>
                    </a:lnTo>
                    <a:lnTo>
                      <a:pt x="120" y="6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61" name="Freeform 57"/>
              <p:cNvSpPr>
                <a:spLocks/>
              </p:cNvSpPr>
              <p:nvPr/>
            </p:nvSpPr>
            <p:spPr bwMode="hidden">
              <a:xfrm>
                <a:off x="5645" y="3066"/>
                <a:ext cx="60" cy="156"/>
              </a:xfrm>
              <a:custGeom>
                <a:avLst/>
                <a:gdLst/>
                <a:ahLst/>
                <a:cxnLst>
                  <a:cxn ang="0">
                    <a:pos x="54" y="90"/>
                  </a:cxn>
                  <a:cxn ang="0">
                    <a:pos x="48" y="126"/>
                  </a:cxn>
                  <a:cxn ang="0">
                    <a:pos x="24" y="156"/>
                  </a:cxn>
                  <a:cxn ang="0">
                    <a:pos x="30" y="156"/>
                  </a:cxn>
                  <a:cxn ang="0">
                    <a:pos x="54" y="126"/>
                  </a:cxn>
                  <a:cxn ang="0">
                    <a:pos x="60" y="90"/>
                  </a:cxn>
                  <a:cxn ang="0">
                    <a:pos x="54" y="66"/>
                  </a:cxn>
                  <a:cxn ang="0">
                    <a:pos x="48" y="42"/>
                  </a:cxn>
                  <a:cxn ang="0">
                    <a:pos x="30" y="18"/>
                  </a:cxn>
                  <a:cxn ang="0">
                    <a:pos x="6" y="0"/>
                  </a:cxn>
                  <a:cxn ang="0">
                    <a:pos x="0" y="6"/>
                  </a:cxn>
                  <a:cxn ang="0">
                    <a:pos x="24" y="24"/>
                  </a:cxn>
                  <a:cxn ang="0">
                    <a:pos x="42" y="42"/>
                  </a:cxn>
                  <a:cxn ang="0">
                    <a:pos x="48" y="66"/>
                  </a:cxn>
                  <a:cxn ang="0">
                    <a:pos x="54" y="90"/>
                  </a:cxn>
                  <a:cxn ang="0">
                    <a:pos x="54" y="90"/>
                  </a:cxn>
                </a:cxnLst>
                <a:rect l="0" t="0" r="r" b="b"/>
                <a:pathLst>
                  <a:path w="60" h="156">
                    <a:moveTo>
                      <a:pt x="54" y="90"/>
                    </a:moveTo>
                    <a:lnTo>
                      <a:pt x="48" y="126"/>
                    </a:lnTo>
                    <a:lnTo>
                      <a:pt x="24" y="156"/>
                    </a:lnTo>
                    <a:lnTo>
                      <a:pt x="30" y="156"/>
                    </a:lnTo>
                    <a:lnTo>
                      <a:pt x="54" y="126"/>
                    </a:lnTo>
                    <a:lnTo>
                      <a:pt x="60" y="90"/>
                    </a:lnTo>
                    <a:lnTo>
                      <a:pt x="54" y="66"/>
                    </a:lnTo>
                    <a:lnTo>
                      <a:pt x="48" y="42"/>
                    </a:lnTo>
                    <a:lnTo>
                      <a:pt x="30" y="18"/>
                    </a:lnTo>
                    <a:lnTo>
                      <a:pt x="6" y="0"/>
                    </a:lnTo>
                    <a:lnTo>
                      <a:pt x="0" y="6"/>
                    </a:lnTo>
                    <a:lnTo>
                      <a:pt x="24" y="24"/>
                    </a:lnTo>
                    <a:lnTo>
                      <a:pt x="42" y="42"/>
                    </a:lnTo>
                    <a:lnTo>
                      <a:pt x="48" y="66"/>
                    </a:lnTo>
                    <a:lnTo>
                      <a:pt x="54" y="90"/>
                    </a:lnTo>
                    <a:lnTo>
                      <a:pt x="54" y="9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62" name="Freeform 58"/>
              <p:cNvSpPr>
                <a:spLocks/>
              </p:cNvSpPr>
              <p:nvPr/>
            </p:nvSpPr>
            <p:spPr bwMode="hidden">
              <a:xfrm>
                <a:off x="5375" y="3246"/>
                <a:ext cx="192" cy="18"/>
              </a:xfrm>
              <a:custGeom>
                <a:avLst/>
                <a:gdLst/>
                <a:ahLst/>
                <a:cxnLst>
                  <a:cxn ang="0">
                    <a:pos x="114" y="12"/>
                  </a:cxn>
                  <a:cxn ang="0">
                    <a:pos x="72" y="6"/>
                  </a:cxn>
                  <a:cxn ang="0">
                    <a:pos x="30" y="0"/>
                  </a:cxn>
                  <a:cxn ang="0">
                    <a:pos x="0" y="0"/>
                  </a:cxn>
                  <a:cxn ang="0">
                    <a:pos x="54" y="12"/>
                  </a:cxn>
                  <a:cxn ang="0">
                    <a:pos x="114" y="18"/>
                  </a:cxn>
                  <a:cxn ang="0">
                    <a:pos x="156" y="18"/>
                  </a:cxn>
                  <a:cxn ang="0">
                    <a:pos x="192" y="12"/>
                  </a:cxn>
                  <a:cxn ang="0">
                    <a:pos x="186" y="0"/>
                  </a:cxn>
                  <a:cxn ang="0">
                    <a:pos x="150" y="6"/>
                  </a:cxn>
                  <a:cxn ang="0">
                    <a:pos x="114" y="12"/>
                  </a:cxn>
                  <a:cxn ang="0">
                    <a:pos x="114" y="12"/>
                  </a:cxn>
                </a:cxnLst>
                <a:rect l="0" t="0" r="r" b="b"/>
                <a:pathLst>
                  <a:path w="192" h="18">
                    <a:moveTo>
                      <a:pt x="114" y="12"/>
                    </a:moveTo>
                    <a:lnTo>
                      <a:pt x="72" y="6"/>
                    </a:lnTo>
                    <a:lnTo>
                      <a:pt x="30" y="0"/>
                    </a:lnTo>
                    <a:lnTo>
                      <a:pt x="0" y="0"/>
                    </a:lnTo>
                    <a:lnTo>
                      <a:pt x="54" y="12"/>
                    </a:lnTo>
                    <a:lnTo>
                      <a:pt x="114" y="18"/>
                    </a:lnTo>
                    <a:lnTo>
                      <a:pt x="156" y="18"/>
                    </a:lnTo>
                    <a:lnTo>
                      <a:pt x="192" y="12"/>
                    </a:lnTo>
                    <a:lnTo>
                      <a:pt x="186" y="0"/>
                    </a:lnTo>
                    <a:lnTo>
                      <a:pt x="150" y="6"/>
                    </a:lnTo>
                    <a:lnTo>
                      <a:pt x="114" y="12"/>
                    </a:lnTo>
                    <a:lnTo>
                      <a:pt x="114" y="12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63" name="Freeform 59"/>
              <p:cNvSpPr>
                <a:spLocks/>
              </p:cNvSpPr>
              <p:nvPr/>
            </p:nvSpPr>
            <p:spPr bwMode="hidden">
              <a:xfrm>
                <a:off x="5304" y="3042"/>
                <a:ext cx="161" cy="186"/>
              </a:xfrm>
              <a:custGeom>
                <a:avLst/>
                <a:gdLst/>
                <a:ahLst/>
                <a:cxnLst>
                  <a:cxn ang="0">
                    <a:pos x="11" y="114"/>
                  </a:cxn>
                  <a:cxn ang="0">
                    <a:pos x="17" y="96"/>
                  </a:cxn>
                  <a:cxn ang="0">
                    <a:pos x="23" y="78"/>
                  </a:cxn>
                  <a:cxn ang="0">
                    <a:pos x="53" y="42"/>
                  </a:cxn>
                  <a:cxn ang="0">
                    <a:pos x="101" y="18"/>
                  </a:cxn>
                  <a:cxn ang="0">
                    <a:pos x="155" y="6"/>
                  </a:cxn>
                  <a:cxn ang="0">
                    <a:pos x="161" y="0"/>
                  </a:cxn>
                  <a:cxn ang="0">
                    <a:pos x="95" y="12"/>
                  </a:cxn>
                  <a:cxn ang="0">
                    <a:pos x="47" y="36"/>
                  </a:cxn>
                  <a:cxn ang="0">
                    <a:pos x="11" y="72"/>
                  </a:cxn>
                  <a:cxn ang="0">
                    <a:pos x="5" y="90"/>
                  </a:cxn>
                  <a:cxn ang="0">
                    <a:pos x="0" y="114"/>
                  </a:cxn>
                  <a:cxn ang="0">
                    <a:pos x="11" y="150"/>
                  </a:cxn>
                  <a:cxn ang="0">
                    <a:pos x="23" y="168"/>
                  </a:cxn>
                  <a:cxn ang="0">
                    <a:pos x="41" y="186"/>
                  </a:cxn>
                  <a:cxn ang="0">
                    <a:pos x="65" y="186"/>
                  </a:cxn>
                  <a:cxn ang="0">
                    <a:pos x="41" y="168"/>
                  </a:cxn>
                  <a:cxn ang="0">
                    <a:pos x="23" y="150"/>
                  </a:cxn>
                  <a:cxn ang="0">
                    <a:pos x="17" y="132"/>
                  </a:cxn>
                  <a:cxn ang="0">
                    <a:pos x="11" y="114"/>
                  </a:cxn>
                  <a:cxn ang="0">
                    <a:pos x="11" y="114"/>
                  </a:cxn>
                </a:cxnLst>
                <a:rect l="0" t="0" r="r" b="b"/>
                <a:pathLst>
                  <a:path w="161" h="186">
                    <a:moveTo>
                      <a:pt x="11" y="114"/>
                    </a:moveTo>
                    <a:lnTo>
                      <a:pt x="17" y="96"/>
                    </a:lnTo>
                    <a:lnTo>
                      <a:pt x="23" y="78"/>
                    </a:lnTo>
                    <a:lnTo>
                      <a:pt x="53" y="42"/>
                    </a:lnTo>
                    <a:lnTo>
                      <a:pt x="101" y="18"/>
                    </a:lnTo>
                    <a:lnTo>
                      <a:pt x="155" y="6"/>
                    </a:lnTo>
                    <a:lnTo>
                      <a:pt x="161" y="0"/>
                    </a:lnTo>
                    <a:lnTo>
                      <a:pt x="95" y="12"/>
                    </a:lnTo>
                    <a:lnTo>
                      <a:pt x="47" y="36"/>
                    </a:lnTo>
                    <a:lnTo>
                      <a:pt x="11" y="72"/>
                    </a:lnTo>
                    <a:lnTo>
                      <a:pt x="5" y="90"/>
                    </a:lnTo>
                    <a:lnTo>
                      <a:pt x="0" y="114"/>
                    </a:lnTo>
                    <a:lnTo>
                      <a:pt x="11" y="150"/>
                    </a:lnTo>
                    <a:lnTo>
                      <a:pt x="23" y="168"/>
                    </a:lnTo>
                    <a:lnTo>
                      <a:pt x="41" y="186"/>
                    </a:lnTo>
                    <a:lnTo>
                      <a:pt x="65" y="186"/>
                    </a:lnTo>
                    <a:lnTo>
                      <a:pt x="41" y="168"/>
                    </a:lnTo>
                    <a:lnTo>
                      <a:pt x="23" y="150"/>
                    </a:lnTo>
                    <a:lnTo>
                      <a:pt x="17" y="132"/>
                    </a:lnTo>
                    <a:lnTo>
                      <a:pt x="11" y="114"/>
                    </a:lnTo>
                    <a:lnTo>
                      <a:pt x="11" y="114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64" name="Freeform 60"/>
              <p:cNvSpPr>
                <a:spLocks/>
              </p:cNvSpPr>
              <p:nvPr/>
            </p:nvSpPr>
            <p:spPr bwMode="hidden">
              <a:xfrm>
                <a:off x="5489" y="3042"/>
                <a:ext cx="186" cy="210"/>
              </a:xfrm>
              <a:custGeom>
                <a:avLst/>
                <a:gdLst/>
                <a:ahLst/>
                <a:cxnLst>
                  <a:cxn ang="0">
                    <a:pos x="0" y="6"/>
                  </a:cxn>
                  <a:cxn ang="0">
                    <a:pos x="66" y="12"/>
                  </a:cxn>
                  <a:cxn ang="0">
                    <a:pos x="119" y="36"/>
                  </a:cxn>
                  <a:cxn ang="0">
                    <a:pos x="155" y="72"/>
                  </a:cxn>
                  <a:cxn ang="0">
                    <a:pos x="161" y="90"/>
                  </a:cxn>
                  <a:cxn ang="0">
                    <a:pos x="167" y="114"/>
                  </a:cxn>
                  <a:cxn ang="0">
                    <a:pos x="161" y="138"/>
                  </a:cxn>
                  <a:cxn ang="0">
                    <a:pos x="149" y="162"/>
                  </a:cxn>
                  <a:cxn ang="0">
                    <a:pos x="119" y="180"/>
                  </a:cxn>
                  <a:cxn ang="0">
                    <a:pos x="90" y="198"/>
                  </a:cxn>
                  <a:cxn ang="0">
                    <a:pos x="96" y="210"/>
                  </a:cxn>
                  <a:cxn ang="0">
                    <a:pos x="131" y="192"/>
                  </a:cxn>
                  <a:cxn ang="0">
                    <a:pos x="161" y="168"/>
                  </a:cxn>
                  <a:cxn ang="0">
                    <a:pos x="179" y="144"/>
                  </a:cxn>
                  <a:cxn ang="0">
                    <a:pos x="185" y="114"/>
                  </a:cxn>
                  <a:cxn ang="0">
                    <a:pos x="179" y="90"/>
                  </a:cxn>
                  <a:cxn ang="0">
                    <a:pos x="173" y="66"/>
                  </a:cxn>
                  <a:cxn ang="0">
                    <a:pos x="155" y="48"/>
                  </a:cxn>
                  <a:cxn ang="0">
                    <a:pos x="131" y="30"/>
                  </a:cxn>
                  <a:cxn ang="0">
                    <a:pos x="72" y="6"/>
                  </a:cxn>
                  <a:cxn ang="0">
                    <a:pos x="0" y="0"/>
                  </a:cxn>
                  <a:cxn ang="0">
                    <a:pos x="0" y="6"/>
                  </a:cxn>
                  <a:cxn ang="0">
                    <a:pos x="0" y="6"/>
                  </a:cxn>
                  <a:cxn ang="0">
                    <a:pos x="0" y="6"/>
                  </a:cxn>
                </a:cxnLst>
                <a:rect l="0" t="0" r="r" b="b"/>
                <a:pathLst>
                  <a:path w="185" h="210">
                    <a:moveTo>
                      <a:pt x="0" y="6"/>
                    </a:moveTo>
                    <a:lnTo>
                      <a:pt x="66" y="12"/>
                    </a:lnTo>
                    <a:lnTo>
                      <a:pt x="119" y="36"/>
                    </a:lnTo>
                    <a:lnTo>
                      <a:pt x="155" y="72"/>
                    </a:lnTo>
                    <a:lnTo>
                      <a:pt x="161" y="90"/>
                    </a:lnTo>
                    <a:lnTo>
                      <a:pt x="167" y="114"/>
                    </a:lnTo>
                    <a:lnTo>
                      <a:pt x="161" y="138"/>
                    </a:lnTo>
                    <a:lnTo>
                      <a:pt x="149" y="162"/>
                    </a:lnTo>
                    <a:lnTo>
                      <a:pt x="119" y="180"/>
                    </a:lnTo>
                    <a:lnTo>
                      <a:pt x="90" y="198"/>
                    </a:lnTo>
                    <a:lnTo>
                      <a:pt x="96" y="210"/>
                    </a:lnTo>
                    <a:lnTo>
                      <a:pt x="131" y="192"/>
                    </a:lnTo>
                    <a:lnTo>
                      <a:pt x="161" y="168"/>
                    </a:lnTo>
                    <a:lnTo>
                      <a:pt x="179" y="144"/>
                    </a:lnTo>
                    <a:lnTo>
                      <a:pt x="185" y="114"/>
                    </a:lnTo>
                    <a:lnTo>
                      <a:pt x="179" y="90"/>
                    </a:lnTo>
                    <a:lnTo>
                      <a:pt x="173" y="66"/>
                    </a:lnTo>
                    <a:lnTo>
                      <a:pt x="155" y="48"/>
                    </a:lnTo>
                    <a:lnTo>
                      <a:pt x="131" y="30"/>
                    </a:lnTo>
                    <a:lnTo>
                      <a:pt x="72" y="6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6"/>
                    </a:lnTo>
                    <a:lnTo>
                      <a:pt x="0" y="6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1"/>
                  </a:gs>
                  <a:gs pos="100000">
                    <a:schemeClr val="accent2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sp>
            <p:nvSpPr>
              <p:cNvPr id="21565" name="Freeform 61"/>
              <p:cNvSpPr>
                <a:spLocks noEditPoints="1"/>
              </p:cNvSpPr>
              <p:nvPr/>
            </p:nvSpPr>
            <p:spPr bwMode="hidden">
              <a:xfrm>
                <a:off x="5345" y="3058"/>
                <a:ext cx="299" cy="186"/>
              </a:xfrm>
              <a:custGeom>
                <a:avLst/>
                <a:gdLst/>
                <a:ahLst/>
                <a:cxnLst>
                  <a:cxn ang="0">
                    <a:pos x="150" y="0"/>
                  </a:cxn>
                  <a:cxn ang="0">
                    <a:pos x="90" y="6"/>
                  </a:cxn>
                  <a:cxn ang="0">
                    <a:pos x="42" y="30"/>
                  </a:cxn>
                  <a:cxn ang="0">
                    <a:pos x="12" y="54"/>
                  </a:cxn>
                  <a:cxn ang="0">
                    <a:pos x="6" y="72"/>
                  </a:cxn>
                  <a:cxn ang="0">
                    <a:pos x="0" y="90"/>
                  </a:cxn>
                  <a:cxn ang="0">
                    <a:pos x="6" y="108"/>
                  </a:cxn>
                  <a:cxn ang="0">
                    <a:pos x="12" y="126"/>
                  </a:cxn>
                  <a:cxn ang="0">
                    <a:pos x="42" y="156"/>
                  </a:cxn>
                  <a:cxn ang="0">
                    <a:pos x="90" y="180"/>
                  </a:cxn>
                  <a:cxn ang="0">
                    <a:pos x="150" y="186"/>
                  </a:cxn>
                  <a:cxn ang="0">
                    <a:pos x="209" y="180"/>
                  </a:cxn>
                  <a:cxn ang="0">
                    <a:pos x="257" y="156"/>
                  </a:cxn>
                  <a:cxn ang="0">
                    <a:pos x="287" y="126"/>
                  </a:cxn>
                  <a:cxn ang="0">
                    <a:pos x="299" y="108"/>
                  </a:cxn>
                  <a:cxn ang="0">
                    <a:pos x="299" y="90"/>
                  </a:cxn>
                  <a:cxn ang="0">
                    <a:pos x="299" y="72"/>
                  </a:cxn>
                  <a:cxn ang="0">
                    <a:pos x="287" y="54"/>
                  </a:cxn>
                  <a:cxn ang="0">
                    <a:pos x="257" y="30"/>
                  </a:cxn>
                  <a:cxn ang="0">
                    <a:pos x="209" y="6"/>
                  </a:cxn>
                  <a:cxn ang="0">
                    <a:pos x="150" y="0"/>
                  </a:cxn>
                  <a:cxn ang="0">
                    <a:pos x="150" y="0"/>
                  </a:cxn>
                  <a:cxn ang="0">
                    <a:pos x="150" y="180"/>
                  </a:cxn>
                  <a:cxn ang="0">
                    <a:pos x="96" y="174"/>
                  </a:cxn>
                  <a:cxn ang="0">
                    <a:pos x="48" y="156"/>
                  </a:cxn>
                  <a:cxn ang="0">
                    <a:pos x="18" y="126"/>
                  </a:cxn>
                  <a:cxn ang="0">
                    <a:pos x="12" y="108"/>
                  </a:cxn>
                  <a:cxn ang="0">
                    <a:pos x="6" y="90"/>
                  </a:cxn>
                  <a:cxn ang="0">
                    <a:pos x="12" y="72"/>
                  </a:cxn>
                  <a:cxn ang="0">
                    <a:pos x="18" y="54"/>
                  </a:cxn>
                  <a:cxn ang="0">
                    <a:pos x="48" y="30"/>
                  </a:cxn>
                  <a:cxn ang="0">
                    <a:pos x="96" y="12"/>
                  </a:cxn>
                  <a:cxn ang="0">
                    <a:pos x="150" y="6"/>
                  </a:cxn>
                  <a:cxn ang="0">
                    <a:pos x="203" y="12"/>
                  </a:cxn>
                  <a:cxn ang="0">
                    <a:pos x="251" y="30"/>
                  </a:cxn>
                  <a:cxn ang="0">
                    <a:pos x="281" y="54"/>
                  </a:cxn>
                  <a:cxn ang="0">
                    <a:pos x="293" y="72"/>
                  </a:cxn>
                  <a:cxn ang="0">
                    <a:pos x="293" y="90"/>
                  </a:cxn>
                  <a:cxn ang="0">
                    <a:pos x="293" y="108"/>
                  </a:cxn>
                  <a:cxn ang="0">
                    <a:pos x="281" y="126"/>
                  </a:cxn>
                  <a:cxn ang="0">
                    <a:pos x="251" y="156"/>
                  </a:cxn>
                  <a:cxn ang="0">
                    <a:pos x="203" y="174"/>
                  </a:cxn>
                  <a:cxn ang="0">
                    <a:pos x="150" y="180"/>
                  </a:cxn>
                  <a:cxn ang="0">
                    <a:pos x="150" y="180"/>
                  </a:cxn>
                </a:cxnLst>
                <a:rect l="0" t="0" r="r" b="b"/>
                <a:pathLst>
                  <a:path w="299" h="186">
                    <a:moveTo>
                      <a:pt x="150" y="0"/>
                    </a:moveTo>
                    <a:lnTo>
                      <a:pt x="90" y="6"/>
                    </a:lnTo>
                    <a:lnTo>
                      <a:pt x="42" y="30"/>
                    </a:lnTo>
                    <a:lnTo>
                      <a:pt x="12" y="54"/>
                    </a:lnTo>
                    <a:lnTo>
                      <a:pt x="6" y="72"/>
                    </a:lnTo>
                    <a:lnTo>
                      <a:pt x="0" y="90"/>
                    </a:lnTo>
                    <a:lnTo>
                      <a:pt x="6" y="108"/>
                    </a:lnTo>
                    <a:lnTo>
                      <a:pt x="12" y="126"/>
                    </a:lnTo>
                    <a:lnTo>
                      <a:pt x="42" y="156"/>
                    </a:lnTo>
                    <a:lnTo>
                      <a:pt x="90" y="180"/>
                    </a:lnTo>
                    <a:lnTo>
                      <a:pt x="150" y="186"/>
                    </a:lnTo>
                    <a:lnTo>
                      <a:pt x="209" y="180"/>
                    </a:lnTo>
                    <a:lnTo>
                      <a:pt x="257" y="156"/>
                    </a:lnTo>
                    <a:lnTo>
                      <a:pt x="287" y="126"/>
                    </a:lnTo>
                    <a:lnTo>
                      <a:pt x="299" y="108"/>
                    </a:lnTo>
                    <a:lnTo>
                      <a:pt x="299" y="90"/>
                    </a:lnTo>
                    <a:lnTo>
                      <a:pt x="299" y="72"/>
                    </a:lnTo>
                    <a:lnTo>
                      <a:pt x="287" y="54"/>
                    </a:lnTo>
                    <a:lnTo>
                      <a:pt x="257" y="30"/>
                    </a:lnTo>
                    <a:lnTo>
                      <a:pt x="209" y="6"/>
                    </a:lnTo>
                    <a:lnTo>
                      <a:pt x="150" y="0"/>
                    </a:lnTo>
                    <a:lnTo>
                      <a:pt x="150" y="0"/>
                    </a:lnTo>
                    <a:close/>
                    <a:moveTo>
                      <a:pt x="150" y="180"/>
                    </a:moveTo>
                    <a:lnTo>
                      <a:pt x="96" y="174"/>
                    </a:lnTo>
                    <a:lnTo>
                      <a:pt x="48" y="156"/>
                    </a:lnTo>
                    <a:lnTo>
                      <a:pt x="18" y="126"/>
                    </a:lnTo>
                    <a:lnTo>
                      <a:pt x="12" y="108"/>
                    </a:lnTo>
                    <a:lnTo>
                      <a:pt x="6" y="90"/>
                    </a:lnTo>
                    <a:lnTo>
                      <a:pt x="12" y="72"/>
                    </a:lnTo>
                    <a:lnTo>
                      <a:pt x="18" y="54"/>
                    </a:lnTo>
                    <a:lnTo>
                      <a:pt x="48" y="30"/>
                    </a:lnTo>
                    <a:lnTo>
                      <a:pt x="96" y="12"/>
                    </a:lnTo>
                    <a:lnTo>
                      <a:pt x="150" y="6"/>
                    </a:lnTo>
                    <a:lnTo>
                      <a:pt x="203" y="12"/>
                    </a:lnTo>
                    <a:lnTo>
                      <a:pt x="251" y="30"/>
                    </a:lnTo>
                    <a:lnTo>
                      <a:pt x="281" y="54"/>
                    </a:lnTo>
                    <a:lnTo>
                      <a:pt x="293" y="72"/>
                    </a:lnTo>
                    <a:lnTo>
                      <a:pt x="293" y="90"/>
                    </a:lnTo>
                    <a:lnTo>
                      <a:pt x="293" y="108"/>
                    </a:lnTo>
                    <a:lnTo>
                      <a:pt x="281" y="126"/>
                    </a:lnTo>
                    <a:lnTo>
                      <a:pt x="251" y="156"/>
                    </a:lnTo>
                    <a:lnTo>
                      <a:pt x="203" y="174"/>
                    </a:lnTo>
                    <a:lnTo>
                      <a:pt x="150" y="180"/>
                    </a:lnTo>
                    <a:lnTo>
                      <a:pt x="150" y="18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5400000" scaled="1"/>
              </a:gradFill>
              <a:ln w="9525">
                <a:noFill/>
                <a:round/>
                <a:headEnd/>
                <a:tailEnd/>
              </a:ln>
            </p:spPr>
            <p:txBody>
              <a:bodyPr/>
              <a:lstStyle/>
              <a:p>
                <a:pPr>
                  <a:defRPr/>
                </a:pPr>
                <a:endParaRPr lang="ru-RU"/>
              </a:p>
            </p:txBody>
          </p:sp>
          <p:grpSp>
            <p:nvGrpSpPr>
              <p:cNvPr id="7" name="Group 62"/>
              <p:cNvGrpSpPr>
                <a:grpSpLocks/>
              </p:cNvGrpSpPr>
              <p:nvPr/>
            </p:nvGrpSpPr>
            <p:grpSpPr bwMode="auto">
              <a:xfrm>
                <a:off x="5381" y="3085"/>
                <a:ext cx="227" cy="132"/>
                <a:chOff x="5381" y="3085"/>
                <a:chExt cx="227" cy="132"/>
              </a:xfrm>
            </p:grpSpPr>
            <p:sp>
              <p:nvSpPr>
                <p:cNvPr id="21567" name="Oval 63"/>
                <p:cNvSpPr>
                  <a:spLocks noChangeArrowheads="1"/>
                </p:cNvSpPr>
                <p:nvPr userDrawn="1"/>
              </p:nvSpPr>
              <p:spPr bwMode="hidden">
                <a:xfrm>
                  <a:off x="5381" y="3085"/>
                  <a:ext cx="227" cy="13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1568" name="Oval 64"/>
                <p:cNvSpPr>
                  <a:spLocks noChangeArrowheads="1"/>
                </p:cNvSpPr>
                <p:nvPr userDrawn="1"/>
              </p:nvSpPr>
              <p:spPr bwMode="hidden">
                <a:xfrm>
                  <a:off x="5403" y="3099"/>
                  <a:ext cx="182" cy="10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1569" name="Oval 65"/>
                <p:cNvSpPr>
                  <a:spLocks noChangeArrowheads="1"/>
                </p:cNvSpPr>
                <p:nvPr userDrawn="1"/>
              </p:nvSpPr>
              <p:spPr bwMode="hidden">
                <a:xfrm>
                  <a:off x="5431" y="3109"/>
                  <a:ext cx="125" cy="82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bg1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ru-RU"/>
                </a:p>
              </p:txBody>
            </p:sp>
            <p:sp>
              <p:nvSpPr>
                <p:cNvPr id="21570" name="Oval 66"/>
                <p:cNvSpPr>
                  <a:spLocks noChangeArrowheads="1"/>
                </p:cNvSpPr>
                <p:nvPr userDrawn="1"/>
              </p:nvSpPr>
              <p:spPr bwMode="hidden">
                <a:xfrm>
                  <a:off x="5458" y="3125"/>
                  <a:ext cx="73" cy="47"/>
                </a:xfrm>
                <a:prstGeom prst="ellipse">
                  <a:avLst/>
                </a:prstGeom>
                <a:gradFill rotWithShape="0">
                  <a:gsLst>
                    <a:gs pos="0">
                      <a:schemeClr val="accent2"/>
                    </a:gs>
                    <a:gs pos="100000">
                      <a:schemeClr val="bg1"/>
                    </a:gs>
                  </a:gsLst>
                  <a:lin ang="5400000" scaled="1"/>
                </a:gradFill>
                <a:ln w="9525">
                  <a:noFill/>
                  <a:round/>
                  <a:headEnd/>
                  <a:tailEnd/>
                </a:ln>
                <a:effectLst/>
              </p:spPr>
              <p:txBody>
                <a:bodyPr/>
                <a:lstStyle/>
                <a:p>
                  <a:pPr>
                    <a:defRPr/>
                  </a:pPr>
                  <a:endParaRPr lang="ru-RU"/>
                </a:p>
              </p:txBody>
            </p:sp>
          </p:grpSp>
        </p:grpSp>
      </p:grpSp>
      <p:sp>
        <p:nvSpPr>
          <p:cNvPr id="21571" name="Rectangle 6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1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21572" name="Rectangle 68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1573" name="Rectangle 69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574" name="Rectangle 70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21575" name="Rectangle 71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effectLst>
                  <a:outerShdw blurRad="38100" dist="38100" dir="2700000" algn="tl">
                    <a:srgbClr val="000000"/>
                  </a:outerShdw>
                </a:effectLst>
              </a:defRPr>
            </a:lvl1pPr>
          </a:lstStyle>
          <a:p>
            <a:pPr>
              <a:defRPr/>
            </a:pPr>
            <a:fld id="{E2831762-6C5B-42D1-837A-CFFD97EA79AC}" type="slidenum">
              <a:rPr lang="ru-RU"/>
              <a:pPr>
                <a:defRPr/>
              </a:pPr>
              <a:t>‹#›</a:t>
            </a:fld>
            <a:endParaRPr lang="ru-R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61111E-6 3.33333E-6  C 0.06892 3.33333E-6  0.125 0.02847  0.125 0.06389  C 0.125 0.09907  0.06892 0.12777  3.61111E-6 0.12777  C -0.0691 0.12777  -0.125 0.09907  -0.125 0.06389  C -0.125 0.02847  -0.0691 3.33333E-6  3.61111E-6 3.33333E-6  Z " pathEditMode="relative">
                                      <p:cBhvr>
                                        <p:cTn id="6" dur="2000" fill="hold"/>
                                        <p:tgtEl>
                                          <p:spTgt spid="215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71" grpId="0"/>
      <p:bldP spid="21572" grpId="0" build="p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5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>
                          <p:stCondLst>
                            <p:cond delay="0"/>
                          </p:stCondLst>
                        </p:cTn>
                        <p:tgtEl>
                          <p:spTgt spid="21572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5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>
                          <p:stCondLst>
                            <p:cond delay="0"/>
                          </p:stCondLst>
                        </p:cTn>
                        <p:tgtEl>
                          <p:spTgt spid="21572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5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>
                          <p:stCondLst>
                            <p:cond delay="0"/>
                          </p:stCondLst>
                        </p:cTn>
                        <p:tgtEl>
                          <p:spTgt spid="21572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5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>
                          <p:stCondLst>
                            <p:cond delay="0"/>
                          </p:stCondLst>
                        </p:cTn>
                        <p:tgtEl>
                          <p:spTgt spid="21572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57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>
                          <p:stCondLst>
                            <p:cond delay="0"/>
                          </p:stCondLst>
                        </p:cTn>
                        <p:tgtEl>
                          <p:spTgt spid="2157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itchFamily="2" charset="2"/>
        <a:buChar char="Ø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0000"/>
        <a:buFont typeface="Wingdings" pitchFamily="2" charset="2"/>
        <a:buChar char="l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itchFamily="2" charset="2"/>
        <a:buChar char="l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0DA49466-88F6-438C-8AB3-8922C6B95CB9}" type="datetimeFigureOut">
              <a:rPr lang="ru-RU" smtClean="0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6BBEC7E4-2A97-4B78-BA45-D28AFF3BFC8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4392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61111E-6 3.33333E-6  C 0.06892 3.33333E-6  0.125 0.02847  0.125 0.06389  C 0.125 0.09907  0.06892 0.12777  3.61111E-6 0.12777  C -0.0691 0.12777  -0.125 0.09907  -0.125 0.06389  C -0.125 0.02847  -0.0691 3.33333E-6  3.61111E-6 3.33333E-6  Z " pathEditMode="relative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tx1"/>
          </a:solidFill>
          <a:ln w="6350" cap="flat" cmpd="sng" algn="ctr">
            <a:solidFill>
              <a:schemeClr val="tx1">
                <a:lumMod val="75000"/>
              </a:schemeClr>
            </a:solidFill>
            <a:prstDash val="solid"/>
          </a:ln>
          <a:effectLst>
            <a:softEdge rad="0"/>
          </a:effectLst>
        </p:spPr>
      </p:sp>
      <p:sp>
        <p:nvSpPr>
          <p:cNvPr id="9" name="Rectangle 8"/>
          <p:cNvSpPr/>
          <p:nvPr/>
        </p:nvSpPr>
        <p:spPr>
          <a:xfrm>
            <a:off x="292608" y="292608"/>
            <a:ext cx="8558784" cy="6272784"/>
          </a:xfrm>
          <a:prstGeom prst="rect">
            <a:avLst/>
          </a:prstGeom>
          <a:solidFill>
            <a:schemeClr val="bg2"/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7338" y="6265818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0DA49466-88F6-438C-8AB3-8922C6B95CB9}" type="datetimeFigureOut">
              <a:rPr lang="ru-RU" smtClean="0"/>
              <a:pPr>
                <a:defRPr/>
              </a:pPr>
              <a:t>05.09.2026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265818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3555" y="6265818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fld id="{6BBEC7E4-2A97-4B78-BA45-D28AFF3BFC83}" type="slidenum">
              <a:rPr lang="ru-RU" smtClean="0"/>
              <a:pPr>
                <a:defRPr/>
              </a:pPr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57901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3.61111E-6 3.33333E-6  C 0.06892 3.33333E-6  0.125 0.02847  0.125 0.06389  C 0.125 0.09907  0.06892 0.12777  3.61111E-6 0.12777  C -0.0691 0.12777  -0.125 0.09907  -0.125 0.06389  C -0.125 0.02847  -0.0691 3.33333E-6  3.61111E-6 3.33333E-6  Z " pathEditMode="relative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/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2">
            <a:lumMod val="60000"/>
            <a:lumOff val="40000"/>
          </a:schemeClr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5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yznaika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2" descr="D:\Globex\Шаблоны для PowerPoint\#0029\Components\0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0" y="764704"/>
            <a:ext cx="5004048" cy="2088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3200" dirty="0">
                <a:latin typeface="Times New Roman" panose="02020603050405020304" pitchFamily="18" charset="0"/>
                <a:ea typeface="Calibri" panose="020F0502020204030204" pitchFamily="34" charset="0"/>
              </a:rPr>
              <a:t>Формирование, этапы развития и направления концепций глобализации мировой экономики</a:t>
            </a:r>
            <a:endParaRPr lang="ru-RU" sz="40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823D8E-BC14-4DE2-9EDD-5F8441B7CC74}"/>
              </a:ext>
            </a:extLst>
          </p:cNvPr>
          <p:cNvSpPr txBox="1"/>
          <p:nvPr/>
        </p:nvSpPr>
        <p:spPr>
          <a:xfrm>
            <a:off x="6444208" y="5157192"/>
            <a:ext cx="2555776" cy="992577"/>
          </a:xfrm>
          <a:prstGeom prst="rect">
            <a:avLst/>
          </a:prstGeom>
          <a:noFill/>
        </p:spPr>
        <p:txBody>
          <a:bodyPr wrap="square" lIns="68579" tIns="34289" rIns="68579" bIns="34289" rtlCol="0">
            <a:spAutoFit/>
          </a:bodyPr>
          <a:lstStyle/>
          <a:p>
            <a:pPr algn="ctr"/>
            <a:r>
              <a:rPr lang="ru-RU" sz="2000" dirty="0" err="1">
                <a:solidFill>
                  <a:srgbClr val="002060"/>
                </a:solidFill>
                <a:cs typeface="Arial" panose="020B0604020202020204" pitchFamily="34" charset="0"/>
              </a:rPr>
              <a:t>Хасанхонова</a:t>
            </a:r>
            <a:r>
              <a:rPr lang="ru-RU" sz="2000" dirty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cs typeface="Arial" panose="020B0604020202020204" pitchFamily="34" charset="0"/>
              </a:rPr>
              <a:t>Нодира</a:t>
            </a:r>
            <a:r>
              <a:rPr lang="ru-RU" sz="2000" dirty="0">
                <a:solidFill>
                  <a:srgbClr val="002060"/>
                </a:solidFill>
                <a:cs typeface="Arial" panose="020B0604020202020204" pitchFamily="34" charset="0"/>
              </a:rPr>
              <a:t> </a:t>
            </a:r>
            <a:r>
              <a:rPr lang="ru-RU" sz="2000" dirty="0" err="1">
                <a:solidFill>
                  <a:srgbClr val="002060"/>
                </a:solidFill>
                <a:cs typeface="Arial" panose="020B0604020202020204" pitchFamily="34" charset="0"/>
              </a:rPr>
              <a:t>Исаметдиновна</a:t>
            </a:r>
            <a:endParaRPr lang="ru-RU" sz="2000" dirty="0">
              <a:solidFill>
                <a:srgbClr val="002060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5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714375" y="285750"/>
            <a:ext cx="5802313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ПЛАН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graphicFrame>
        <p:nvGraphicFramePr>
          <p:cNvPr id="7" name="Схема 6"/>
          <p:cNvGraphicFramePr/>
          <p:nvPr>
            <p:extLst>
              <p:ext uri="{D42A27DB-BD31-4B8C-83A1-F6EECF244321}">
                <p14:modId xmlns:p14="http://schemas.microsoft.com/office/powerpoint/2010/main" val="3996788638"/>
              </p:ext>
            </p:extLst>
          </p:nvPr>
        </p:nvGraphicFramePr>
        <p:xfrm>
          <a:off x="1071538" y="1745432"/>
          <a:ext cx="7056784" cy="51125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09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850" y="312738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Многообразие современного мира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4478338" y="2060575"/>
            <a:ext cx="0" cy="4321175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Прямая соединительная линия 8"/>
          <p:cNvCxnSpPr/>
          <p:nvPr/>
        </p:nvCxnSpPr>
        <p:spPr>
          <a:xfrm>
            <a:off x="3563938" y="2982913"/>
            <a:ext cx="1922462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Прямая соединительная линия 9"/>
          <p:cNvCxnSpPr/>
          <p:nvPr/>
        </p:nvCxnSpPr>
        <p:spPr>
          <a:xfrm>
            <a:off x="3492500" y="3703638"/>
            <a:ext cx="1628775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>
            <a:off x="3254375" y="4487863"/>
            <a:ext cx="2303463" cy="0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>
            <a:endCxn id="0" idx="1"/>
          </p:cNvCxnSpPr>
          <p:nvPr/>
        </p:nvCxnSpPr>
        <p:spPr>
          <a:xfrm>
            <a:off x="3719513" y="5487988"/>
            <a:ext cx="1428750" cy="1587"/>
          </a:xfrm>
          <a:prstGeom prst="lin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764126" y="2487196"/>
            <a:ext cx="3000396" cy="7143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Многообразие природных условий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5121844" y="2558634"/>
            <a:ext cx="3214710" cy="7143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Различия демографических условий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764126" y="3344452"/>
            <a:ext cx="3000396" cy="7143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Особенности социально – политических условий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764126" y="4201708"/>
            <a:ext cx="3000396" cy="7858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Различия религий</a:t>
            </a:r>
          </a:p>
        </p:txBody>
      </p:sp>
      <p:sp>
        <p:nvSpPr>
          <p:cNvPr id="17" name="Прямоугольник 16"/>
          <p:cNvSpPr/>
          <p:nvPr/>
        </p:nvSpPr>
        <p:spPr>
          <a:xfrm>
            <a:off x="764126" y="5130402"/>
            <a:ext cx="3000396" cy="78581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Особенности уровня экономического развития</a:t>
            </a:r>
          </a:p>
        </p:txBody>
      </p:sp>
      <p:sp>
        <p:nvSpPr>
          <p:cNvPr id="18" name="Прямоугольник 17"/>
          <p:cNvSpPr/>
          <p:nvPr/>
        </p:nvSpPr>
        <p:spPr>
          <a:xfrm>
            <a:off x="5121844" y="3415890"/>
            <a:ext cx="3214710" cy="642942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Особенности исторических судеб</a:t>
            </a:r>
          </a:p>
        </p:txBody>
      </p:sp>
      <p:sp>
        <p:nvSpPr>
          <p:cNvPr id="19" name="Прямоугольник 18"/>
          <p:cNvSpPr/>
          <p:nvPr/>
        </p:nvSpPr>
        <p:spPr>
          <a:xfrm>
            <a:off x="5121844" y="4201708"/>
            <a:ext cx="3214710" cy="71438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Различия культурных, духовно-нравственных традиций</a:t>
            </a:r>
          </a:p>
        </p:txBody>
      </p:sp>
      <p:sp>
        <p:nvSpPr>
          <p:cNvPr id="20" name="Прямоугольник 19"/>
          <p:cNvSpPr/>
          <p:nvPr/>
        </p:nvSpPr>
        <p:spPr>
          <a:xfrm>
            <a:off x="5148064" y="5058964"/>
            <a:ext cx="3143272" cy="857256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Расовое и этническое многообразие</a:t>
            </a:r>
          </a:p>
        </p:txBody>
      </p:sp>
      <p:sp>
        <p:nvSpPr>
          <p:cNvPr id="21" name="Прямоугольник 20"/>
          <p:cNvSpPr/>
          <p:nvPr/>
        </p:nvSpPr>
        <p:spPr>
          <a:xfrm>
            <a:off x="2978704" y="6130534"/>
            <a:ext cx="2928958" cy="357190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Специфика образа жизни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835696" y="1772816"/>
            <a:ext cx="5429288" cy="35719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факторы многообразия мира</a:t>
            </a: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3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850" y="312738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Многообразие современного мира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42988" y="2565400"/>
            <a:ext cx="6842125" cy="18161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Однако американские политологи полагают, что сегодня мир «превращается в одну большую деревню».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5513" y="4652963"/>
            <a:ext cx="6840537" cy="13858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Они полагают, что формируется новое мировое явление, которое называется «целостность»</a:t>
            </a: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7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850" y="312738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Понятие целостности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87450" y="2205038"/>
            <a:ext cx="5976938" cy="14763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rgbClr val="FF0000"/>
                </a:solidFill>
                <a:latin typeface="Georgia" pitchFamily="18" charset="0"/>
                <a:ea typeface="Roboto" pitchFamily="2" charset="0"/>
                <a:cs typeface="+mn-cs"/>
              </a:rPr>
              <a:t>Целостность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 – означает уровень достижения целого – такого состояния, в котором ни один элемент не может существовать без других элементов, и сам он своей деятельностью обеспечивает существование других элементов.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63713" y="3873500"/>
            <a:ext cx="6624637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В качестве особой социальной целостности (общности) обществоведы выделяют человечество, т.е. всех людей на земле, рассматриваемых в их целостности.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55875" y="5097463"/>
            <a:ext cx="604837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В современном мире эта целостность все больше и больше укрепляется, то есть происходит процесс, который назвали </a:t>
            </a:r>
            <a:r>
              <a:rPr lang="ru-RU" b="1" dirty="0">
                <a:solidFill>
                  <a:srgbClr val="FF0000"/>
                </a:solidFill>
                <a:latin typeface="Georgia" pitchFamily="18" charset="0"/>
                <a:ea typeface="Roboto" pitchFamily="2" charset="0"/>
                <a:cs typeface="+mn-cs"/>
              </a:rPr>
              <a:t>глобализацией</a:t>
            </a:r>
            <a:r>
              <a:rPr lang="ru-RU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.</a:t>
            </a: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850" y="312738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Понятие глобализации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547813" y="1228725"/>
            <a:ext cx="4752975" cy="40005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000" b="1" dirty="0">
                <a:solidFill>
                  <a:schemeClr val="tx1"/>
                </a:solidFill>
                <a:latin typeface="Georgia" pitchFamily="18" charset="0"/>
              </a:rPr>
              <a:t>Точки зрения на глобализацию</a:t>
            </a:r>
          </a:p>
        </p:txBody>
      </p:sp>
      <p:sp>
        <p:nvSpPr>
          <p:cNvPr id="11" name="Выноска-облако 10"/>
          <p:cNvSpPr/>
          <p:nvPr/>
        </p:nvSpPr>
        <p:spPr>
          <a:xfrm>
            <a:off x="539750" y="2781300"/>
            <a:ext cx="3643313" cy="3143250"/>
          </a:xfrm>
          <a:prstGeom prst="cloudCallou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solidFill>
                  <a:schemeClr val="tx1"/>
                </a:solidFill>
                <a:latin typeface="Georgia" pitchFamily="18" charset="0"/>
              </a:rPr>
              <a:t>Является благотворным и прогрессивным в своей основе явлением, которое будет способствовать решению основных проблем человечества</a:t>
            </a:r>
          </a:p>
        </p:txBody>
      </p:sp>
      <p:sp>
        <p:nvSpPr>
          <p:cNvPr id="12" name="Выноска-облако 11"/>
          <p:cNvSpPr/>
          <p:nvPr/>
        </p:nvSpPr>
        <p:spPr>
          <a:xfrm>
            <a:off x="5643563" y="1700213"/>
            <a:ext cx="3500437" cy="3000375"/>
          </a:xfrm>
          <a:prstGeom prst="cloudCallou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tx1"/>
                </a:solidFill>
              </a:rPr>
              <a:t>Глобализация имеет только негативные последствия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932363" y="5540375"/>
            <a:ext cx="4032250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ru-RU" b="1">
                <a:latin typeface="Georgia" pitchFamily="18" charset="0"/>
              </a:rPr>
              <a:t>   Какая же из этих точек зрения более адекватно отражает реальность и почему?</a:t>
            </a:r>
          </a:p>
        </p:txBody>
      </p:sp>
      <p:sp>
        <p:nvSpPr>
          <p:cNvPr id="14" name="Двойная стрелка влево/вправо 13"/>
          <p:cNvSpPr/>
          <p:nvPr/>
        </p:nvSpPr>
        <p:spPr>
          <a:xfrm rot="20309643">
            <a:off x="4102616" y="3556728"/>
            <a:ext cx="1637101" cy="500066"/>
          </a:xfrm>
          <a:prstGeom prst="leftRigh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/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8" dur="20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5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850" y="312738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Понятие глобализации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4396" y="982469"/>
            <a:ext cx="8143932" cy="646331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u="sng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Глобализация</a:t>
            </a:r>
            <a:r>
              <a:rPr lang="ru-RU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 - </a:t>
            </a: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это процесс интеграции государств и народов в разных областях деятельности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94013" y="2133600"/>
            <a:ext cx="3095625" cy="292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251520" y="1847104"/>
            <a:ext cx="2786082" cy="132343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Переход от индустриального общества к информационному, к высоким технологиям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6560" y="1847104"/>
            <a:ext cx="2643206" cy="120032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Переход от централизации экономики к её децентрализации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2958" y="4347434"/>
            <a:ext cx="2428892" cy="1200329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Переход от национальной экономики к мировой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09436" y="4061682"/>
            <a:ext cx="2571768" cy="147732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Переход от альтернативного выбора (или</a:t>
            </a:r>
            <a:r>
              <a:rPr 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/</a:t>
            </a: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или) к многообразию выбора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15816" y="4990376"/>
            <a:ext cx="3071834" cy="1754326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Использование новых коммуникационных технологий: Интернета, спутникового телевидения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66230" y="1704228"/>
            <a:ext cx="2000264" cy="338554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Причины</a:t>
            </a:r>
          </a:p>
        </p:txBody>
      </p:sp>
      <p:sp>
        <p:nvSpPr>
          <p:cNvPr id="22" name="Штриховая стрелка вправо 21"/>
          <p:cNvSpPr/>
          <p:nvPr/>
        </p:nvSpPr>
        <p:spPr>
          <a:xfrm rot="740652" flipV="1">
            <a:off x="5072063" y="1960563"/>
            <a:ext cx="762000" cy="10318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latin typeface="Georgia" pitchFamily="18" charset="0"/>
            </a:endParaRPr>
          </a:p>
        </p:txBody>
      </p:sp>
      <p:sp>
        <p:nvSpPr>
          <p:cNvPr id="23" name="Штриховая стрелка вправо 22"/>
          <p:cNvSpPr/>
          <p:nvPr/>
        </p:nvSpPr>
        <p:spPr>
          <a:xfrm rot="9937521">
            <a:off x="3111500" y="1971675"/>
            <a:ext cx="720725" cy="73025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ru-RU">
              <a:latin typeface="Georgia" pitchFamily="18" charset="0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2000" fill="hold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4" dur="2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2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20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9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850" y="312738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Понятие глобализации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graphicFrame>
        <p:nvGraphicFramePr>
          <p:cNvPr id="14" name="Схема 13"/>
          <p:cNvGraphicFramePr/>
          <p:nvPr>
            <p:extLst>
              <p:ext uri="{D42A27DB-BD31-4B8C-83A1-F6EECF244321}">
                <p14:modId xmlns:p14="http://schemas.microsoft.com/office/powerpoint/2010/main" val="2283649005"/>
              </p:ext>
            </p:extLst>
          </p:nvPr>
        </p:nvGraphicFramePr>
        <p:xfrm>
          <a:off x="1043608" y="1844824"/>
          <a:ext cx="6808270" cy="44416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4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850" y="312738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Понятие глобализации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1476375" y="908050"/>
            <a:ext cx="4572000" cy="92392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i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18" charset="0"/>
                <a:cs typeface="+mn-cs"/>
              </a:rPr>
              <a:t>В наибольшей степени тенденции к стиранию границ проявляется в экономике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8688" y="2205038"/>
            <a:ext cx="8215312" cy="420528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18" charset="0"/>
                <a:cs typeface="+mn-cs"/>
              </a:rPr>
              <a:t>Происходит разделение труда не в региональном или национальном, а в </a:t>
            </a:r>
            <a:r>
              <a:rPr lang="ru-RU" sz="16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18" charset="0"/>
                <a:cs typeface="+mn-cs"/>
              </a:rPr>
              <a:t>общепланетарном</a:t>
            </a: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18" charset="0"/>
                <a:cs typeface="+mn-cs"/>
              </a:rPr>
              <a:t> масштабе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18" charset="0"/>
                <a:cs typeface="+mn-cs"/>
              </a:rPr>
              <a:t>Глобализацией охвачены и финансовые рынки. Они стали играть независимую от рынка роль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18" charset="0"/>
                <a:cs typeface="+mn-cs"/>
              </a:rPr>
              <a:t>Происходит размывание экономических границ между странами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18" charset="0"/>
                <a:cs typeface="+mn-cs"/>
              </a:rPr>
              <a:t>Возрастают степень и роль взаимного влияния национальных экономик друг на друга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b="1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  <a:cs typeface="+mn-cs"/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ü"/>
              <a:defRPr/>
            </a:pPr>
            <a:r>
              <a:rPr lang="ru-RU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Georgia" pitchFamily="18" charset="0"/>
                <a:cs typeface="+mn-cs"/>
              </a:rPr>
              <a:t>Усиливаются интеграционные процессы в мировой экономике (МВФ, Всемирный банк, ВТО)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chemeClr val="tx1">
                  <a:lumMod val="75000"/>
                  <a:lumOff val="25000"/>
                </a:schemeClr>
              </a:solidFill>
              <a:latin typeface="Georgia" pitchFamily="18" charset="0"/>
              <a:cs typeface="+mn-cs"/>
            </a:endParaRP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dirty="0">
                <a:solidFill>
                  <a:srgbClr val="C00000"/>
                </a:solidFill>
                <a:latin typeface="Georgia" pitchFamily="18" charset="0"/>
                <a:cs typeface="+mn-cs"/>
              </a:rPr>
              <a:t>Символ глобализации - транснациональные корпорации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ru-RU" sz="1600" dirty="0">
              <a:solidFill>
                <a:srgbClr val="C00000"/>
              </a:solidFill>
              <a:latin typeface="Georgia" pitchFamily="18" charset="0"/>
              <a:cs typeface="+mn-cs"/>
            </a:endParaRPr>
          </a:p>
        </p:txBody>
      </p:sp>
      <p:pic>
        <p:nvPicPr>
          <p:cNvPr id="23557" name="Picture 3" descr="C:\Users\Admin\Desktop\500px-The_Coca-Cola_Company_logo.svg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4663" y="5876925"/>
            <a:ext cx="4762500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5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7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850" y="312738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Понятие глобализации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grpSp>
        <p:nvGrpSpPr>
          <p:cNvPr id="8" name="Группа 18"/>
          <p:cNvGrpSpPr>
            <a:grpSpLocks/>
          </p:cNvGrpSpPr>
          <p:nvPr/>
        </p:nvGrpSpPr>
        <p:grpSpPr bwMode="auto">
          <a:xfrm>
            <a:off x="500063" y="2206625"/>
            <a:ext cx="8286750" cy="4319588"/>
            <a:chOff x="500034" y="2071678"/>
            <a:chExt cx="8286808" cy="4318636"/>
          </a:xfrm>
        </p:grpSpPr>
        <p:sp>
          <p:nvSpPr>
            <p:cNvPr id="9" name="AutoShape 3"/>
            <p:cNvSpPr>
              <a:spLocks noChangeArrowheads="1"/>
            </p:cNvSpPr>
            <p:nvPr/>
          </p:nvSpPr>
          <p:spPr bwMode="ltGray">
            <a:xfrm>
              <a:off x="1290608" y="2133600"/>
              <a:ext cx="7424795" cy="1225550"/>
            </a:xfrm>
            <a:prstGeom prst="roundRect">
              <a:avLst>
                <a:gd name="adj" fmla="val 16449"/>
              </a:avLst>
            </a:prstGeom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0" name="AutoShape 4"/>
            <p:cNvSpPr>
              <a:spLocks noChangeArrowheads="1"/>
            </p:cNvSpPr>
            <p:nvPr/>
          </p:nvSpPr>
          <p:spPr bwMode="ltGray">
            <a:xfrm>
              <a:off x="1320771" y="3581400"/>
              <a:ext cx="7466071" cy="1289050"/>
            </a:xfrm>
            <a:prstGeom prst="roundRect">
              <a:avLst>
                <a:gd name="adj" fmla="val 16227"/>
              </a:avLst>
            </a:prstGeom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1" name="AutoShape 5"/>
            <p:cNvSpPr>
              <a:spLocks noChangeArrowheads="1"/>
            </p:cNvSpPr>
            <p:nvPr/>
          </p:nvSpPr>
          <p:spPr bwMode="ltGray">
            <a:xfrm>
              <a:off x="1320771" y="5099050"/>
              <a:ext cx="7466071" cy="1225550"/>
            </a:xfrm>
            <a:prstGeom prst="roundRect">
              <a:avLst>
                <a:gd name="adj" fmla="val 22019"/>
              </a:avLst>
            </a:prstGeom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endParaRPr>
            </a:p>
          </p:txBody>
        </p:sp>
        <p:sp>
          <p:nvSpPr>
            <p:cNvPr id="12" name="Rectangle 6"/>
            <p:cNvSpPr>
              <a:spLocks noChangeArrowheads="1"/>
            </p:cNvSpPr>
            <p:nvPr/>
          </p:nvSpPr>
          <p:spPr bwMode="gray">
            <a:xfrm>
              <a:off x="2143107" y="2071678"/>
              <a:ext cx="6572296" cy="132368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71450" indent="-171450" algn="just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 </a:t>
              </a:r>
              <a:r>
                <a:rPr lang="ru-RU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   В политической сфере эта тенденция выражается в появлении наднациональных единиц различного масштаба: политические и военные блоки, коалиции правящих групп, континентальные или региональные объединения, всемирные международные организации.</a:t>
              </a:r>
              <a:endPara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+mn-cs"/>
              </a:endParaRPr>
            </a:p>
          </p:txBody>
        </p:sp>
        <p:sp>
          <p:nvSpPr>
            <p:cNvPr id="13" name="AutoShape 8"/>
            <p:cNvSpPr>
              <a:spLocks noChangeArrowheads="1"/>
            </p:cNvSpPr>
            <p:nvPr/>
          </p:nvSpPr>
          <p:spPr bwMode="ltGray">
            <a:xfrm>
              <a:off x="500034" y="2300295"/>
              <a:ext cx="1806588" cy="930346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4593" name="Rectangle 10"/>
            <p:cNvSpPr>
              <a:spLocks noChangeArrowheads="1"/>
            </p:cNvSpPr>
            <p:nvPr/>
          </p:nvSpPr>
          <p:spPr bwMode="black">
            <a:xfrm>
              <a:off x="527021" y="2543175"/>
              <a:ext cx="1730375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ru-RU" sz="2000" b="1">
                  <a:solidFill>
                    <a:srgbClr val="F8F8F8"/>
                  </a:solidFill>
                  <a:latin typeface="Calibri" pitchFamily="34" charset="0"/>
                </a:rPr>
                <a:t>В политике</a:t>
              </a:r>
              <a:endParaRPr lang="en-US" sz="2000" b="1">
                <a:solidFill>
                  <a:srgbClr val="F8F8F8"/>
                </a:solidFill>
                <a:latin typeface="Calibri" pitchFamily="34" charset="0"/>
              </a:endParaRPr>
            </a:p>
          </p:txBody>
        </p:sp>
        <p:sp>
          <p:nvSpPr>
            <p:cNvPr id="15" name="AutoShape 12"/>
            <p:cNvSpPr>
              <a:spLocks noChangeArrowheads="1"/>
            </p:cNvSpPr>
            <p:nvPr/>
          </p:nvSpPr>
          <p:spPr bwMode="gray">
            <a:xfrm>
              <a:off x="523846" y="3748206"/>
              <a:ext cx="1806588" cy="930346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16" name="AutoShape 15"/>
            <p:cNvSpPr>
              <a:spLocks noChangeArrowheads="1"/>
            </p:cNvSpPr>
            <p:nvPr/>
          </p:nvSpPr>
          <p:spPr bwMode="ltGray">
            <a:xfrm>
              <a:off x="512734" y="5242157"/>
              <a:ext cx="1806588" cy="930346"/>
            </a:xfrm>
            <a:prstGeom prst="roundRect">
              <a:avLst>
                <a:gd name="adj" fmla="val 16667"/>
              </a:avLst>
            </a:prstGeom>
            <a:ln>
              <a:headEnd/>
              <a:tailEnd/>
            </a:ln>
          </p:spPr>
          <p:style>
            <a:lnRef idx="0">
              <a:schemeClr val="accent5"/>
            </a:lnRef>
            <a:fillRef idx="3">
              <a:schemeClr val="accent5"/>
            </a:fillRef>
            <a:effectRef idx="3">
              <a:schemeClr val="accent5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/>
            </a:p>
          </p:txBody>
        </p:sp>
        <p:sp>
          <p:nvSpPr>
            <p:cNvPr id="24600" name="Text Box 17"/>
            <p:cNvSpPr txBox="1">
              <a:spLocks noChangeArrowheads="1"/>
            </p:cNvSpPr>
            <p:nvPr/>
          </p:nvSpPr>
          <p:spPr bwMode="black">
            <a:xfrm>
              <a:off x="546071" y="4013562"/>
              <a:ext cx="1743075" cy="70788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2000" b="1">
                  <a:solidFill>
                    <a:srgbClr val="F8F8F8"/>
                  </a:solidFill>
                  <a:latin typeface="Calibri" pitchFamily="34" charset="0"/>
                </a:rPr>
                <a:t>В экономике</a:t>
              </a:r>
              <a:endParaRPr lang="en-US" sz="2000" b="1">
                <a:solidFill>
                  <a:srgbClr val="F8F8F8"/>
                </a:solidFill>
                <a:latin typeface="Calibri" pitchFamily="34" charset="0"/>
              </a:endParaRPr>
            </a:p>
          </p:txBody>
        </p:sp>
        <p:sp>
          <p:nvSpPr>
            <p:cNvPr id="24601" name="Text Box 18"/>
            <p:cNvSpPr txBox="1">
              <a:spLocks noChangeArrowheads="1"/>
            </p:cNvSpPr>
            <p:nvPr/>
          </p:nvSpPr>
          <p:spPr bwMode="black">
            <a:xfrm>
              <a:off x="554009" y="5486400"/>
              <a:ext cx="1711325" cy="400110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ru-RU" sz="2000" b="1">
                  <a:solidFill>
                    <a:srgbClr val="F8F8F8"/>
                  </a:solidFill>
                  <a:latin typeface="Calibri" pitchFamily="34" charset="0"/>
                </a:rPr>
                <a:t>В культуре</a:t>
              </a:r>
              <a:endParaRPr lang="en-US" sz="2000" b="1">
                <a:solidFill>
                  <a:srgbClr val="F8F8F8"/>
                </a:solidFill>
                <a:latin typeface="Calibri" pitchFamily="34" charset="0"/>
              </a:endParaRP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gray">
            <a:xfrm>
              <a:off x="2214546" y="3642957"/>
              <a:ext cx="6383382" cy="10760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71450" indent="-17145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ru-RU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    В экономической сфере наблюдается глобальное разделение труда, рынок становится единым экономическим механизмом, о чем свидетельствует скорость реагирования финансовых рынков на события в отдельных странах.</a:t>
              </a:r>
              <a:endPara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+mn-cs"/>
              </a:endParaRPr>
            </a:p>
          </p:txBody>
        </p:sp>
        <p:sp>
          <p:nvSpPr>
            <p:cNvPr id="20" name="Rectangle 20"/>
            <p:cNvSpPr>
              <a:spLocks noChangeArrowheads="1"/>
            </p:cNvSpPr>
            <p:nvPr/>
          </p:nvSpPr>
          <p:spPr bwMode="gray">
            <a:xfrm>
              <a:off x="2143107" y="5144401"/>
              <a:ext cx="6597696" cy="1245913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marL="171450" indent="-171450" algn="just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500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cs"/>
                </a:rPr>
                <a:t> </a:t>
              </a:r>
              <a:r>
                <a:rPr lang="ru-RU" sz="1500" dirty="0">
                  <a:solidFill>
                    <a:schemeClr val="bg1">
                      <a:lumMod val="50000"/>
                    </a:schemeClr>
                  </a:solidFill>
                  <a:latin typeface="+mn-lt"/>
                  <a:cs typeface="+mn-cs"/>
                </a:rPr>
                <a:t>   </a:t>
              </a:r>
              <a:r>
                <a:rPr lang="ru-RU" sz="15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В культуре доминирует тенденция к единообразию. Средства массовой информации превращают нашу планету в «большую деревню». Миллионы людей становятся свидетелями событий, произошедших в разных местах, приобщаются к одному и тому же культурному опыту.</a:t>
              </a:r>
              <a:endParaRPr lang="en-US" sz="15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+mn-cs"/>
              </a:endParaRPr>
            </a:p>
          </p:txBody>
        </p:sp>
        <p:pic>
          <p:nvPicPr>
            <p:cNvPr id="24604" name="Picture 23" descr="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61946" y="2327275"/>
              <a:ext cx="16891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605" name="Picture 24" descr="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80996" y="3781425"/>
              <a:ext cx="16891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606" name="Picture 25" descr="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571471" y="5276850"/>
              <a:ext cx="16891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1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850" y="312738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Единство современного мира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sp>
        <p:nvSpPr>
          <p:cNvPr id="24" name="Прямоугольник 23"/>
          <p:cNvSpPr/>
          <p:nvPr/>
        </p:nvSpPr>
        <p:spPr>
          <a:xfrm>
            <a:off x="1684494" y="1556792"/>
            <a:ext cx="5429288" cy="357190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Основные факторы единства мира</a:t>
            </a:r>
          </a:p>
        </p:txBody>
      </p:sp>
      <p:sp>
        <p:nvSpPr>
          <p:cNvPr id="26" name="Прямоугольник 25"/>
          <p:cNvSpPr/>
          <p:nvPr/>
        </p:nvSpPr>
        <p:spPr>
          <a:xfrm>
            <a:off x="3827634" y="2199734"/>
            <a:ext cx="4214842" cy="71438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единый информационный поток соединились практически все уголки и регионы планеты</a:t>
            </a:r>
          </a:p>
        </p:txBody>
      </p:sp>
      <p:sp>
        <p:nvSpPr>
          <p:cNvPr id="30" name="Прямоугольник 29"/>
          <p:cNvSpPr/>
          <p:nvPr/>
        </p:nvSpPr>
        <p:spPr>
          <a:xfrm>
            <a:off x="3827634" y="3056990"/>
            <a:ext cx="4214842" cy="71438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Быстрота перемещения из одной части в другую делает мир доступным для передвижения</a:t>
            </a:r>
          </a:p>
        </p:txBody>
      </p:sp>
      <p:sp>
        <p:nvSpPr>
          <p:cNvPr id="31" name="Прямоугольник 30"/>
          <p:cNvSpPr/>
          <p:nvPr/>
        </p:nvSpPr>
        <p:spPr>
          <a:xfrm>
            <a:off x="3827634" y="3985684"/>
            <a:ext cx="4214842" cy="78581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Реальная угроза уничтожения всего человечества затрагивает интересы всех людей</a:t>
            </a:r>
          </a:p>
        </p:txBody>
      </p:sp>
      <p:sp>
        <p:nvSpPr>
          <p:cNvPr id="32" name="Прямоугольник 31"/>
          <p:cNvSpPr/>
          <p:nvPr/>
        </p:nvSpPr>
        <p:spPr>
          <a:xfrm>
            <a:off x="3827634" y="4914378"/>
            <a:ext cx="4214842" cy="78581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Производство, рынок стали действительно мировыми, производственные связи превратились в основу единства современного человечества</a:t>
            </a:r>
          </a:p>
        </p:txBody>
      </p:sp>
      <p:sp>
        <p:nvSpPr>
          <p:cNvPr id="34" name="Прямоугольник 33"/>
          <p:cNvSpPr/>
          <p:nvPr/>
        </p:nvSpPr>
        <p:spPr>
          <a:xfrm>
            <a:off x="3827634" y="5914510"/>
            <a:ext cx="4214842" cy="714380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6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Их решение возможно только общими усилиями всего мирового сообщества</a:t>
            </a:r>
          </a:p>
        </p:txBody>
      </p:sp>
      <p:cxnSp>
        <p:nvCxnSpPr>
          <p:cNvPr id="35" name="Прямая соединительная линия 34"/>
          <p:cNvCxnSpPr>
            <a:stCxn id="0" idx="1"/>
          </p:cNvCxnSpPr>
          <p:nvPr/>
        </p:nvCxnSpPr>
        <p:spPr>
          <a:xfrm rot="10800000" flipV="1">
            <a:off x="684213" y="1735138"/>
            <a:ext cx="1000125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единительная линия 35"/>
          <p:cNvCxnSpPr/>
          <p:nvPr/>
        </p:nvCxnSpPr>
        <p:spPr>
          <a:xfrm>
            <a:off x="684213" y="1700213"/>
            <a:ext cx="0" cy="4500562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684213" y="6200775"/>
            <a:ext cx="863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единительная линия 37"/>
          <p:cNvCxnSpPr>
            <a:endCxn id="0" idx="1"/>
          </p:cNvCxnSpPr>
          <p:nvPr/>
        </p:nvCxnSpPr>
        <p:spPr>
          <a:xfrm>
            <a:off x="684213" y="2557463"/>
            <a:ext cx="428625" cy="158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684213" y="3486150"/>
            <a:ext cx="863600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/>
          <p:cNvCxnSpPr/>
          <p:nvPr/>
        </p:nvCxnSpPr>
        <p:spPr>
          <a:xfrm>
            <a:off x="684213" y="4414838"/>
            <a:ext cx="792162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единительная линия 40"/>
          <p:cNvCxnSpPr/>
          <p:nvPr/>
        </p:nvCxnSpPr>
        <p:spPr>
          <a:xfrm>
            <a:off x="684213" y="5272088"/>
            <a:ext cx="71913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stCxn id="0" idx="3"/>
            <a:endCxn id="0" idx="1"/>
          </p:cNvCxnSpPr>
          <p:nvPr/>
        </p:nvCxnSpPr>
        <p:spPr>
          <a:xfrm>
            <a:off x="3113088" y="2557463"/>
            <a:ext cx="714375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/>
          <p:cNvCxnSpPr>
            <a:stCxn id="0" idx="3"/>
            <a:endCxn id="0" idx="1"/>
          </p:cNvCxnSpPr>
          <p:nvPr/>
        </p:nvCxnSpPr>
        <p:spPr>
          <a:xfrm>
            <a:off x="3113088" y="3414713"/>
            <a:ext cx="714375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/>
          <p:cNvCxnSpPr>
            <a:stCxn id="0" idx="3"/>
            <a:endCxn id="0" idx="1"/>
          </p:cNvCxnSpPr>
          <p:nvPr/>
        </p:nvCxnSpPr>
        <p:spPr>
          <a:xfrm>
            <a:off x="3113088" y="4378325"/>
            <a:ext cx="714375" cy="0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/>
          <p:cNvCxnSpPr>
            <a:stCxn id="0" idx="3"/>
            <a:endCxn id="0" idx="1"/>
          </p:cNvCxnSpPr>
          <p:nvPr/>
        </p:nvCxnSpPr>
        <p:spPr>
          <a:xfrm>
            <a:off x="3113088" y="5307013"/>
            <a:ext cx="714375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/>
          <p:cNvCxnSpPr>
            <a:stCxn id="0" idx="3"/>
            <a:endCxn id="0" idx="1"/>
          </p:cNvCxnSpPr>
          <p:nvPr/>
        </p:nvCxnSpPr>
        <p:spPr>
          <a:xfrm>
            <a:off x="3113088" y="6272213"/>
            <a:ext cx="714375" cy="1587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Прямоугольник 46"/>
          <p:cNvSpPr/>
          <p:nvPr/>
        </p:nvSpPr>
        <p:spPr>
          <a:xfrm>
            <a:off x="8399666" y="1913982"/>
            <a:ext cx="428628" cy="4572032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wordArtVert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Единство мира</a:t>
            </a:r>
          </a:p>
        </p:txBody>
      </p:sp>
      <p:cxnSp>
        <p:nvCxnSpPr>
          <p:cNvPr id="48" name="Прямая со стрелкой 47"/>
          <p:cNvCxnSpPr>
            <a:stCxn id="0" idx="3"/>
          </p:cNvCxnSpPr>
          <p:nvPr/>
        </p:nvCxnSpPr>
        <p:spPr>
          <a:xfrm>
            <a:off x="8042275" y="2557463"/>
            <a:ext cx="357188" cy="714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/>
          <p:cNvCxnSpPr>
            <a:stCxn id="0" idx="3"/>
          </p:cNvCxnSpPr>
          <p:nvPr/>
        </p:nvCxnSpPr>
        <p:spPr>
          <a:xfrm>
            <a:off x="8042275" y="3414713"/>
            <a:ext cx="357188" cy="714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 стрелкой 49"/>
          <p:cNvCxnSpPr>
            <a:stCxn id="0" idx="3"/>
          </p:cNvCxnSpPr>
          <p:nvPr/>
        </p:nvCxnSpPr>
        <p:spPr>
          <a:xfrm>
            <a:off x="8042275" y="6272213"/>
            <a:ext cx="357188" cy="71437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Прямая со стрелкой 50"/>
          <p:cNvCxnSpPr>
            <a:stCxn id="0" idx="3"/>
          </p:cNvCxnSpPr>
          <p:nvPr/>
        </p:nvCxnSpPr>
        <p:spPr>
          <a:xfrm>
            <a:off x="8042275" y="4378325"/>
            <a:ext cx="428625" cy="107950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Прямая со стрелкой 51"/>
          <p:cNvCxnSpPr>
            <a:stCxn id="0" idx="3"/>
          </p:cNvCxnSpPr>
          <p:nvPr/>
        </p:nvCxnSpPr>
        <p:spPr>
          <a:xfrm>
            <a:off x="8042275" y="5307013"/>
            <a:ext cx="357188" cy="3651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Прямоугольник 24"/>
          <p:cNvSpPr/>
          <p:nvPr/>
        </p:nvSpPr>
        <p:spPr>
          <a:xfrm>
            <a:off x="1112990" y="2199734"/>
            <a:ext cx="2000264" cy="7143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Изменение средств коммуникации</a:t>
            </a:r>
          </a:p>
        </p:txBody>
      </p:sp>
      <p:sp>
        <p:nvSpPr>
          <p:cNvPr id="27" name="Прямоугольник 26"/>
          <p:cNvSpPr/>
          <p:nvPr/>
        </p:nvSpPr>
        <p:spPr>
          <a:xfrm>
            <a:off x="1112990" y="3056990"/>
            <a:ext cx="2000264" cy="7143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Изменение транспорта</a:t>
            </a:r>
          </a:p>
        </p:txBody>
      </p:sp>
      <p:sp>
        <p:nvSpPr>
          <p:cNvPr id="28" name="Прямоугольник 27"/>
          <p:cNvSpPr/>
          <p:nvPr/>
        </p:nvSpPr>
        <p:spPr>
          <a:xfrm>
            <a:off x="1112990" y="3985684"/>
            <a:ext cx="2000264" cy="78581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Характер современной техники</a:t>
            </a:r>
          </a:p>
        </p:txBody>
      </p:sp>
      <p:sp>
        <p:nvSpPr>
          <p:cNvPr id="29" name="Прямоугольник 28"/>
          <p:cNvSpPr/>
          <p:nvPr/>
        </p:nvSpPr>
        <p:spPr>
          <a:xfrm>
            <a:off x="1112990" y="4914378"/>
            <a:ext cx="2000264" cy="785818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Особенности экономики</a:t>
            </a:r>
          </a:p>
        </p:txBody>
      </p:sp>
      <p:sp>
        <p:nvSpPr>
          <p:cNvPr id="33" name="Прямоугольник 32"/>
          <p:cNvSpPr/>
          <p:nvPr/>
        </p:nvSpPr>
        <p:spPr>
          <a:xfrm>
            <a:off x="1112990" y="5914510"/>
            <a:ext cx="2000264" cy="71438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Глобальные проблемы</a:t>
            </a:r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25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850" y="312738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Три измерения глобализации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grpSp>
        <p:nvGrpSpPr>
          <p:cNvPr id="62" name="Группа 31"/>
          <p:cNvGrpSpPr>
            <a:grpSpLocks/>
          </p:cNvGrpSpPr>
          <p:nvPr/>
        </p:nvGrpSpPr>
        <p:grpSpPr bwMode="auto">
          <a:xfrm>
            <a:off x="3276600" y="2155825"/>
            <a:ext cx="4621213" cy="4441825"/>
            <a:chOff x="357158" y="1844659"/>
            <a:chExt cx="4621242" cy="4441861"/>
          </a:xfrm>
        </p:grpSpPr>
        <p:sp>
          <p:nvSpPr>
            <p:cNvPr id="63" name="AutoShape 3"/>
            <p:cNvSpPr>
              <a:spLocks noChangeArrowheads="1"/>
            </p:cNvSpPr>
            <p:nvPr/>
          </p:nvSpPr>
          <p:spPr bwMode="gray">
            <a:xfrm>
              <a:off x="2401871" y="3119432"/>
              <a:ext cx="455615" cy="381003"/>
            </a:xfrm>
            <a:prstGeom prst="downArrow">
              <a:avLst>
                <a:gd name="adj1" fmla="val 58889"/>
                <a:gd name="adj2" fmla="val 60000"/>
              </a:avLst>
            </a:prstGeom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endParaRPr>
            </a:p>
          </p:txBody>
        </p:sp>
        <p:sp>
          <p:nvSpPr>
            <p:cNvPr id="64" name="AutoShape 4"/>
            <p:cNvSpPr>
              <a:spLocks noChangeArrowheads="1"/>
            </p:cNvSpPr>
            <p:nvPr/>
          </p:nvSpPr>
          <p:spPr bwMode="gray">
            <a:xfrm>
              <a:off x="2428858" y="4691070"/>
              <a:ext cx="455616" cy="381003"/>
            </a:xfrm>
            <a:prstGeom prst="downArrow">
              <a:avLst>
                <a:gd name="adj1" fmla="val 58889"/>
                <a:gd name="adj2" fmla="val 60000"/>
              </a:avLst>
            </a:prstGeom>
            <a:ln>
              <a:headEnd/>
              <a:tailEnd/>
            </a:ln>
          </p:spPr>
          <p:style>
            <a:lnRef idx="0">
              <a:schemeClr val="dk1"/>
            </a:lnRef>
            <a:fillRef idx="3">
              <a:schemeClr val="dk1"/>
            </a:fillRef>
            <a:effectRef idx="3">
              <a:schemeClr val="dk1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endParaRPr>
            </a:p>
          </p:txBody>
        </p:sp>
        <p:grpSp>
          <p:nvGrpSpPr>
            <p:cNvPr id="26634" name="Group 6"/>
            <p:cNvGrpSpPr>
              <a:grpSpLocks/>
            </p:cNvGrpSpPr>
            <p:nvPr/>
          </p:nvGrpSpPr>
          <p:grpSpPr bwMode="auto">
            <a:xfrm>
              <a:off x="357158" y="3516315"/>
              <a:ext cx="4621242" cy="1127131"/>
              <a:chOff x="2736" y="1803"/>
              <a:chExt cx="2552" cy="576"/>
            </a:xfrm>
          </p:grpSpPr>
          <p:sp>
            <p:nvSpPr>
              <p:cNvPr id="77" name="Rectangle 7"/>
              <p:cNvSpPr>
                <a:spLocks noChangeArrowheads="1"/>
              </p:cNvSpPr>
              <p:nvPr/>
            </p:nvSpPr>
            <p:spPr bwMode="gray">
              <a:xfrm>
                <a:off x="2736" y="1803"/>
                <a:ext cx="2552" cy="57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0">
                <a:schemeClr val="accent2"/>
              </a:lnRef>
              <a:fillRef idx="3">
                <a:schemeClr val="accent2"/>
              </a:fillRef>
              <a:effectRef idx="3">
                <a:schemeClr val="accent2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</a:endParaRPr>
              </a:p>
            </p:txBody>
          </p:sp>
          <p:sp>
            <p:nvSpPr>
              <p:cNvPr id="78" name="Rectangle 8"/>
              <p:cNvSpPr>
                <a:spLocks noChangeArrowheads="1"/>
              </p:cNvSpPr>
              <p:nvPr/>
            </p:nvSpPr>
            <p:spPr bwMode="gray">
              <a:xfrm>
                <a:off x="2743" y="1809"/>
                <a:ext cx="2536" cy="26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endParaRPr>
              </a:p>
            </p:txBody>
          </p:sp>
        </p:grpSp>
        <p:sp>
          <p:nvSpPr>
            <p:cNvPr id="66" name="Text Box 10"/>
            <p:cNvSpPr txBox="1">
              <a:spLocks noChangeArrowheads="1"/>
            </p:cNvSpPr>
            <p:nvPr/>
          </p:nvSpPr>
          <p:spPr bwMode="black">
            <a:xfrm>
              <a:off x="428596" y="3678237"/>
              <a:ext cx="4500590" cy="106204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 </a:t>
              </a:r>
              <a:r>
                <a:rPr lang="ru-RU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Как </a:t>
              </a:r>
              <a:r>
                <a:rPr lang="ru-RU" sz="1400" b="1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объективная тенденция</a:t>
              </a:r>
              <a:r>
                <a:rPr lang="ru-RU" sz="1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 </a:t>
              </a:r>
              <a:r>
                <a:rPr lang="ru-RU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глобализация отражает растущую взаимозависимость различных секторов мировой экономики.</a:t>
              </a:r>
            </a:p>
            <a:p>
              <a:pPr algn="ctr" fontAlgn="auto">
                <a:spcBef>
                  <a:spcPct val="50000"/>
                </a:spcBef>
                <a:spcAft>
                  <a:spcPts val="0"/>
                </a:spcAft>
                <a:defRPr/>
              </a:pPr>
              <a:endPara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+mn-cs"/>
              </a:endParaRPr>
            </a:p>
          </p:txBody>
        </p:sp>
        <p:sp>
          <p:nvSpPr>
            <p:cNvPr id="74" name="Rectangle 12"/>
            <p:cNvSpPr>
              <a:spLocks noChangeArrowheads="1"/>
            </p:cNvSpPr>
            <p:nvPr/>
          </p:nvSpPr>
          <p:spPr bwMode="gray">
            <a:xfrm>
              <a:off x="357158" y="5086368"/>
              <a:ext cx="4608542" cy="1128714"/>
            </a:xfrm>
            <a:prstGeom prst="rect">
              <a:avLst/>
            </a:prstGeom>
            <a:ln>
              <a:headEnd/>
              <a:tailEnd/>
            </a:ln>
          </p:spPr>
          <p:style>
            <a:lnRef idx="0">
              <a:schemeClr val="accent3"/>
            </a:lnRef>
            <a:fillRef idx="3">
              <a:schemeClr val="accent3"/>
            </a:fillRef>
            <a:effectRef idx="3">
              <a:schemeClr val="accent3"/>
            </a:effectRef>
            <a:fontRef idx="minor">
              <a:schemeClr val="lt1"/>
            </a:fontRef>
          </p:style>
          <p:txBody>
            <a:bodyPr wrap="none"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ru-RU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endParaRPr>
            </a:p>
          </p:txBody>
        </p:sp>
        <p:sp>
          <p:nvSpPr>
            <p:cNvPr id="68" name="Text Box 15"/>
            <p:cNvSpPr txBox="1">
              <a:spLocks noChangeArrowheads="1"/>
            </p:cNvSpPr>
            <p:nvPr/>
          </p:nvSpPr>
          <p:spPr bwMode="black">
            <a:xfrm>
              <a:off x="500034" y="5116524"/>
              <a:ext cx="4429153" cy="11699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ru-RU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Как </a:t>
              </a:r>
              <a:r>
                <a:rPr lang="ru-RU" sz="1400" b="1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методология</a:t>
              </a:r>
              <a:r>
                <a:rPr lang="ru-RU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 концепция глобализации дает аналитикам, хозяйственникам и политикам новую основу, позволяющую яснее понять, в каком направлении развиваются международные отношения</a:t>
              </a:r>
              <a:endPara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+mn-cs"/>
              </a:endParaRPr>
            </a:p>
          </p:txBody>
        </p:sp>
        <p:grpSp>
          <p:nvGrpSpPr>
            <p:cNvPr id="26640" name="Group 26"/>
            <p:cNvGrpSpPr>
              <a:grpSpLocks/>
            </p:cNvGrpSpPr>
            <p:nvPr/>
          </p:nvGrpSpPr>
          <p:grpSpPr bwMode="auto">
            <a:xfrm>
              <a:off x="357158" y="1844659"/>
              <a:ext cx="4608542" cy="1227151"/>
              <a:chOff x="2728" y="983"/>
              <a:chExt cx="2552" cy="576"/>
            </a:xfrm>
          </p:grpSpPr>
          <p:sp>
            <p:nvSpPr>
              <p:cNvPr id="71" name="Rectangle 27"/>
              <p:cNvSpPr>
                <a:spLocks noChangeArrowheads="1"/>
              </p:cNvSpPr>
              <p:nvPr/>
            </p:nvSpPr>
            <p:spPr bwMode="ltGray">
              <a:xfrm>
                <a:off x="2728" y="983"/>
                <a:ext cx="2552" cy="576"/>
              </a:xfrm>
              <a:prstGeom prst="rect">
                <a:avLst/>
              </a:prstGeom>
              <a:ln>
                <a:headEnd/>
                <a:tailEnd/>
              </a:ln>
            </p:spPr>
            <p:style>
              <a:lnRef idx="0">
                <a:schemeClr val="accent1"/>
              </a:lnRef>
              <a:fillRef idx="3">
                <a:schemeClr val="accent1"/>
              </a:fillRef>
              <a:effectRef idx="3">
                <a:schemeClr val="accent1"/>
              </a:effectRef>
              <a:fontRef idx="minor">
                <a:schemeClr val="lt1"/>
              </a:fontRef>
            </p:style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</a:endParaRPr>
              </a:p>
            </p:txBody>
          </p:sp>
          <p:sp>
            <p:nvSpPr>
              <p:cNvPr id="72" name="Rectangle 28"/>
              <p:cNvSpPr>
                <a:spLocks noChangeArrowheads="1"/>
              </p:cNvSpPr>
              <p:nvPr/>
            </p:nvSpPr>
            <p:spPr bwMode="ltGray">
              <a:xfrm>
                <a:off x="2741" y="989"/>
                <a:ext cx="2530" cy="262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ru-RU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endParaRPr>
              </a:p>
            </p:txBody>
          </p:sp>
        </p:grpSp>
        <p:sp>
          <p:nvSpPr>
            <p:cNvPr id="70" name="Text Box 30"/>
            <p:cNvSpPr txBox="1">
              <a:spLocks noChangeArrowheads="1"/>
            </p:cNvSpPr>
            <p:nvPr/>
          </p:nvSpPr>
          <p:spPr bwMode="black">
            <a:xfrm>
              <a:off x="500034" y="2000235"/>
              <a:ext cx="4429153" cy="954096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fontAlgn="auto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ru-RU" sz="1400" b="1" i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Цель</a:t>
              </a:r>
              <a:r>
                <a:rPr lang="ru-RU" sz="1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eorgia" pitchFamily="18" charset="0"/>
                  <a:cs typeface="+mn-cs"/>
                </a:rPr>
                <a:t> глобализация представляет собой сознательную политику государств, укрепляющую сплоченность мира и в итоге ведущую к возникновению единой мировой экономики. </a:t>
              </a:r>
              <a:endParaRPr 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  <a:cs typeface="+mn-cs"/>
              </a:endParaRPr>
            </a:p>
          </p:txBody>
        </p:sp>
      </p:grpSp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1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49" name="Picture 2" descr="D:\Globex\Шаблоны для PowerPoint\#0029\Components\02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323850" y="312738"/>
            <a:ext cx="6840538" cy="5238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Georgia" pitchFamily="18" charset="0"/>
                <a:ea typeface="Roboto" pitchFamily="2" charset="0"/>
                <a:cs typeface="+mn-cs"/>
              </a:rPr>
              <a:t>Плюсы и минусы</a:t>
            </a:r>
            <a:endParaRPr lang="ru-RU" sz="2800" dirty="0">
              <a:solidFill>
                <a:schemeClr val="tx1">
                  <a:lumMod val="65000"/>
                  <a:lumOff val="35000"/>
                </a:schemeClr>
              </a:solidFill>
              <a:latin typeface="Georgia" pitchFamily="18" charset="0"/>
              <a:ea typeface="Roboto" pitchFamily="2" charset="0"/>
              <a:cs typeface="+mn-cs"/>
            </a:endParaRPr>
          </a:p>
        </p:txBody>
      </p:sp>
      <p:sp>
        <p:nvSpPr>
          <p:cNvPr id="17" name="Rectangle 6"/>
          <p:cNvSpPr txBox="1">
            <a:spLocks noChangeArrowheads="1"/>
          </p:cNvSpPr>
          <p:nvPr/>
        </p:nvSpPr>
        <p:spPr>
          <a:xfrm>
            <a:off x="0" y="1458913"/>
            <a:ext cx="4316412" cy="5399087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>
            <a:normAutofit/>
          </a:bodyPr>
          <a:lstStyle/>
          <a:p>
            <a:pPr marL="342900" indent="-342900" algn="ctr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+</a:t>
            </a:r>
          </a:p>
          <a:p>
            <a:pPr marL="342900" indent="-34290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открываются дополнительные возможности и немалые выгоды отдельным странам</a:t>
            </a:r>
          </a:p>
          <a:p>
            <a:pPr marL="342900" indent="-34290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достигается экономия на издержках производства</a:t>
            </a:r>
          </a:p>
          <a:p>
            <a:pPr marL="342900" indent="-34290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оптимизируется размещение ресурсов в мировом масштабе</a:t>
            </a:r>
          </a:p>
          <a:p>
            <a:pPr marL="342900" indent="-34290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расширяются ассортимент, повышается качество товаров на национальных рынках</a:t>
            </a:r>
          </a:p>
          <a:p>
            <a:pPr marL="342900" indent="-34290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становятся широко доступными достижения науки, техники и культуры</a:t>
            </a:r>
          </a:p>
          <a:p>
            <a:pPr marL="342900" indent="-34290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ТНК играют положительную роль в создании современных производств в развивающихся странах  </a:t>
            </a:r>
          </a:p>
        </p:txBody>
      </p:sp>
      <p:sp>
        <p:nvSpPr>
          <p:cNvPr id="18" name="Rectangle 7"/>
          <p:cNvSpPr txBox="1">
            <a:spLocks noChangeArrowheads="1"/>
          </p:cNvSpPr>
          <p:nvPr/>
        </p:nvSpPr>
        <p:spPr>
          <a:xfrm>
            <a:off x="4572000" y="1484709"/>
            <a:ext cx="4572000" cy="5400675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/>
          <a:lstStyle/>
          <a:p>
            <a:pPr marL="342900" indent="-342900" algn="ctr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Wingdings" pitchFamily="2" charset="2"/>
              <a:buNone/>
              <a:defRPr/>
            </a:pPr>
            <a:r>
              <a:rPr lang="ru-RU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-</a:t>
            </a:r>
          </a:p>
          <a:p>
            <a:pPr marL="342900" indent="-34290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переход значительной части контроля над экономикой от суверенных государств к транснациональным корпорациям и международным организациям, у которых свои и нередко противоположные национальным интересы </a:t>
            </a:r>
          </a:p>
          <a:p>
            <a:pPr marL="342900" indent="-34290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программы либерализации и структурной адаптации, рекомендуемые ряду стран международными организациями, в возрастающей степени подчиняют внутреннюю социальную политику внешним экономическим силам </a:t>
            </a:r>
          </a:p>
          <a:p>
            <a:pPr marL="342900" indent="-342900" fontAlgn="auto">
              <a:lnSpc>
                <a:spcPct val="80000"/>
              </a:lnSpc>
              <a:spcBef>
                <a:spcPct val="20000"/>
              </a:spcBef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ru-RU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замедление общемирового прогресса по многим направлениям</a:t>
            </a:r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0237310"/>
              </p:ext>
            </p:extLst>
          </p:nvPr>
        </p:nvGraphicFramePr>
        <p:xfrm>
          <a:off x="251520" y="188640"/>
          <a:ext cx="8686800" cy="624800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Период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1950-1990 г. 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основные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авторы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особенности определений: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теории глобализации: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651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Робертсон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М.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Уотерс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Г.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Терборн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А. Зиновьев, И.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Валлерстрайн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Д. Мейер, Н.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Луман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рассматривается как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исторический процесс. Проявление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глобализации в отдельных сферах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жизни. Предлагается несколько частных определений, не претендующих на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всесторонний охват явления. Некоторые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исследователи определяют глобализацию, как результат развития социальных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отношений.</a:t>
                      </a:r>
                    </a:p>
                  </a:txBody>
                  <a:tcP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Теория мир-системного анализа И.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Валлерстайна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(1974),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Теория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Д.Мейера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уточняет мир-системный анализ в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пункте значимости национального государства (1987).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Валлерстайн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«Теория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глобалистского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представления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 современном обществе» (1984).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Луман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полагает, что глобальное понимание социальных процессов является более экономным способом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социологического описания современности. (1970–80-е</a:t>
                      </a:r>
                    </a:p>
                    <a:p>
                      <a:pPr algn="just"/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гг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 Теория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глокализации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(глобализация + локализация)</a:t>
                      </a:r>
                    </a:p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Робертсона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(1990)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3356475"/>
      </p:ext>
    </p:extLst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b="1" dirty="0"/>
              <a:t>Теория мировой системы И. </a:t>
            </a:r>
            <a:r>
              <a:rPr lang="ru-RU" b="1" dirty="0" err="1"/>
              <a:t>Валлерстайна</a:t>
            </a:r>
            <a:endParaRPr lang="ru-RU" dirty="0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z="2800" dirty="0"/>
              <a:t>1. </a:t>
            </a:r>
            <a:r>
              <a:rPr lang="ru-RU" sz="2800" b="1" dirty="0"/>
              <a:t>Ядро мировой системы</a:t>
            </a:r>
            <a:r>
              <a:rPr lang="en-US" sz="2800" b="1" dirty="0"/>
              <a:t>:</a:t>
            </a:r>
            <a:r>
              <a:rPr lang="ru-RU" sz="2800" b="1" dirty="0"/>
              <a:t> </a:t>
            </a:r>
            <a:r>
              <a:rPr lang="ru-RU" sz="2800" dirty="0"/>
              <a:t>модернизированные страны, технологический и финансовый центр мира (страны Запада, Япония, Южная Корея).</a:t>
            </a:r>
          </a:p>
        </p:txBody>
      </p:sp>
      <p:pic>
        <p:nvPicPr>
          <p:cNvPr id="17412" name="Picture 4" descr="C:\Users\ппп\Pictures\s88118_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9388" y="3789363"/>
            <a:ext cx="8321675" cy="278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5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58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b="1" dirty="0"/>
              <a:t>Теория мировой системы</a:t>
            </a:r>
            <a:endParaRPr lang="ru-RU" dirty="0"/>
          </a:p>
        </p:txBody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8625" y="1571625"/>
            <a:ext cx="8229600" cy="4525963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/>
              <a:t>Автор – </a:t>
            </a:r>
            <a:r>
              <a:rPr lang="ru-RU" b="1" dirty="0" err="1"/>
              <a:t>Иммануил</a:t>
            </a:r>
            <a:r>
              <a:rPr lang="ru-RU" b="1" dirty="0"/>
              <a:t> </a:t>
            </a:r>
            <a:r>
              <a:rPr lang="ru-RU" b="1" dirty="0" err="1"/>
              <a:t>Валлерстайн</a:t>
            </a:r>
            <a:endParaRPr lang="ru-RU" b="1" dirty="0"/>
          </a:p>
          <a:p>
            <a:pPr eaLnBrk="1" hangingPunct="1">
              <a:defRPr/>
            </a:pPr>
            <a:r>
              <a:rPr lang="ru-RU" dirty="0"/>
              <a:t>Суть</a:t>
            </a:r>
            <a:r>
              <a:rPr lang="en-US" dirty="0"/>
              <a:t>:</a:t>
            </a:r>
            <a:r>
              <a:rPr lang="ru-RU" dirty="0"/>
              <a:t> современный мир представляет собой единую систему, состоящую из трех элементов:</a:t>
            </a:r>
            <a:r>
              <a:rPr lang="ru-RU" i="1" dirty="0"/>
              <a:t> </a:t>
            </a:r>
            <a:r>
              <a:rPr lang="ru-RU" dirty="0"/>
              <a:t> ядро – периферия – </a:t>
            </a:r>
            <a:r>
              <a:rPr lang="ru-RU" dirty="0" err="1"/>
              <a:t>полупериферия</a:t>
            </a:r>
            <a:endParaRPr lang="ru-RU" dirty="0"/>
          </a:p>
        </p:txBody>
      </p:sp>
      <p:pic>
        <p:nvPicPr>
          <p:cNvPr id="16388" name="Picture 4" descr="C:\Users\ппп\Pictures\200px-Immanuel_Wallerstein_2008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86438" y="3714750"/>
            <a:ext cx="2540000" cy="3143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48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b="1" dirty="0"/>
              <a:t>Теория мировой системы И. </a:t>
            </a:r>
            <a:r>
              <a:rPr lang="ru-RU" b="1" dirty="0" err="1"/>
              <a:t>Валлерстайна</a:t>
            </a:r>
            <a:endParaRPr lang="ru-RU" dirty="0"/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dirty="0"/>
              <a:t>2. </a:t>
            </a:r>
            <a:r>
              <a:rPr lang="ru-RU" b="1" i="1" dirty="0"/>
              <a:t>Периферия</a:t>
            </a:r>
            <a:r>
              <a:rPr lang="en-US" b="1" i="1" dirty="0"/>
              <a:t>:</a:t>
            </a:r>
            <a:r>
              <a:rPr lang="ru-RU" b="1" i="1" dirty="0"/>
              <a:t> </a:t>
            </a:r>
            <a:r>
              <a:rPr lang="ru-RU" dirty="0"/>
              <a:t>отсталые аграрные страны, полностью зависимые от стран ядра (Африка, часть Азии и Латинской Америки). </a:t>
            </a:r>
          </a:p>
          <a:p>
            <a:pPr eaLnBrk="1" hangingPunct="1">
              <a:defRPr/>
            </a:pPr>
            <a:r>
              <a:rPr lang="ru-RU" dirty="0"/>
              <a:t>3. </a:t>
            </a:r>
            <a:r>
              <a:rPr lang="ru-RU" b="1" i="1" dirty="0" err="1"/>
              <a:t>Полупериферия</a:t>
            </a:r>
            <a:r>
              <a:rPr lang="ru-RU" b="1" dirty="0"/>
              <a:t> </a:t>
            </a:r>
            <a:r>
              <a:rPr lang="ru-RU" dirty="0"/>
              <a:t>–промежуточное звено между центром и периферией. Эксплуатируется ядром, но сама эксплуатирует периферию (Россия, часть Азии и Латинской Америки).  </a:t>
            </a:r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68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6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7848290"/>
              </p:ext>
            </p:extLst>
          </p:nvPr>
        </p:nvGraphicFramePr>
        <p:xfrm>
          <a:off x="251520" y="1196752"/>
          <a:ext cx="8686800" cy="356576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Период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1990-2000 г. 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основные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авторы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особенности определений: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теории глобализации: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651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Валлерстрайн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Г.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Терборн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М.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Арчер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Р.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Робертсон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М.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Фезерстоун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А.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Аппадураи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Б. Тернер, А. Зиновьев, Н.С. Мироненко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Определения носят более экономический характер. Глобализация комплексно внедряется в различные сферы общественной жизни.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Терборн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«Волны глобализации» (2000),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А.Зиновьев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Теория о глобализации, как грандиозном процессе, захватывающем все сферы жизни общества. (2000-е гг.) Н.С. Мироненко предлагает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глобализационную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модель развития мирового хозяйства.(1990-е гг.)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88698"/>
      </p:ext>
    </p:extLst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Объект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5637533"/>
              </p:ext>
            </p:extLst>
          </p:nvPr>
        </p:nvGraphicFramePr>
        <p:xfrm>
          <a:off x="251520" y="980728"/>
          <a:ext cx="8686800" cy="42972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5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0040">
                <a:tc gridSpan="3"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Период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2000-наст. время  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2048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основные</a:t>
                      </a:r>
                      <a:r>
                        <a:rPr lang="ru-RU" sz="1600" baseline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авторы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особенности определений: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теории глобализации: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65651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Кастельс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Л.Е. Гринин, Р.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Робертсон</a:t>
                      </a:r>
                      <a:endParaRPr lang="ru-RU"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Рассмотрение глобализации в комплексе взаимодействия всех сфер жизнедеятельности, унификация, прогнозирование будущих возможных последствий глобализации. Процесс всемирной экономической, политической и культурной интеграции.</a:t>
                      </a:r>
                    </a:p>
                  </a:txBody>
                  <a:tcPr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Теория Р.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Робертсона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который обращает внимание на культурные аспекты глобализации и на значимость коллективных (социальных) представлений о глобальности социальных процессов, которые созданы в результате деятельности средств массовой информации. (2003) Попытки уйти от понятия. А.Д. 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Бородаевский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 статье за 2010 г. вводит термин «</a:t>
                      </a:r>
                      <a:r>
                        <a:rPr lang="ru-RU" sz="16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сиамизация</a:t>
                      </a:r>
                      <a:r>
                        <a:rPr lang="ru-RU"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».</a:t>
                      </a: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3000571"/>
      </p:ext>
    </p:extLst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469558"/>
              </p:ext>
            </p:extLst>
          </p:nvPr>
        </p:nvGraphicFramePr>
        <p:xfrm>
          <a:off x="107504" y="908720"/>
          <a:ext cx="8856984" cy="48175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50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255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подход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автор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дефиниция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9061">
                <a:tc rowSpan="3">
                  <a:txBody>
                    <a:bodyPr/>
                    <a:lstStyle/>
                    <a:p>
                      <a:pPr algn="ctr"/>
                      <a:endParaRPr lang="ru-RU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RU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ru-RU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</a:t>
                      </a: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</a:t>
                      </a: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</a:t>
                      </a: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</a:t>
                      </a: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</a:t>
                      </a: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</a:t>
                      </a: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</a:t>
                      </a: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</a:t>
                      </a: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Ы</a:t>
                      </a:r>
                    </a:p>
                    <a:p>
                      <a:pPr algn="ctr"/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Й</a:t>
                      </a:r>
                    </a:p>
                    <a:p>
                      <a:endParaRPr lang="ru-RU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Б.Г. Гюнтер, Р. Ванн дер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Хевен</a:t>
                      </a:r>
                      <a:endParaRPr lang="ru-RU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представляет собой постепенную интеграцию элементов мировой экономики и мирового сообщества в единое целое под влиянием новых технологий, новых экономических отношений, а также соответствующих национальных и международных политик, разрабатываемых и реализуемых различными </a:t>
                      </a:r>
                      <a:r>
                        <a:rPr lang="ru-RU" sz="1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акторами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включая национальные правительства, международные организации, деловые круги и институты гражданского общества</a:t>
                      </a:r>
                      <a:endParaRPr lang="ru-RU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05487">
                <a:tc vMerge="1">
                  <a:txBody>
                    <a:bodyPr/>
                    <a:lstStyle/>
                    <a:p>
                      <a:endParaRPr lang="ru-RU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Пан Ги Мун</a:t>
                      </a:r>
                      <a:endParaRPr lang="ru-RU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означает все более сложный комплекс трансграничных взаимодействий между физическими лицами, предприятиями, институтами и рынками. Многообразные задачи, которые она ставит, государства не могут успешно решать только собственными силами, что свидетельствует о необходимости укрепления многостороннего сотрудничества</a:t>
                      </a:r>
                      <a:endParaRPr lang="ru-RU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5373">
                <a:tc vMerge="1">
                  <a:txBody>
                    <a:bodyPr/>
                    <a:lstStyle/>
                    <a:p>
                      <a:endParaRPr lang="ru-RU" sz="10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Л.Е. Гринин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– это процесс всемирной экономической, политической и культурной интеграции и унификации, основным следствием которого является мировое разделение труда, миграция, концентрация капитала, человеческих и производственных ресурсов, стандартизация законодательства, экономических и технологических процессов, а также сближение и слияние культур разных стран. Это объективный процесс, который носит системный характер, то есть охватывает все сферы жизни общества. </a:t>
                      </a:r>
                      <a:endParaRPr lang="ru-RU" sz="14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953301"/>
      </p:ext>
    </p:extLst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b="1" dirty="0"/>
              <a:t>Концепция «золотого миллиарда»</a:t>
            </a:r>
            <a:endParaRPr lang="ru-RU" dirty="0"/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229600" cy="5257800"/>
          </a:xfrm>
        </p:spPr>
        <p:txBody>
          <a:bodyPr/>
          <a:lstStyle/>
          <a:p>
            <a:pPr eaLnBrk="1" hangingPunct="1">
              <a:defRPr/>
            </a:pPr>
            <a:r>
              <a:rPr lang="ru-RU" dirty="0"/>
              <a:t>Автор – </a:t>
            </a:r>
            <a:r>
              <a:rPr lang="ru-RU" b="1" dirty="0" err="1"/>
              <a:t>Самуэль</a:t>
            </a:r>
            <a:r>
              <a:rPr lang="ru-RU" b="1" dirty="0"/>
              <a:t> </a:t>
            </a:r>
            <a:r>
              <a:rPr lang="ru-RU" b="1" dirty="0" err="1"/>
              <a:t>Хантингтон</a:t>
            </a:r>
            <a:r>
              <a:rPr lang="ru-RU" dirty="0"/>
              <a:t>.</a:t>
            </a:r>
            <a:endParaRPr lang="ru-RU" b="1" dirty="0"/>
          </a:p>
          <a:p>
            <a:pPr eaLnBrk="1" hangingPunct="1">
              <a:defRPr/>
            </a:pPr>
            <a:r>
              <a:rPr lang="ru-RU" b="1" dirty="0"/>
              <a:t>Суть</a:t>
            </a:r>
            <a:r>
              <a:rPr lang="en-US" b="1" dirty="0"/>
              <a:t>:</a:t>
            </a:r>
            <a:r>
              <a:rPr lang="ru-RU" dirty="0"/>
              <a:t> </a:t>
            </a:r>
            <a:r>
              <a:rPr lang="ru-RU" sz="2800" dirty="0"/>
              <a:t>блага цивилизации могут достаться только ограниченному количеству людей вследствие нехватки мировых ресурсов, поэтому в перспективе неизбежно обострение международных конфликтов из-за ресурсов и раскол мира на две части:</a:t>
            </a:r>
          </a:p>
          <a:p>
            <a:pPr eaLnBrk="1" hangingPunct="1">
              <a:defRPr/>
            </a:pPr>
            <a:r>
              <a:rPr lang="ru-RU" sz="2800" i="1" dirty="0"/>
              <a:t>1) «</a:t>
            </a:r>
            <a:r>
              <a:rPr lang="ru-RU" sz="2800" b="1" i="1" dirty="0"/>
              <a:t>золотой миллиард</a:t>
            </a:r>
            <a:r>
              <a:rPr lang="ru-RU" sz="2800" i="1" dirty="0"/>
              <a:t>»</a:t>
            </a:r>
            <a:r>
              <a:rPr lang="ru-RU" sz="2800" dirty="0"/>
              <a:t> - зона благополучия, </a:t>
            </a:r>
          </a:p>
          <a:p>
            <a:pPr eaLnBrk="1" hangingPunct="1">
              <a:defRPr/>
            </a:pPr>
            <a:r>
              <a:rPr lang="ru-RU" sz="2800" dirty="0"/>
              <a:t>2) страны, обслуживающие «золотой миллиард».</a:t>
            </a:r>
          </a:p>
          <a:p>
            <a:pPr eaLnBrk="1" hangingPunct="1">
              <a:defRPr/>
            </a:pPr>
            <a:endParaRPr lang="ru-RU" dirty="0"/>
          </a:p>
        </p:txBody>
      </p:sp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78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3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b="1" dirty="0"/>
              <a:t>Концепция «золотого миллиарда»</a:t>
            </a:r>
            <a:endParaRPr lang="ru-RU" dirty="0"/>
          </a:p>
        </p:txBody>
      </p:sp>
      <p:sp>
        <p:nvSpPr>
          <p:cNvPr id="6" name="Содержимое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defRPr/>
            </a:pPr>
            <a:r>
              <a:rPr lang="ru-RU" dirty="0"/>
              <a:t>Важнейшей задачей Запада является обеспечение своего господства на максимально длительную перспективу и закрытие своих границ для переселенцев из неразвитых стран.</a:t>
            </a:r>
          </a:p>
        </p:txBody>
      </p:sp>
      <p:pic>
        <p:nvPicPr>
          <p:cNvPr id="21508" name="Picture 2" descr="C:\Users\ппп\Pictures\food_crisis1-550x290.jpg"/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1916113"/>
            <a:ext cx="4038600" cy="3168650"/>
          </a:xfrm>
          <a:noFill/>
        </p:spPr>
      </p:pic>
    </p:spTree>
  </p:cSld>
  <p:clrMapOvr>
    <a:masterClrMapping/>
  </p:clrMapOvr>
  <p:transition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200" dirty="0"/>
              <a:t>Этапы и развитие процесса глобализации мировой экономики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4267247"/>
              </p:ext>
            </p:extLst>
          </p:nvPr>
        </p:nvGraphicFramePr>
        <p:xfrm>
          <a:off x="457200" y="1556792"/>
          <a:ext cx="8229599" cy="504055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21262">
                  <a:extLst>
                    <a:ext uri="{9D8B030D-6E8A-4147-A177-3AD203B41FA5}">
                      <a16:colId xmlns:a16="http://schemas.microsoft.com/office/drawing/2014/main" val="2548443429"/>
                    </a:ext>
                  </a:extLst>
                </a:gridCol>
                <a:gridCol w="1445134">
                  <a:extLst>
                    <a:ext uri="{9D8B030D-6E8A-4147-A177-3AD203B41FA5}">
                      <a16:colId xmlns:a16="http://schemas.microsoft.com/office/drawing/2014/main" val="707016337"/>
                    </a:ext>
                  </a:extLst>
                </a:gridCol>
                <a:gridCol w="1667935">
                  <a:extLst>
                    <a:ext uri="{9D8B030D-6E8A-4147-A177-3AD203B41FA5}">
                      <a16:colId xmlns:a16="http://schemas.microsoft.com/office/drawing/2014/main" val="2203503630"/>
                    </a:ext>
                  </a:extLst>
                </a:gridCol>
                <a:gridCol w="1647681">
                  <a:extLst>
                    <a:ext uri="{9D8B030D-6E8A-4147-A177-3AD203B41FA5}">
                      <a16:colId xmlns:a16="http://schemas.microsoft.com/office/drawing/2014/main" val="3060505669"/>
                    </a:ext>
                  </a:extLst>
                </a:gridCol>
                <a:gridCol w="1847587">
                  <a:extLst>
                    <a:ext uri="{9D8B030D-6E8A-4147-A177-3AD203B41FA5}">
                      <a16:colId xmlns:a16="http://schemas.microsoft.com/office/drawing/2014/main" val="522477584"/>
                    </a:ext>
                  </a:extLst>
                </a:gridCol>
              </a:tblGrid>
              <a:tr h="47821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Этап глобализации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Период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Основные характеристики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Ключевые события и факторы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Экономические последствия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extLst>
                  <a:ext uri="{0D108BD9-81ED-4DB2-BD59-A6C34878D82A}">
                    <a16:rowId xmlns:a16="http://schemas.microsoft.com/office/drawing/2014/main" val="1674307369"/>
                  </a:ext>
                </a:extLst>
              </a:tr>
              <a:tr h="95643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</a:rPr>
                        <a:t>Прото</a:t>
                      </a:r>
                      <a:r>
                        <a:rPr lang="ru-RU" sz="1200" dirty="0">
                          <a:effectLst/>
                        </a:rPr>
                        <a:t>-глобализация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XV – XVIII вв.</a:t>
                      </a:r>
                      <a:endParaRPr lang="ru-RU" sz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Формирование мировых торговых путей, начало колониальной системы</a:t>
                      </a:r>
                      <a:endParaRPr lang="ru-RU" sz="1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Великие географические открытия, создание Ост-Индских компаний</a:t>
                      </a:r>
                      <a:endParaRPr lang="ru-RU" sz="1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Возникновение мирового рынка сырья и золота; начало международного разделения труда.</a:t>
                      </a:r>
                      <a:endParaRPr lang="ru-RU" sz="1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extLst>
                  <a:ext uri="{0D108BD9-81ED-4DB2-BD59-A6C34878D82A}">
                    <a16:rowId xmlns:a16="http://schemas.microsoft.com/office/drawing/2014/main" val="1473934491"/>
                  </a:ext>
                </a:extLst>
              </a:tr>
              <a:tr h="12148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</a:rPr>
                        <a:t>Ранняя индустриальная глобализация</a:t>
                      </a:r>
                      <a:endParaRPr lang="ru-RU" sz="1200" dirty="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Конец XVIII – конец XIX вв.</a:t>
                      </a:r>
                      <a:endParaRPr lang="ru-RU" sz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Революция транспорта и связи, промышленный переворот</a:t>
                      </a:r>
                      <a:endParaRPr lang="ru-RU" sz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Изобретение парового двигателя, железные дороги, телеграф, международная торговля</a:t>
                      </a:r>
                      <a:endParaRPr lang="ru-RU" sz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Резкий рост объемов мировой торговли; появление первых транснациональных компаний</a:t>
                      </a:r>
                      <a:endParaRPr lang="ru-RU" sz="1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extLst>
                  <a:ext uri="{0D108BD9-81ED-4DB2-BD59-A6C34878D82A}">
                    <a16:rowId xmlns:a16="http://schemas.microsoft.com/office/drawing/2014/main" val="1726484349"/>
                  </a:ext>
                </a:extLst>
              </a:tr>
              <a:tr h="111584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Имперская глобализация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1870–1914 гг.</a:t>
                      </a:r>
                      <a:endParaRPr lang="ru-RU" sz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Интенсивная миграция капитала и рабочей силы; колонизация</a:t>
                      </a:r>
                      <a:endParaRPr lang="ru-RU" sz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Золотой стандарт, экспансия европейских держав в Африку и Азию</a:t>
                      </a:r>
                      <a:endParaRPr lang="ru-RU" sz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Формирование мирового финансового рынка, усиление зависимости периферии от метрополий</a:t>
                      </a:r>
                      <a:endParaRPr lang="ru-RU" sz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extLst>
                  <a:ext uri="{0D108BD9-81ED-4DB2-BD59-A6C34878D82A}">
                    <a16:rowId xmlns:a16="http://schemas.microsoft.com/office/drawing/2014/main" val="4022954248"/>
                  </a:ext>
                </a:extLst>
              </a:tr>
              <a:tr h="12752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</a:rPr>
                        <a:t>Деглобализация (межвоенный период)</a:t>
                      </a:r>
                      <a:endParaRPr lang="ru-RU" sz="1200">
                        <a:effectLst/>
                        <a:latin typeface="Calibri" panose="020F0502020204030204" pitchFamily="34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1914–1945 гг.</a:t>
                      </a:r>
                      <a:endParaRPr lang="ru-RU" sz="12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Разрыв международных связей, кризисы и войны</a:t>
                      </a:r>
                      <a:endParaRPr lang="ru-RU" sz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Первая мировая война, Великая депрессия, протекционизм, Вторая мировая война</a:t>
                      </a:r>
                      <a:endParaRPr lang="ru-RU" sz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Падение международной торговли, разрушение мировой экономики, экономический национализм</a:t>
                      </a:r>
                      <a:endParaRPr lang="ru-RU" sz="12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51936" marR="51936" marT="0" marB="0"/>
                </a:tc>
                <a:extLst>
                  <a:ext uri="{0D108BD9-81ED-4DB2-BD59-A6C34878D82A}">
                    <a16:rowId xmlns:a16="http://schemas.microsoft.com/office/drawing/2014/main" val="9595210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2382032"/>
      </p:ext>
    </p:extLst>
  </p:cSld>
  <p:clrMapOvr>
    <a:masterClrMapping/>
  </p:clrMapOvr>
  <p:transition>
    <p:strips dir="r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923"/>
          </a:xfrm>
        </p:spPr>
        <p:txBody>
          <a:bodyPr/>
          <a:lstStyle/>
          <a:p>
            <a:r>
              <a:rPr lang="ru-RU" sz="3200" dirty="0"/>
              <a:t>Этапы и развитие процесса глобализации мировой экономики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4023148"/>
              </p:ext>
            </p:extLst>
          </p:nvPr>
        </p:nvGraphicFramePr>
        <p:xfrm>
          <a:off x="215516" y="1196752"/>
          <a:ext cx="8712967" cy="54995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6485">
                  <a:extLst>
                    <a:ext uri="{9D8B030D-6E8A-4147-A177-3AD203B41FA5}">
                      <a16:colId xmlns:a16="http://schemas.microsoft.com/office/drawing/2014/main" val="2411581447"/>
                    </a:ext>
                  </a:extLst>
                </a:gridCol>
                <a:gridCol w="1530015">
                  <a:extLst>
                    <a:ext uri="{9D8B030D-6E8A-4147-A177-3AD203B41FA5}">
                      <a16:colId xmlns:a16="http://schemas.microsoft.com/office/drawing/2014/main" val="27453160"/>
                    </a:ext>
                  </a:extLst>
                </a:gridCol>
                <a:gridCol w="1765903">
                  <a:extLst>
                    <a:ext uri="{9D8B030D-6E8A-4147-A177-3AD203B41FA5}">
                      <a16:colId xmlns:a16="http://schemas.microsoft.com/office/drawing/2014/main" val="409370996"/>
                    </a:ext>
                  </a:extLst>
                </a:gridCol>
                <a:gridCol w="1744457">
                  <a:extLst>
                    <a:ext uri="{9D8B030D-6E8A-4147-A177-3AD203B41FA5}">
                      <a16:colId xmlns:a16="http://schemas.microsoft.com/office/drawing/2014/main" val="297165831"/>
                    </a:ext>
                  </a:extLst>
                </a:gridCol>
                <a:gridCol w="1956107">
                  <a:extLst>
                    <a:ext uri="{9D8B030D-6E8A-4147-A177-3AD203B41FA5}">
                      <a16:colId xmlns:a16="http://schemas.microsoft.com/office/drawing/2014/main" val="103628392"/>
                    </a:ext>
                  </a:extLst>
                </a:gridCol>
              </a:tblGrid>
              <a:tr h="98902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Послевоенная глобализация (либерализация)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1945–1980 гг.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Создание новой мировой экономической системы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Бреттон-Вудская система, создание МВФ, ВБ, ГАТТ; восстановление Европы и Японии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Ускорение экономического роста, расширение внешней торговли, формирование международных институтов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extLst>
                  <a:ext uri="{0D108BD9-81ED-4DB2-BD59-A6C34878D82A}">
                    <a16:rowId xmlns:a16="http://schemas.microsoft.com/office/drawing/2014/main" val="3118857975"/>
                  </a:ext>
                </a:extLst>
              </a:tr>
              <a:tr h="878343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Неолиберальная глобализация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1980–2000 гг.</a:t>
                      </a:r>
                      <a:endParaRPr lang="ru-RU" sz="1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Финансовая интеграция, развитие технологий и ТНК</a:t>
                      </a:r>
                      <a:endParaRPr lang="ru-RU" sz="1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Вашингтонский консенсус, приватизация, дерегулирование, создание ВТО</a:t>
                      </a:r>
                      <a:endParaRPr lang="ru-RU" sz="1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Усиление свободного движения капитала, рост глобальных цепочек добавленной стоимости</a:t>
                      </a:r>
                      <a:endParaRPr lang="ru-RU" sz="1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extLst>
                  <a:ext uri="{0D108BD9-81ED-4DB2-BD59-A6C34878D82A}">
                    <a16:rowId xmlns:a16="http://schemas.microsoft.com/office/drawing/2014/main" val="885302160"/>
                  </a:ext>
                </a:extLst>
              </a:tr>
              <a:tr h="88626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Современная (цифровая и инновационная) глобализация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XXI век</a:t>
                      </a:r>
                      <a:endParaRPr lang="ru-RU" sz="1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Доминирование цифровых технологий, сервисной экономики, устойчивого развития</a:t>
                      </a:r>
                      <a:endParaRPr lang="ru-RU" sz="1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Появление глобальных IT-гигантов, цифровая трансформация, зелёная экономика, ESG-стандарты</a:t>
                      </a:r>
                      <a:endParaRPr lang="ru-RU" sz="1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Формирование цифровых рынков, рост транснациональных сетей, увеличение взаимозависимости стран</a:t>
                      </a:r>
                      <a:endParaRPr lang="ru-RU" sz="1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extLst>
                  <a:ext uri="{0D108BD9-81ED-4DB2-BD59-A6C34878D82A}">
                    <a16:rowId xmlns:a16="http://schemas.microsoft.com/office/drawing/2014/main" val="1244291719"/>
                  </a:ext>
                </a:extLst>
              </a:tr>
              <a:tr h="109970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Переход к «умной» и устойчивой глобализации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2020-е годы</a:t>
                      </a:r>
                      <a:endParaRPr lang="ru-RU" sz="1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нового типа - гибкая, экологически ориентированная, с элементами регионализации и цифрового суверенитета</a:t>
                      </a:r>
                      <a:endParaRPr lang="ru-RU" sz="1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COVID-19, энергетический кризис, переход к зелёной экономике, геополитические конфликты, санкции</a:t>
                      </a:r>
                      <a:endParaRPr lang="ru-RU" sz="1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Диверсификация цепочек поставок, рост протекционизма, формирование новых экономических блоков</a:t>
                      </a:r>
                      <a:endParaRPr lang="ru-RU" sz="1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extLst>
                  <a:ext uri="{0D108BD9-81ED-4DB2-BD59-A6C34878D82A}">
                    <a16:rowId xmlns:a16="http://schemas.microsoft.com/office/drawing/2014/main" val="3194227939"/>
                  </a:ext>
                </a:extLst>
              </a:tr>
              <a:tr h="154241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Деглобализация (переход к многополярному миру)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2022-по нынешнее время</a:t>
                      </a:r>
                      <a:endParaRPr lang="ru-RU" sz="1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Возникновения новой холодной войны, переход к восточному и западному лагерю</a:t>
                      </a:r>
                      <a:endParaRPr lang="ru-RU" sz="110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Специальная военная операция России в Украине, санкции против России и стран-партнеров, замораживание международных активов России, отказ от энергоресурсов</a:t>
                      </a:r>
                      <a:endParaRPr lang="ru-RU" sz="1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solidFill>
                            <a:srgbClr val="00206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Так как процесс еще идет рано говорить об экономических последствиях, но уже показать ослабления темпов роста производства в Европе и возможно новом миропорядке</a:t>
                      </a:r>
                      <a:endParaRPr lang="ru-RU" sz="1100" dirty="0">
                        <a:solidFill>
                          <a:srgbClr val="002060"/>
                        </a:solidFill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7442" marR="37442" marT="0" marB="0"/>
                </a:tc>
                <a:extLst>
                  <a:ext uri="{0D108BD9-81ED-4DB2-BD59-A6C34878D82A}">
                    <a16:rowId xmlns:a16="http://schemas.microsoft.com/office/drawing/2014/main" val="15168596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482442"/>
      </p:ext>
    </p:extLst>
  </p:cSld>
  <p:clrMapOvr>
    <a:masterClrMapping/>
  </p:clrMapOvr>
  <p:transition>
    <p:strips dir="r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74923"/>
          </a:xfrm>
        </p:spPr>
        <p:txBody>
          <a:bodyPr/>
          <a:lstStyle/>
          <a:p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Основные направления научных концепций глобализации мировой экономики: </a:t>
            </a:r>
            <a:r>
              <a:rPr lang="ru-RU" sz="20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гиперглобалистское</a:t>
            </a:r>
            <a:r>
              <a:rPr lang="ru-RU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скептическое и трансформационное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251520" y="1052736"/>
            <a:ext cx="8640960" cy="5544616"/>
          </a:xfrm>
        </p:spPr>
        <p:txBody>
          <a:bodyPr/>
          <a:lstStyle/>
          <a:p>
            <a:pPr lvl="0"/>
            <a:r>
              <a:rPr lang="ru-RU" sz="1400" b="1" dirty="0" err="1">
                <a:effectLst/>
              </a:rPr>
              <a:t>Гиперглобалистское</a:t>
            </a:r>
            <a:r>
              <a:rPr lang="ru-RU" sz="1400" b="1" dirty="0">
                <a:effectLst/>
              </a:rPr>
              <a:t> направление.</a:t>
            </a:r>
            <a:r>
              <a:rPr lang="ru-RU" sz="1400" dirty="0">
                <a:effectLst/>
              </a:rPr>
              <a:t> Его приверженцы считают, что глобализация открывает принципиально новую эпоху человеческой истории. Они акцентируют внимание на роли мировой экономики как «локомотива» глобализации. По их мнению, неолиберальное расширение рынков и либерализация приводят к постоянному росту интеграции, в результате чего «традиционные национальные государства становятся неестественными и даже невозможными коммерческими единицами мировой экономики». Представители этой школы (например, </a:t>
            </a:r>
            <a:r>
              <a:rPr lang="ru-RU" sz="1400" dirty="0" err="1">
                <a:effectLst/>
              </a:rPr>
              <a:t>К.Омаэ</a:t>
            </a:r>
            <a:r>
              <a:rPr lang="ru-RU" sz="1400" dirty="0">
                <a:effectLst/>
              </a:rPr>
              <a:t>, </a:t>
            </a:r>
            <a:r>
              <a:rPr lang="ru-RU" sz="1400" dirty="0" err="1">
                <a:effectLst/>
              </a:rPr>
              <a:t>У.Ристон</a:t>
            </a:r>
            <a:r>
              <a:rPr lang="ru-RU" sz="1400" dirty="0">
                <a:effectLst/>
              </a:rPr>
              <a:t>, </a:t>
            </a:r>
            <a:r>
              <a:rPr lang="ru-RU" sz="1400" dirty="0" err="1">
                <a:effectLst/>
              </a:rPr>
              <a:t>С.Стрейндж</a:t>
            </a:r>
            <a:r>
              <a:rPr lang="ru-RU" sz="1400" dirty="0">
                <a:effectLst/>
              </a:rPr>
              <a:t>) видят глобализацию почти исключительно через призму экономики и рынков: с каждым шагом во имя свободной торговли и капиталовложений суверенные границы стираются, а государства уступают роль всё более мощным ТНК.</a:t>
            </a:r>
          </a:p>
          <a:p>
            <a:endParaRPr lang="ru-RU" sz="1400" b="1" dirty="0" smtClean="0">
              <a:effectLst/>
            </a:endParaRPr>
          </a:p>
          <a:p>
            <a:r>
              <a:rPr lang="ru-RU" sz="1400" b="1" dirty="0" smtClean="0">
                <a:effectLst/>
              </a:rPr>
              <a:t>Скептическое </a:t>
            </a:r>
            <a:r>
              <a:rPr lang="ru-RU" sz="1400" b="1" dirty="0">
                <a:effectLst/>
              </a:rPr>
              <a:t>направление</a:t>
            </a:r>
            <a:r>
              <a:rPr lang="ru-RU" sz="1400" dirty="0">
                <a:effectLst/>
              </a:rPr>
              <a:t>. Эти авторы (</a:t>
            </a:r>
            <a:r>
              <a:rPr lang="ru-RU" sz="1400" dirty="0" err="1">
                <a:effectLst/>
              </a:rPr>
              <a:t>Дж.Томпсон</a:t>
            </a:r>
            <a:r>
              <a:rPr lang="ru-RU" sz="1400" dirty="0">
                <a:effectLst/>
              </a:rPr>
              <a:t>, </a:t>
            </a:r>
            <a:r>
              <a:rPr lang="ru-RU" sz="1400" dirty="0" err="1">
                <a:effectLst/>
              </a:rPr>
              <a:t>П.Хирст</a:t>
            </a:r>
            <a:r>
              <a:rPr lang="ru-RU" sz="1400" dirty="0">
                <a:effectLst/>
              </a:rPr>
              <a:t>, </a:t>
            </a:r>
            <a:r>
              <a:rPr lang="ru-RU" sz="1400" dirty="0" err="1">
                <a:effectLst/>
              </a:rPr>
              <a:t>Д.Хелд</a:t>
            </a:r>
            <a:r>
              <a:rPr lang="ru-RU" sz="1400" dirty="0">
                <a:effectLst/>
              </a:rPr>
              <a:t> др.) признают усиление международной торговли и финансовых связей, но сомневаются в том, что текущая глобализация качественно новая. Скептики видят в происходящем в первую очередь углубление региональной интеграции, а не формирование единой мировой системы. Они утверждают, что национальные государства сохраняют ключевую роль: </a:t>
            </a:r>
            <a:r>
              <a:rPr lang="ru-RU" sz="1400" dirty="0" err="1">
                <a:effectLst/>
              </a:rPr>
              <a:t>либерализационные</a:t>
            </a:r>
            <a:r>
              <a:rPr lang="ru-RU" sz="1400" dirty="0">
                <a:effectLst/>
              </a:rPr>
              <a:t> реформы проводятся под их контролем, и фактически глобализация ограничена «законом одной цены», то есть выравниванием доходов при сохранении национальной доминанты. Согласно </a:t>
            </a:r>
            <a:r>
              <a:rPr lang="ru-RU" sz="1400" dirty="0" err="1">
                <a:effectLst/>
              </a:rPr>
              <a:t>Хелду</a:t>
            </a:r>
            <a:r>
              <a:rPr lang="ru-RU" sz="1400" dirty="0">
                <a:effectLst/>
              </a:rPr>
              <a:t> и соавторам, скептики полагают, что глобализация – это всего лишь «интегрированная мировая экономика», и исторически интенсивность обмена в разные эпохи менялась; например, международная торговля была весьма высока на рубеже XIX–XX вв. и лишь потом пошла на спад. Скептики подчёркивают, что национальные институты (правительства, регуляции) по-прежнему способны замедлять или перенастраивать глобальные </a:t>
            </a:r>
            <a:r>
              <a:rPr lang="ru-RU" sz="1400" dirty="0" smtClean="0">
                <a:effectLst/>
              </a:rPr>
              <a:t>потоки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80191113"/>
      </p:ext>
    </p:extLst>
  </p:cSld>
  <p:clrMapOvr>
    <a:masterClrMapping/>
  </p:clrMapOvr>
  <p:transition>
    <p:strips dir="r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1520" y="1268760"/>
            <a:ext cx="7680960" cy="4766280"/>
          </a:xfrm>
          <a:solidFill>
            <a:schemeClr val="bg2">
              <a:lumMod val="90000"/>
            </a:schemeClr>
          </a:solidFill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b="1" dirty="0"/>
              <a:t>Трансформационное направление</a:t>
            </a:r>
            <a:r>
              <a:rPr lang="ru-RU" dirty="0"/>
              <a:t> </a:t>
            </a:r>
            <a:r>
              <a:rPr lang="ru-RU" dirty="0" err="1"/>
              <a:t>Трансформационисты</a:t>
            </a:r>
            <a:r>
              <a:rPr lang="ru-RU" dirty="0"/>
              <a:t> считают глобализацию главным движущим фактором всеобщих изменений – экономических, социальных и политических. Они не сводят глобализацию к экономике, а рассматривают её как «</a:t>
            </a:r>
            <a:r>
              <a:rPr lang="ru-RU" dirty="0" err="1"/>
              <a:t>радикализацию</a:t>
            </a:r>
            <a:r>
              <a:rPr lang="ru-RU" dirty="0"/>
              <a:t>» модерна – в широком смысле ускоренное распространение технологий, практик и институтов модернистского общества по всему миру. По их мнению, глобализация создаёт «новую форму общественной организации» (как замечал </a:t>
            </a:r>
            <a:r>
              <a:rPr lang="ru-RU" dirty="0" err="1"/>
              <a:t>У.Бек</a:t>
            </a:r>
            <a:r>
              <a:rPr lang="ru-RU" dirty="0"/>
              <a:t> – «общество риска»), меняет параметры жизненного уклада по всему миру и делает мир взаимозависимым. Приверженцы этого направления (например, </a:t>
            </a:r>
            <a:r>
              <a:rPr lang="ru-RU" dirty="0" err="1"/>
              <a:t>Э.Гидденс</a:t>
            </a:r>
            <a:r>
              <a:rPr lang="ru-RU" dirty="0"/>
              <a:t>, </a:t>
            </a:r>
            <a:r>
              <a:rPr lang="ru-RU" dirty="0" err="1"/>
              <a:t>Дж.Розенау</a:t>
            </a:r>
            <a:r>
              <a:rPr lang="ru-RU" dirty="0"/>
              <a:t>, </a:t>
            </a:r>
            <a:r>
              <a:rPr lang="ru-RU" dirty="0" err="1"/>
              <a:t>М.Кастельс</a:t>
            </a:r>
            <a:r>
              <a:rPr lang="ru-RU" dirty="0"/>
              <a:t>, </a:t>
            </a:r>
            <a:r>
              <a:rPr lang="ru-RU" dirty="0" err="1"/>
              <a:t>М.Рагги</a:t>
            </a:r>
            <a:r>
              <a:rPr lang="ru-RU" dirty="0"/>
              <a:t>) полагают, что глобализация исторически беспрецедентна и вызывает комплексные преобразования модерна. Они акцентируют внимание на диалектике глобального и локального (</a:t>
            </a:r>
            <a:r>
              <a:rPr lang="ru-RU" dirty="0" err="1"/>
              <a:t>глокализация</a:t>
            </a:r>
            <a:r>
              <a:rPr lang="ru-RU" dirty="0"/>
              <a:t> </a:t>
            </a:r>
            <a:r>
              <a:rPr lang="ru-RU" dirty="0" err="1"/>
              <a:t>Робертсона</a:t>
            </a:r>
            <a:r>
              <a:rPr lang="ru-RU" dirty="0"/>
              <a:t>) и отмечают, что глобализация идёт рука об руку с усилением роли транснациональных социальных и культурных связей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3645170"/>
      </p:ext>
    </p:extLst>
  </p:cSld>
  <p:clrMapOvr>
    <a:masterClrMapping/>
  </p:clrMapOvr>
  <p:transition>
    <p:strips dir="r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Экономические взгляды Дж.Е.Стиглица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solidFill>
            <a:schemeClr val="accent2">
              <a:lumMod val="50000"/>
            </a:schemeClr>
          </a:solidFill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dirty="0"/>
              <a:t>Нобелевский лауреат Джозеф </a:t>
            </a:r>
            <a:r>
              <a:rPr lang="ru-RU" dirty="0" err="1"/>
              <a:t>Стиглиц</a:t>
            </a:r>
            <a:r>
              <a:rPr lang="ru-RU" dirty="0"/>
              <a:t> – один из самых известных критиков традиционной модели «вашингтонского консенсуса» и «свободного рынка» в глобальном контексте. В 1990-х гг. </a:t>
            </a:r>
            <a:r>
              <a:rPr lang="ru-RU" dirty="0" err="1"/>
              <a:t>Стиглиц</a:t>
            </a:r>
            <a:r>
              <a:rPr lang="ru-RU" dirty="0"/>
              <a:t> работал главным экономистом ВБ, а позднее возглавил Консультативный совет при президенте США. Там он столкнулся с практикой быстрых рыночных реформ в развивающихся странах под руководством МВФ. Изначально </a:t>
            </a:r>
            <a:r>
              <a:rPr lang="ru-RU" dirty="0" err="1"/>
              <a:t>Стиглиц</a:t>
            </a:r>
            <a:r>
              <a:rPr lang="ru-RU" dirty="0"/>
              <a:t> разделял идею, что глобализация и либерализация способны «обогатить каждого человека, особенно бедных» . </a:t>
            </a:r>
          </a:p>
          <a:p>
            <a:pPr marL="0" indent="0">
              <a:buNone/>
            </a:pPr>
            <a:r>
              <a:rPr lang="ru-RU" dirty="0"/>
              <a:t>Однако, анализируя реальные последствия реформ, он пришёл к выводу, что действительность оказалась иная: «во время работы в ВБ я видел разрушительное воздействие, которое может оказать глобализация на развивающиеся страны и на бедных людей… но путь, по которому осуществлялась глобализация, должен быть радикально пересмотрен». </a:t>
            </a:r>
            <a:r>
              <a:rPr lang="ru-RU" dirty="0" err="1"/>
              <a:t>Стиглиц</a:t>
            </a:r>
            <a:r>
              <a:rPr lang="ru-RU" dirty="0"/>
              <a:t> доказал, что во многих странах «шоковая терапия» в экономике, навязанная МВФ, приводила к росту безработицы, социальной неустойчивости и массовой нищете</a:t>
            </a:r>
            <a:r>
              <a:rPr lang="ru-RU" dirty="0" smtClean="0"/>
              <a:t>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99924886"/>
      </p:ext>
    </p:extLst>
  </p:cSld>
  <p:clrMapOvr>
    <a:masterClrMapping/>
  </p:clrMapOvr>
  <p:transition>
    <p:strips dir="r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solidFill>
            <a:schemeClr val="bg2">
              <a:lumMod val="50000"/>
            </a:schemeClr>
          </a:solidFill>
        </p:spPr>
        <p:txBody>
          <a:bodyPr/>
          <a:lstStyle/>
          <a:p>
            <a:r>
              <a:rPr lang="ru-RU" dirty="0" err="1"/>
              <a:t>Стиглиц</a:t>
            </a:r>
            <a:r>
              <a:rPr lang="ru-RU" dirty="0"/>
              <a:t> сформулировал тезис: «пережитые развивающимися странами страдания, порожденные глобализацией под руководством МВФ и международных организаций, были гораздо большими, чем нужно». При этом он признаёт и позитивные стороны глобализации: свободная торговля и развитие технологий действительно могут привести к росту благосостояния. Но всё зависит от «структуры» глобализации. Поэтому </a:t>
            </a:r>
            <a:r>
              <a:rPr lang="ru-RU" dirty="0" err="1"/>
              <a:t>Стиглиц</a:t>
            </a:r>
            <a:r>
              <a:rPr lang="ru-RU" dirty="0"/>
              <a:t> призывает к усилению роли регулирования и к тому, чтобы учитывать интересы слабых участников: «Мы – глобальное сообщество, и для совместной жизни нужны правила, честные и справедливые, учитывающие интересы как бедных, так и влиятельных слоев общества»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7202831"/>
      </p:ext>
    </p:extLst>
  </p:cSld>
  <p:clrMapOvr>
    <a:masterClrMapping/>
  </p:clrMapOvr>
  <p:transition>
    <p:strips dir="r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899592" y="260648"/>
            <a:ext cx="7680960" cy="62616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Научные взгляды сторонников «трансформационного направления»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764946"/>
              </p:ext>
            </p:extLst>
          </p:nvPr>
        </p:nvGraphicFramePr>
        <p:xfrm>
          <a:off x="251520" y="886814"/>
          <a:ext cx="8712965" cy="58761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42593">
                  <a:extLst>
                    <a:ext uri="{9D8B030D-6E8A-4147-A177-3AD203B41FA5}">
                      <a16:colId xmlns:a16="http://schemas.microsoft.com/office/drawing/2014/main" val="871103254"/>
                    </a:ext>
                  </a:extLst>
                </a:gridCol>
                <a:gridCol w="1742593">
                  <a:extLst>
                    <a:ext uri="{9D8B030D-6E8A-4147-A177-3AD203B41FA5}">
                      <a16:colId xmlns:a16="http://schemas.microsoft.com/office/drawing/2014/main" val="4181944971"/>
                    </a:ext>
                  </a:extLst>
                </a:gridCol>
                <a:gridCol w="1742593">
                  <a:extLst>
                    <a:ext uri="{9D8B030D-6E8A-4147-A177-3AD203B41FA5}">
                      <a16:colId xmlns:a16="http://schemas.microsoft.com/office/drawing/2014/main" val="3111920739"/>
                    </a:ext>
                  </a:extLst>
                </a:gridCol>
                <a:gridCol w="1742593">
                  <a:extLst>
                    <a:ext uri="{9D8B030D-6E8A-4147-A177-3AD203B41FA5}">
                      <a16:colId xmlns:a16="http://schemas.microsoft.com/office/drawing/2014/main" val="64354557"/>
                    </a:ext>
                  </a:extLst>
                </a:gridCol>
                <a:gridCol w="1742593">
                  <a:extLst>
                    <a:ext uri="{9D8B030D-6E8A-4147-A177-3AD203B41FA5}">
                      <a16:colId xmlns:a16="http://schemas.microsoft.com/office/drawing/2014/main" val="3665759223"/>
                    </a:ext>
                  </a:extLst>
                </a:gridCol>
              </a:tblGrid>
              <a:tr h="36330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Ученый-теоретик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Основные идеи и научные взгляды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Ключевые понятия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Отношение к глобализации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Источники / труды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extLst>
                  <a:ext uri="{0D108BD9-81ED-4DB2-BD59-A6C34878D82A}">
                    <a16:rowId xmlns:a16="http://schemas.microsoft.com/office/drawing/2014/main" val="3989783883"/>
                  </a:ext>
                </a:extLst>
              </a:tr>
              <a:tr h="199814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Энтони Гидденс (A. Giddens)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Утверждает, что глобализация – это процесс трансформации социальных, экономических и политических структур на глобальном уровне. Она изменяет не только экономику, но и культуру, политику, образ жизни людей.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Рефлексивная модернизация, глобальное общество, детрадиционализация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необратима; она создает новые формы социальных отношений и приводит к «глобальному рисковому обществу»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Consequences of Modernity (1990), Runaway World (1999)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extLst>
                  <a:ext uri="{0D108BD9-81ED-4DB2-BD59-A6C34878D82A}">
                    <a16:rowId xmlns:a16="http://schemas.microsoft.com/office/drawing/2014/main" val="456596519"/>
                  </a:ext>
                </a:extLst>
              </a:tr>
              <a:tr h="164223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Дэвид Хелд (D.Held)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Рассматривает глобализацию как процесс глубоких институциональных изменений, который трансформирует суверенитет государств и усиливает роль наднациональных акторов.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Космополитическая демократия, наднациональное управление, глобальные институты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Поддерживает идею глобального управления и мирового гражданства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 Transformations (1999), Democracy and the Global Order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extLst>
                  <a:ext uri="{0D108BD9-81ED-4DB2-BD59-A6C34878D82A}">
                    <a16:rowId xmlns:a16="http://schemas.microsoft.com/office/drawing/2014/main" val="2986095997"/>
                  </a:ext>
                </a:extLst>
              </a:tr>
              <a:tr h="16348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Мануэл Кастельс (M. Castells)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— это следствие информационно-технологической революции, формирование сети мировых экономических потоков и виртуального пространства.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Информационное общество, сетевая экономика, пространство потоков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изменяет структуру власти и создает «новую экономику»</a:t>
                      </a:r>
                      <a:endParaRPr lang="ru-RU" sz="11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Rise of the Network Society (1996)</a:t>
                      </a:r>
                      <a:endParaRPr lang="ru-RU" sz="1100" dirty="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32531" marR="32531" marT="0" marB="0"/>
                </a:tc>
                <a:extLst>
                  <a:ext uri="{0D108BD9-81ED-4DB2-BD59-A6C34878D82A}">
                    <a16:rowId xmlns:a16="http://schemas.microsoft.com/office/drawing/2014/main" val="10594894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889772"/>
      </p:ext>
    </p:extLst>
  </p:cSld>
  <p:clrMapOvr>
    <a:masterClrMapping/>
  </p:clrMapOvr>
  <p:transition>
    <p:strips dir="r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55576" y="332656"/>
            <a:ext cx="7680960" cy="626166"/>
          </a:xfrm>
        </p:spPr>
        <p:txBody>
          <a:bodyPr>
            <a:normAutofit fontScale="90000"/>
          </a:bodyPr>
          <a:lstStyle/>
          <a:p>
            <a:pPr algn="ctr"/>
            <a:r>
              <a:rPr lang="ru-RU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Научные взгляды сторонников «трансформационного направления»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247624"/>
              </p:ext>
            </p:extLst>
          </p:nvPr>
        </p:nvGraphicFramePr>
        <p:xfrm>
          <a:off x="383588" y="1052736"/>
          <a:ext cx="8424935" cy="54279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84987">
                  <a:extLst>
                    <a:ext uri="{9D8B030D-6E8A-4147-A177-3AD203B41FA5}">
                      <a16:colId xmlns:a16="http://schemas.microsoft.com/office/drawing/2014/main" val="3689381928"/>
                    </a:ext>
                  </a:extLst>
                </a:gridCol>
                <a:gridCol w="1684987">
                  <a:extLst>
                    <a:ext uri="{9D8B030D-6E8A-4147-A177-3AD203B41FA5}">
                      <a16:colId xmlns:a16="http://schemas.microsoft.com/office/drawing/2014/main" val="3923541027"/>
                    </a:ext>
                  </a:extLst>
                </a:gridCol>
                <a:gridCol w="1684987">
                  <a:extLst>
                    <a:ext uri="{9D8B030D-6E8A-4147-A177-3AD203B41FA5}">
                      <a16:colId xmlns:a16="http://schemas.microsoft.com/office/drawing/2014/main" val="3359769188"/>
                    </a:ext>
                  </a:extLst>
                </a:gridCol>
                <a:gridCol w="1684987">
                  <a:extLst>
                    <a:ext uri="{9D8B030D-6E8A-4147-A177-3AD203B41FA5}">
                      <a16:colId xmlns:a16="http://schemas.microsoft.com/office/drawing/2014/main" val="560678354"/>
                    </a:ext>
                  </a:extLst>
                </a:gridCol>
                <a:gridCol w="1684987">
                  <a:extLst>
                    <a:ext uri="{9D8B030D-6E8A-4147-A177-3AD203B41FA5}">
                      <a16:colId xmlns:a16="http://schemas.microsoft.com/office/drawing/2014/main" val="3345385424"/>
                    </a:ext>
                  </a:extLst>
                </a:gridCol>
              </a:tblGrid>
              <a:tr h="170453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Ульрих Бек (U.Beck)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– это «вторая модернизация», приводящая к возникновению глобальных рисков и необходимости глобальной ответственности.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Общество риска, глобальная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рефлексивность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транснациональная солидарность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создает новые угрозы, но также предоставляет возможности для совместного решения проблем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World at Risk (2009), Risk Society (1992)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extLst>
                  <a:ext uri="{0D108BD9-81ED-4DB2-BD59-A6C34878D82A}">
                    <a16:rowId xmlns:a16="http://schemas.microsoft.com/office/drawing/2014/main" val="1052150414"/>
                  </a:ext>
                </a:extLst>
              </a:tr>
              <a:tr h="227591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Роланд Робертсон (R. Robertson)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Ввел понятие «глокализации» – сочетания глобальных и локальных процессов. Глобализация – это трансформация культурной идентичности, а не только экономическая интеграция.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Глокализация, глобальное сознание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Считает, что глобализация ведет к унификации, но одновременно усиливает локальные идентичности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Globalization: Social Theory and Global Culture (1992)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extLst>
                  <a:ext uri="{0D108BD9-81ED-4DB2-BD59-A6C34878D82A}">
                    <a16:rowId xmlns:a16="http://schemas.microsoft.com/office/drawing/2014/main" val="4152999820"/>
                  </a:ext>
                </a:extLst>
              </a:tr>
              <a:tr h="12761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Саския Сассен (S. Sassen)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трансформирует роль государства, создавая «глобальные города» как узлы мировой экономики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Глобальный город, транснациональные сети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Глобализация – это новая форма экономической организации</a:t>
                      </a:r>
                      <a:endParaRPr lang="ru-RU" sz="120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Global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City</a:t>
                      </a:r>
                      <a:r>
                        <a:rPr lang="ru-RU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(1991)</a:t>
                      </a:r>
                      <a:endParaRPr lang="ru-RU" sz="1200" dirty="0">
                        <a:effectLst/>
                        <a:latin typeface="Times New Roman" panose="02020603050405020304" pitchFamily="18" charset="0"/>
                        <a:ea typeface="Malgun Gothic" panose="020B0503020000020004" pitchFamily="34" charset="-127"/>
                        <a:cs typeface="Times New Roman" panose="02020603050405020304" pitchFamily="18" charset="0"/>
                      </a:endParaRPr>
                    </a:p>
                  </a:txBody>
                  <a:tcPr marL="42388" marR="42388" marT="0" marB="0"/>
                </a:tc>
                <a:extLst>
                  <a:ext uri="{0D108BD9-81ED-4DB2-BD59-A6C34878D82A}">
                    <a16:rowId xmlns:a16="http://schemas.microsoft.com/office/drawing/2014/main" val="26367539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3551788"/>
      </p:ext>
    </p:extLst>
  </p:cSld>
  <p:clrMapOvr>
    <a:masterClrMapping/>
  </p:clrMapOvr>
  <p:transition>
    <p:strips dir="rd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32584" y="404664"/>
            <a:ext cx="7680960" cy="554158"/>
          </a:xfrm>
        </p:spPr>
        <p:txBody>
          <a:bodyPr>
            <a:normAutofit fontScale="90000"/>
          </a:bodyPr>
          <a:lstStyle/>
          <a:p>
            <a:pPr algn="ctr"/>
            <a:r>
              <a:rPr lang="ru-RU" sz="1800" b="1" dirty="0"/>
              <a:t>Теоретические трансформации глобализации мировой экономики в начале XXI века и их особенности</a:t>
            </a:r>
            <a:endParaRPr lang="ru-RU" sz="1800" dirty="0"/>
          </a:p>
        </p:txBody>
      </p:sp>
      <p:graphicFrame>
        <p:nvGraphicFramePr>
          <p:cNvPr id="5" name="Схема 4"/>
          <p:cNvGraphicFramePr/>
          <p:nvPr>
            <p:extLst>
              <p:ext uri="{D42A27DB-BD31-4B8C-83A1-F6EECF244321}">
                <p14:modId xmlns:p14="http://schemas.microsoft.com/office/powerpoint/2010/main" val="2214353888"/>
              </p:ext>
            </p:extLst>
          </p:nvPr>
        </p:nvGraphicFramePr>
        <p:xfrm>
          <a:off x="1187624" y="1412776"/>
          <a:ext cx="7416824" cy="4896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1207332"/>
      </p:ext>
    </p:extLst>
  </p:cSld>
  <p:clrMapOvr>
    <a:masterClrMapping/>
  </p:clrMapOvr>
  <p:transition>
    <p:strips dir="rd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8" name="Picture 2" descr="D:\Globex\Шаблоны для PowerPoint\#0029\Components\01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Прямоугольник 8">
            <a:hlinkClick r:id="rId4"/>
          </p:cNvPr>
          <p:cNvSpPr/>
          <p:nvPr/>
        </p:nvSpPr>
        <p:spPr>
          <a:xfrm>
            <a:off x="7740352" y="6550223"/>
            <a:ext cx="1396537" cy="307777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ru-RU" sz="1400" b="1" dirty="0">
                <a:ln w="11430"/>
                <a:solidFill>
                  <a:srgbClr val="FFC0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Georgia" pitchFamily="18" charset="0"/>
                <a:cs typeface="Microsoft Sans Serif" pitchFamily="34" charset="0"/>
              </a:rPr>
              <a:t>Заказ </a:t>
            </a:r>
            <a:r>
              <a:rPr lang="en-US" sz="1400" b="1" dirty="0">
                <a:ln w="11430"/>
                <a:solidFill>
                  <a:srgbClr val="FFC0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Georgia" pitchFamily="18" charset="0"/>
                <a:cs typeface="Microsoft Sans Serif" pitchFamily="34" charset="0"/>
              </a:rPr>
              <a:t>#00</a:t>
            </a:r>
            <a:r>
              <a:rPr lang="ru-RU" sz="1400" b="1" dirty="0">
                <a:ln w="11430"/>
                <a:solidFill>
                  <a:srgbClr val="FFC0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  <a:latin typeface="Georgia" pitchFamily="18" charset="0"/>
                <a:cs typeface="Microsoft Sans Serif" pitchFamily="34" charset="0"/>
              </a:rPr>
              <a:t>30</a:t>
            </a:r>
          </a:p>
        </p:txBody>
      </p:sp>
    </p:spTree>
  </p:cSld>
  <p:clrMapOvr>
    <a:masterClrMapping/>
  </p:clrMapOvr>
  <p:transition>
    <p:fade thruBlk="1"/>
  </p:transition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Круги">
  <a:themeElements>
    <a:clrScheme name="Круги 3">
      <a:dk1>
        <a:srgbClr val="008AE8"/>
      </a:dk1>
      <a:lt1>
        <a:srgbClr val="FFFFFF"/>
      </a:lt1>
      <a:dk2>
        <a:srgbClr val="0068AE"/>
      </a:dk2>
      <a:lt2>
        <a:srgbClr val="CCECFF"/>
      </a:lt2>
      <a:accent1>
        <a:srgbClr val="009999"/>
      </a:accent1>
      <a:accent2>
        <a:srgbClr val="0088E4"/>
      </a:accent2>
      <a:accent3>
        <a:srgbClr val="AAB9D3"/>
      </a:accent3>
      <a:accent4>
        <a:srgbClr val="DADADA"/>
      </a:accent4>
      <a:accent5>
        <a:srgbClr val="AACACA"/>
      </a:accent5>
      <a:accent6>
        <a:srgbClr val="007BCF"/>
      </a:accent6>
      <a:hlink>
        <a:srgbClr val="99FF99"/>
      </a:hlink>
      <a:folHlink>
        <a:srgbClr val="AFE1FF"/>
      </a:folHlink>
    </a:clrScheme>
    <a:fontScheme name="Круги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Круги 1">
        <a:dk1>
          <a:srgbClr val="2B2B85"/>
        </a:dk1>
        <a:lt1>
          <a:srgbClr val="FFFFFF"/>
        </a:lt1>
        <a:dk2>
          <a:srgbClr val="00254A"/>
        </a:dk2>
        <a:lt2>
          <a:srgbClr val="C0C0C0"/>
        </a:lt2>
        <a:accent1>
          <a:srgbClr val="0099FF"/>
        </a:accent1>
        <a:accent2>
          <a:srgbClr val="006699"/>
        </a:accent2>
        <a:accent3>
          <a:srgbClr val="AAACB1"/>
        </a:accent3>
        <a:accent4>
          <a:srgbClr val="DADADA"/>
        </a:accent4>
        <a:accent5>
          <a:srgbClr val="AACAFF"/>
        </a:accent5>
        <a:accent6>
          <a:srgbClr val="005C8A"/>
        </a:accent6>
        <a:hlink>
          <a:srgbClr val="99CCFF"/>
        </a:hlink>
        <a:folHlink>
          <a:srgbClr val="8F8FB5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уги 2">
        <a:dk1>
          <a:srgbClr val="3B4B5D"/>
        </a:dk1>
        <a:lt1>
          <a:srgbClr val="FFFFFF"/>
        </a:lt1>
        <a:dk2>
          <a:srgbClr val="466886"/>
        </a:dk2>
        <a:lt2>
          <a:srgbClr val="CCECFF"/>
        </a:lt2>
        <a:accent1>
          <a:srgbClr val="6D9D97"/>
        </a:accent1>
        <a:accent2>
          <a:srgbClr val="53718C"/>
        </a:accent2>
        <a:accent3>
          <a:srgbClr val="B0B9C3"/>
        </a:accent3>
        <a:accent4>
          <a:srgbClr val="DADADA"/>
        </a:accent4>
        <a:accent5>
          <a:srgbClr val="BACCC9"/>
        </a:accent5>
        <a:accent6>
          <a:srgbClr val="4A667E"/>
        </a:accent6>
        <a:hlink>
          <a:srgbClr val="99CCFF"/>
        </a:hlink>
        <a:folHlink>
          <a:srgbClr val="A97CF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уги 3">
        <a:dk1>
          <a:srgbClr val="008AE8"/>
        </a:dk1>
        <a:lt1>
          <a:srgbClr val="FFFFFF"/>
        </a:lt1>
        <a:dk2>
          <a:srgbClr val="0068AE"/>
        </a:dk2>
        <a:lt2>
          <a:srgbClr val="CCECFF"/>
        </a:lt2>
        <a:accent1>
          <a:srgbClr val="009999"/>
        </a:accent1>
        <a:accent2>
          <a:srgbClr val="0088E4"/>
        </a:accent2>
        <a:accent3>
          <a:srgbClr val="AAB9D3"/>
        </a:accent3>
        <a:accent4>
          <a:srgbClr val="DADADA"/>
        </a:accent4>
        <a:accent5>
          <a:srgbClr val="AACACA"/>
        </a:accent5>
        <a:accent6>
          <a:srgbClr val="007BCF"/>
        </a:accent6>
        <a:hlink>
          <a:srgbClr val="99FF99"/>
        </a:hlink>
        <a:folHlink>
          <a:srgbClr val="AFE1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уги 4">
        <a:dk1>
          <a:srgbClr val="9B69FF"/>
        </a:dk1>
        <a:lt1>
          <a:srgbClr val="FFFFFF"/>
        </a:lt1>
        <a:dk2>
          <a:srgbClr val="666699"/>
        </a:dk2>
        <a:lt2>
          <a:srgbClr val="D9D9FF"/>
        </a:lt2>
        <a:accent1>
          <a:srgbClr val="66CCFF"/>
        </a:accent1>
        <a:accent2>
          <a:srgbClr val="9966FF"/>
        </a:accent2>
        <a:accent3>
          <a:srgbClr val="B8B8CA"/>
        </a:accent3>
        <a:accent4>
          <a:srgbClr val="DADADA"/>
        </a:accent4>
        <a:accent5>
          <a:srgbClr val="B8E2FF"/>
        </a:accent5>
        <a:accent6>
          <a:srgbClr val="8A5CE7"/>
        </a:accent6>
        <a:hlink>
          <a:srgbClr val="0099CC"/>
        </a:hlink>
        <a:folHlink>
          <a:srgbClr val="0033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уги 5">
        <a:dk1>
          <a:srgbClr val="008080"/>
        </a:dk1>
        <a:lt1>
          <a:srgbClr val="FFFFFF"/>
        </a:lt1>
        <a:dk2>
          <a:srgbClr val="006666"/>
        </a:dk2>
        <a:lt2>
          <a:srgbClr val="FFFFCC"/>
        </a:lt2>
        <a:accent1>
          <a:srgbClr val="0099FF"/>
        </a:accent1>
        <a:accent2>
          <a:srgbClr val="008080"/>
        </a:accent2>
        <a:accent3>
          <a:srgbClr val="AAB8B8"/>
        </a:accent3>
        <a:accent4>
          <a:srgbClr val="DADADA"/>
        </a:accent4>
        <a:accent5>
          <a:srgbClr val="AACAFF"/>
        </a:accent5>
        <a:accent6>
          <a:srgbClr val="007373"/>
        </a:accent6>
        <a:hlink>
          <a:srgbClr val="1ACE9F"/>
        </a:hlink>
        <a:folHlink>
          <a:srgbClr val="A5B5C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уги 6">
        <a:dk1>
          <a:srgbClr val="CDD9D1"/>
        </a:dk1>
        <a:lt1>
          <a:srgbClr val="FFFFFF"/>
        </a:lt1>
        <a:dk2>
          <a:srgbClr val="A3BBA9"/>
        </a:dk2>
        <a:lt2>
          <a:srgbClr val="007D80"/>
        </a:lt2>
        <a:accent1>
          <a:srgbClr val="9CA8A4"/>
        </a:accent1>
        <a:accent2>
          <a:srgbClr val="CBD7CE"/>
        </a:accent2>
        <a:accent3>
          <a:srgbClr val="CEDAD1"/>
        </a:accent3>
        <a:accent4>
          <a:srgbClr val="DADADA"/>
        </a:accent4>
        <a:accent5>
          <a:srgbClr val="CBD1CF"/>
        </a:accent5>
        <a:accent6>
          <a:srgbClr val="B8C3BA"/>
        </a:accent6>
        <a:hlink>
          <a:srgbClr val="009900"/>
        </a:hlink>
        <a:folHlink>
          <a:srgbClr val="0099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уги 7">
        <a:dk1>
          <a:srgbClr val="686B5D"/>
        </a:dk1>
        <a:lt1>
          <a:srgbClr val="DCDAD0"/>
        </a:lt1>
        <a:dk2>
          <a:srgbClr val="525040"/>
        </a:dk2>
        <a:lt2>
          <a:srgbClr val="D3D2A6"/>
        </a:lt2>
        <a:accent1>
          <a:srgbClr val="5D8770"/>
        </a:accent1>
        <a:accent2>
          <a:srgbClr val="686B5D"/>
        </a:accent2>
        <a:accent3>
          <a:srgbClr val="B3B3AF"/>
        </a:accent3>
        <a:accent4>
          <a:srgbClr val="BCBAB1"/>
        </a:accent4>
        <a:accent5>
          <a:srgbClr val="B6C3BB"/>
        </a:accent5>
        <a:accent6>
          <a:srgbClr val="5E6053"/>
        </a:accent6>
        <a:hlink>
          <a:srgbClr val="85B7A9"/>
        </a:hlink>
        <a:folHlink>
          <a:srgbClr val="B8936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Круги 8">
        <a:dk1>
          <a:srgbClr val="000000"/>
        </a:dk1>
        <a:lt1>
          <a:srgbClr val="EAEAEA"/>
        </a:lt1>
        <a:dk2>
          <a:srgbClr val="000000"/>
        </a:dk2>
        <a:lt2>
          <a:srgbClr val="B2B2B2"/>
        </a:lt2>
        <a:accent1>
          <a:srgbClr val="A4BCC4"/>
        </a:accent1>
        <a:accent2>
          <a:srgbClr val="FFFFFF"/>
        </a:accent2>
        <a:accent3>
          <a:srgbClr val="F3F3F3"/>
        </a:accent3>
        <a:accent4>
          <a:srgbClr val="000000"/>
        </a:accent4>
        <a:accent5>
          <a:srgbClr val="CFDADE"/>
        </a:accent5>
        <a:accent6>
          <a:srgbClr val="E7E7E7"/>
        </a:accent6>
        <a:hlink>
          <a:srgbClr val="0066FF"/>
        </a:hlink>
        <a:folHlink>
          <a:srgbClr val="00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Круги 9">
        <a:dk1>
          <a:srgbClr val="000000"/>
        </a:dk1>
        <a:lt1>
          <a:srgbClr val="D7D1B9"/>
        </a:lt1>
        <a:dk2>
          <a:srgbClr val="B39257"/>
        </a:dk2>
        <a:lt2>
          <a:srgbClr val="B1A887"/>
        </a:lt2>
        <a:accent1>
          <a:srgbClr val="FFCC66"/>
        </a:accent1>
        <a:accent2>
          <a:srgbClr val="E6E3AC"/>
        </a:accent2>
        <a:accent3>
          <a:srgbClr val="E8E5D9"/>
        </a:accent3>
        <a:accent4>
          <a:srgbClr val="000000"/>
        </a:accent4>
        <a:accent5>
          <a:srgbClr val="FFE2B8"/>
        </a:accent5>
        <a:accent6>
          <a:srgbClr val="D0CE9B"/>
        </a:accent6>
        <a:hlink>
          <a:srgbClr val="666633"/>
        </a:hlink>
        <a:folHlink>
          <a:srgbClr val="9C98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Савон">
  <a:themeElements>
    <a:clrScheme name="Савон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Савон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аво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4.xml><?xml version="1.0" encoding="utf-8"?>
<a:theme xmlns:a="http://schemas.openxmlformats.org/drawingml/2006/main" name="1_Савон">
  <a:themeElements>
    <a:clrScheme name="Савон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26B02"/>
      </a:folHlink>
    </a:clrScheme>
    <a:fontScheme name="Савон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Савон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6728D11B-929E-4324-91B0-4A4DA4CAC3DD}"/>
    </a:ext>
  </a:extLst>
</a:theme>
</file>

<file path=ppt/theme/theme5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3250</Words>
  <Application>Microsoft Office PowerPoint</Application>
  <PresentationFormat>Экран (4:3)</PresentationFormat>
  <Paragraphs>277</Paragraphs>
  <Slides>32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4</vt:i4>
      </vt:variant>
      <vt:variant>
        <vt:lpstr>Заголовки слайдов</vt:lpstr>
      </vt:variant>
      <vt:variant>
        <vt:i4>32</vt:i4>
      </vt:variant>
    </vt:vector>
  </HeadingPairs>
  <TitlesOfParts>
    <vt:vector size="46" baseType="lpstr">
      <vt:lpstr>Malgun Gothic</vt:lpstr>
      <vt:lpstr>Arial</vt:lpstr>
      <vt:lpstr>Calibri</vt:lpstr>
      <vt:lpstr>Century Gothic</vt:lpstr>
      <vt:lpstr>Garamond</vt:lpstr>
      <vt:lpstr>Georgia</vt:lpstr>
      <vt:lpstr>Microsoft Sans Serif</vt:lpstr>
      <vt:lpstr>Roboto</vt:lpstr>
      <vt:lpstr>Times New Roman</vt:lpstr>
      <vt:lpstr>Wingdings</vt:lpstr>
      <vt:lpstr>Тема Office</vt:lpstr>
      <vt:lpstr>Круги</vt:lpstr>
      <vt:lpstr>Савон</vt:lpstr>
      <vt:lpstr>1_Савон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Теория мировой системы И. Валлерстайна</vt:lpstr>
      <vt:lpstr>Теория мировой системы</vt:lpstr>
      <vt:lpstr>Теория мировой системы И. Валлерстайна</vt:lpstr>
      <vt:lpstr>Презентация PowerPoint</vt:lpstr>
      <vt:lpstr>Презентация PowerPoint</vt:lpstr>
      <vt:lpstr>Презентация PowerPoint</vt:lpstr>
      <vt:lpstr>Концепция «золотого миллиарда»</vt:lpstr>
      <vt:lpstr>Концепция «золотого миллиарда»</vt:lpstr>
      <vt:lpstr>Этапы и развитие процесса глобализации мировой экономики</vt:lpstr>
      <vt:lpstr>Этапы и развитие процесса глобализации мировой экономики</vt:lpstr>
      <vt:lpstr>Основные направления научных концепций глобализации мировой экономики: гиперглобалистское, скептическое и трансформационное</vt:lpstr>
      <vt:lpstr>Презентация PowerPoint</vt:lpstr>
      <vt:lpstr>Экономические взгляды Дж.Е.Стиглица</vt:lpstr>
      <vt:lpstr>Презентация PowerPoint</vt:lpstr>
      <vt:lpstr>Научные взгляды сторонников «трансформационного направления»</vt:lpstr>
      <vt:lpstr>Научные взгляды сторонников «трансформационного направления»</vt:lpstr>
      <vt:lpstr>Теоретические трансформации глобализации мировой экономики в начале XXI века и их особенности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Yznaika.com</dc:creator>
  <cp:keywords>Yznaika.com</cp:keywords>
  <cp:lastModifiedBy>1</cp:lastModifiedBy>
  <cp:revision>46</cp:revision>
  <dcterms:created xsi:type="dcterms:W3CDTF">2012-11-25T05:28:16Z</dcterms:created>
  <dcterms:modified xsi:type="dcterms:W3CDTF">2026-09-05T16:55:06Z</dcterms:modified>
</cp:coreProperties>
</file>